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18288000" cy="10287000"/>
  <p:notesSz cx="6858000" cy="9144000"/>
  <p:embeddedFontLst>
    <p:embeddedFont>
      <p:font typeface="Anton" pitchFamily="2" charset="0"/>
      <p:regular r:id="rId14"/>
    </p:embeddedFont>
    <p:embeddedFont>
      <p:font typeface="Brittany" panose="020B0604020202020204" charset="0"/>
      <p:regular r:id="rId15"/>
    </p:embeddedFont>
    <p:embeddedFont>
      <p:font typeface="Canva Sans" panose="020B0604020202020204" charset="0"/>
      <p:regular r:id="rId16"/>
    </p:embeddedFont>
    <p:embeddedFont>
      <p:font typeface="Open Sans" panose="020B0606030504020204" pitchFamily="34" charset="0"/>
      <p:regular r:id="rId17"/>
    </p:embeddedFont>
    <p:embeddedFont>
      <p:font typeface="Open Sans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8" d="100"/>
          <a:sy n="38" d="100"/>
        </p:scale>
        <p:origin x="102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svg"/><Relationship Id="rId7"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hyperlink" Target="https://youtu.be/GIe5kEu0w4Q"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AEEF0"/>
        </a:solidFill>
        <a:effectLst/>
      </p:bgPr>
    </p:bg>
    <p:spTree>
      <p:nvGrpSpPr>
        <p:cNvPr id="1" name=""/>
        <p:cNvGrpSpPr/>
        <p:nvPr/>
      </p:nvGrpSpPr>
      <p:grpSpPr>
        <a:xfrm>
          <a:off x="0" y="0"/>
          <a:ext cx="0" cy="0"/>
          <a:chOff x="0" y="0"/>
          <a:chExt cx="0" cy="0"/>
        </a:xfrm>
      </p:grpSpPr>
      <p:grpSp>
        <p:nvGrpSpPr>
          <p:cNvPr id="2" name="Group 2"/>
          <p:cNvGrpSpPr/>
          <p:nvPr/>
        </p:nvGrpSpPr>
        <p:grpSpPr>
          <a:xfrm>
            <a:off x="8455196" y="6099455"/>
            <a:ext cx="9649004" cy="1573375"/>
            <a:chOff x="0" y="0"/>
            <a:chExt cx="1304352" cy="212689"/>
          </a:xfrm>
        </p:grpSpPr>
        <p:sp>
          <p:nvSpPr>
            <p:cNvPr id="3" name="Freeform 3"/>
            <p:cNvSpPr/>
            <p:nvPr/>
          </p:nvSpPr>
          <p:spPr>
            <a:xfrm>
              <a:off x="0" y="0"/>
              <a:ext cx="1304352" cy="212689"/>
            </a:xfrm>
            <a:custGeom>
              <a:avLst/>
              <a:gdLst/>
              <a:ahLst/>
              <a:cxnLst/>
              <a:rect l="l" t="t" r="r" b="b"/>
              <a:pathLst>
                <a:path w="1304352" h="212689">
                  <a:moveTo>
                    <a:pt x="1101152" y="0"/>
                  </a:moveTo>
                  <a:lnTo>
                    <a:pt x="0" y="0"/>
                  </a:lnTo>
                  <a:lnTo>
                    <a:pt x="203200" y="212689"/>
                  </a:lnTo>
                  <a:lnTo>
                    <a:pt x="1304352" y="212689"/>
                  </a:lnTo>
                  <a:lnTo>
                    <a:pt x="1101152" y="0"/>
                  </a:lnTo>
                  <a:close/>
                </a:path>
              </a:pathLst>
            </a:custGeom>
            <a:ln w="76200" cap="sq">
              <a:solidFill>
                <a:srgbClr val="76ADE5"/>
              </a:solidFill>
              <a:prstDash val="solid"/>
              <a:miter/>
            </a:ln>
          </p:spPr>
        </p:sp>
        <p:sp>
          <p:nvSpPr>
            <p:cNvPr id="4" name="TextBox 4"/>
            <p:cNvSpPr txBox="1"/>
            <p:nvPr/>
          </p:nvSpPr>
          <p:spPr>
            <a:xfrm>
              <a:off x="101600" y="-38100"/>
              <a:ext cx="1101152" cy="250789"/>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078750" y="-944725"/>
            <a:ext cx="7559470" cy="1573375"/>
            <a:chOff x="0" y="0"/>
            <a:chExt cx="1021889" cy="212689"/>
          </a:xfrm>
        </p:grpSpPr>
        <p:sp>
          <p:nvSpPr>
            <p:cNvPr id="6" name="Freeform 6"/>
            <p:cNvSpPr/>
            <p:nvPr/>
          </p:nvSpPr>
          <p:spPr>
            <a:xfrm>
              <a:off x="0" y="0"/>
              <a:ext cx="1021889" cy="212689"/>
            </a:xfrm>
            <a:custGeom>
              <a:avLst/>
              <a:gdLst/>
              <a:ahLst/>
              <a:cxnLst/>
              <a:rect l="l" t="t" r="r" b="b"/>
              <a:pathLst>
                <a:path w="1021889" h="212689">
                  <a:moveTo>
                    <a:pt x="818689" y="0"/>
                  </a:moveTo>
                  <a:lnTo>
                    <a:pt x="0" y="0"/>
                  </a:lnTo>
                  <a:lnTo>
                    <a:pt x="203200" y="212689"/>
                  </a:lnTo>
                  <a:lnTo>
                    <a:pt x="1021889" y="212689"/>
                  </a:lnTo>
                  <a:lnTo>
                    <a:pt x="818689" y="0"/>
                  </a:lnTo>
                  <a:close/>
                </a:path>
              </a:pathLst>
            </a:custGeom>
            <a:ln w="76200" cap="sq">
              <a:solidFill>
                <a:srgbClr val="76ADE5"/>
              </a:solidFill>
              <a:prstDash val="solid"/>
              <a:miter/>
            </a:ln>
          </p:spPr>
        </p:sp>
        <p:sp>
          <p:nvSpPr>
            <p:cNvPr id="7" name="TextBox 7"/>
            <p:cNvSpPr txBox="1"/>
            <p:nvPr/>
          </p:nvSpPr>
          <p:spPr>
            <a:xfrm>
              <a:off x="101600" y="-38100"/>
              <a:ext cx="818689" cy="250789"/>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5400000">
            <a:off x="12148198" y="4147198"/>
            <a:ext cx="10807132" cy="1472472"/>
          </a:xfrm>
          <a:custGeom>
            <a:avLst/>
            <a:gdLst/>
            <a:ahLst/>
            <a:cxnLst/>
            <a:rect l="l" t="t" r="r" b="b"/>
            <a:pathLst>
              <a:path w="10807132" h="1472472">
                <a:moveTo>
                  <a:pt x="0" y="0"/>
                </a:moveTo>
                <a:lnTo>
                  <a:pt x="10807132" y="0"/>
                </a:lnTo>
                <a:lnTo>
                  <a:pt x="10807132" y="1472472"/>
                </a:lnTo>
                <a:lnTo>
                  <a:pt x="0" y="14724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10800000">
            <a:off x="14056843" y="0"/>
            <a:ext cx="4231157" cy="4114800"/>
          </a:xfrm>
          <a:custGeom>
            <a:avLst/>
            <a:gdLst/>
            <a:ahLst/>
            <a:cxnLst/>
            <a:rect l="l" t="t" r="r" b="b"/>
            <a:pathLst>
              <a:path w="4231157" h="4114800">
                <a:moveTo>
                  <a:pt x="0" y="0"/>
                </a:moveTo>
                <a:lnTo>
                  <a:pt x="4231157" y="0"/>
                </a:lnTo>
                <a:lnTo>
                  <a:pt x="423115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4130681" y="8454365"/>
            <a:ext cx="1934312" cy="761636"/>
          </a:xfrm>
          <a:custGeom>
            <a:avLst/>
            <a:gdLst/>
            <a:ahLst/>
            <a:cxnLst/>
            <a:rect l="l" t="t" r="r" b="b"/>
            <a:pathLst>
              <a:path w="1934312" h="761636">
                <a:moveTo>
                  <a:pt x="0" y="0"/>
                </a:moveTo>
                <a:lnTo>
                  <a:pt x="1934313" y="0"/>
                </a:lnTo>
                <a:lnTo>
                  <a:pt x="1934313" y="761635"/>
                </a:lnTo>
                <a:lnTo>
                  <a:pt x="0" y="76163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1" name="Group 11"/>
          <p:cNvGrpSpPr/>
          <p:nvPr/>
        </p:nvGrpSpPr>
        <p:grpSpPr>
          <a:xfrm>
            <a:off x="0" y="8454365"/>
            <a:ext cx="13638221" cy="803935"/>
            <a:chOff x="0" y="0"/>
            <a:chExt cx="3591959" cy="211736"/>
          </a:xfrm>
        </p:grpSpPr>
        <p:sp>
          <p:nvSpPr>
            <p:cNvPr id="12" name="Freeform 12"/>
            <p:cNvSpPr/>
            <p:nvPr/>
          </p:nvSpPr>
          <p:spPr>
            <a:xfrm>
              <a:off x="0" y="0"/>
              <a:ext cx="3591959" cy="211736"/>
            </a:xfrm>
            <a:custGeom>
              <a:avLst/>
              <a:gdLst/>
              <a:ahLst/>
              <a:cxnLst/>
              <a:rect l="l" t="t" r="r" b="b"/>
              <a:pathLst>
                <a:path w="3591959" h="211736">
                  <a:moveTo>
                    <a:pt x="0" y="0"/>
                  </a:moveTo>
                  <a:lnTo>
                    <a:pt x="3591959" y="0"/>
                  </a:lnTo>
                  <a:lnTo>
                    <a:pt x="3591959" y="211736"/>
                  </a:lnTo>
                  <a:lnTo>
                    <a:pt x="0" y="211736"/>
                  </a:lnTo>
                  <a:close/>
                </a:path>
              </a:pathLst>
            </a:custGeom>
            <a:solidFill>
              <a:srgbClr val="5E50A0"/>
            </a:solidFill>
          </p:spPr>
        </p:sp>
        <p:sp>
          <p:nvSpPr>
            <p:cNvPr id="13" name="TextBox 13"/>
            <p:cNvSpPr txBox="1"/>
            <p:nvPr/>
          </p:nvSpPr>
          <p:spPr>
            <a:xfrm>
              <a:off x="0" y="-38100"/>
              <a:ext cx="3591959" cy="249836"/>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622149" y="8454365"/>
            <a:ext cx="1475840" cy="803935"/>
            <a:chOff x="0" y="0"/>
            <a:chExt cx="388699" cy="211736"/>
          </a:xfrm>
        </p:grpSpPr>
        <p:sp>
          <p:nvSpPr>
            <p:cNvPr id="15" name="Freeform 15"/>
            <p:cNvSpPr/>
            <p:nvPr/>
          </p:nvSpPr>
          <p:spPr>
            <a:xfrm>
              <a:off x="0" y="0"/>
              <a:ext cx="388699" cy="211736"/>
            </a:xfrm>
            <a:custGeom>
              <a:avLst/>
              <a:gdLst/>
              <a:ahLst/>
              <a:cxnLst/>
              <a:rect l="l" t="t" r="r" b="b"/>
              <a:pathLst>
                <a:path w="388699" h="211736">
                  <a:moveTo>
                    <a:pt x="0" y="0"/>
                  </a:moveTo>
                  <a:lnTo>
                    <a:pt x="388699" y="0"/>
                  </a:lnTo>
                  <a:lnTo>
                    <a:pt x="388699" y="211736"/>
                  </a:lnTo>
                  <a:lnTo>
                    <a:pt x="0" y="211736"/>
                  </a:lnTo>
                  <a:close/>
                </a:path>
              </a:pathLst>
            </a:custGeom>
            <a:solidFill>
              <a:srgbClr val="794897"/>
            </a:solidFill>
          </p:spPr>
        </p:sp>
        <p:sp>
          <p:nvSpPr>
            <p:cNvPr id="16" name="TextBox 16"/>
            <p:cNvSpPr txBox="1"/>
            <p:nvPr/>
          </p:nvSpPr>
          <p:spPr>
            <a:xfrm>
              <a:off x="0" y="-38100"/>
              <a:ext cx="388699" cy="249836"/>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0277442" y="171078"/>
            <a:ext cx="4595048" cy="7716690"/>
          </a:xfrm>
          <a:custGeom>
            <a:avLst/>
            <a:gdLst/>
            <a:ahLst/>
            <a:cxnLst/>
            <a:rect l="l" t="t" r="r" b="b"/>
            <a:pathLst>
              <a:path w="4595048" h="7716690">
                <a:moveTo>
                  <a:pt x="0" y="0"/>
                </a:moveTo>
                <a:lnTo>
                  <a:pt x="4595049" y="0"/>
                </a:lnTo>
                <a:lnTo>
                  <a:pt x="4595049" y="7716691"/>
                </a:lnTo>
                <a:lnTo>
                  <a:pt x="0" y="7716691"/>
                </a:lnTo>
                <a:lnTo>
                  <a:pt x="0" y="0"/>
                </a:lnTo>
                <a:close/>
              </a:path>
            </a:pathLst>
          </a:custGeom>
          <a:blipFill>
            <a:blip r:embed="rId8"/>
            <a:stretch>
              <a:fillRect b="-6571"/>
            </a:stretch>
          </a:blipFill>
        </p:spPr>
      </p:sp>
      <p:sp>
        <p:nvSpPr>
          <p:cNvPr id="18" name="TextBox 18"/>
          <p:cNvSpPr txBox="1"/>
          <p:nvPr/>
        </p:nvSpPr>
        <p:spPr>
          <a:xfrm>
            <a:off x="1225268" y="1375546"/>
            <a:ext cx="10138178" cy="3362079"/>
          </a:xfrm>
          <a:prstGeom prst="rect">
            <a:avLst/>
          </a:prstGeom>
        </p:spPr>
        <p:txBody>
          <a:bodyPr lIns="0" tIns="0" rIns="0" bIns="0" rtlCol="0" anchor="t">
            <a:spAutoFit/>
          </a:bodyPr>
          <a:lstStyle/>
          <a:p>
            <a:pPr algn="l">
              <a:lnSpc>
                <a:spcPts val="13178"/>
              </a:lnSpc>
            </a:pPr>
            <a:r>
              <a:rPr lang="en-US" sz="11980">
                <a:solidFill>
                  <a:srgbClr val="5E50A0"/>
                </a:solidFill>
                <a:latin typeface="Anton"/>
                <a:ea typeface="Anton"/>
                <a:cs typeface="Anton"/>
                <a:sym typeface="Anton"/>
              </a:rPr>
              <a:t>FAIRSHARE</a:t>
            </a:r>
            <a:r>
              <a:rPr lang="en-US" sz="11980">
                <a:solidFill>
                  <a:srgbClr val="2C1F36"/>
                </a:solidFill>
                <a:latin typeface="Anton"/>
                <a:ea typeface="Anton"/>
                <a:cs typeface="Anton"/>
                <a:sym typeface="Anton"/>
              </a:rPr>
              <a:t> </a:t>
            </a:r>
            <a:r>
              <a:rPr lang="en-US" sz="11980">
                <a:solidFill>
                  <a:srgbClr val="794897"/>
                </a:solidFill>
                <a:latin typeface="Anton"/>
                <a:ea typeface="Anton"/>
                <a:cs typeface="Anton"/>
                <a:sym typeface="Anton"/>
              </a:rPr>
              <a:t>SPRINT - 3</a:t>
            </a:r>
          </a:p>
        </p:txBody>
      </p:sp>
      <p:sp>
        <p:nvSpPr>
          <p:cNvPr id="19" name="TextBox 19"/>
          <p:cNvSpPr txBox="1"/>
          <p:nvPr/>
        </p:nvSpPr>
        <p:spPr>
          <a:xfrm>
            <a:off x="1387748" y="5657417"/>
            <a:ext cx="9382004" cy="615553"/>
          </a:xfrm>
          <a:prstGeom prst="rect">
            <a:avLst/>
          </a:prstGeom>
        </p:spPr>
        <p:txBody>
          <a:bodyPr lIns="0" tIns="0" rIns="0" bIns="0" rtlCol="0" anchor="t">
            <a:spAutoFit/>
          </a:bodyPr>
          <a:lstStyle/>
          <a:p>
            <a:pPr algn="l">
              <a:lnSpc>
                <a:spcPts val="4800"/>
              </a:lnSpc>
            </a:pPr>
            <a:r>
              <a:rPr lang="en-US" sz="4000" b="1" dirty="0">
                <a:solidFill>
                  <a:srgbClr val="2C1F36"/>
                </a:solidFill>
                <a:latin typeface="Open Sans Bold"/>
                <a:ea typeface="Open Sans Bold"/>
                <a:cs typeface="Open Sans Bold"/>
                <a:sym typeface="Open Sans Bold"/>
              </a:rPr>
              <a:t>KHUSHI SHAH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AEEF0"/>
        </a:solidFill>
        <a:effectLst/>
      </p:bgPr>
    </p:bg>
    <p:spTree>
      <p:nvGrpSpPr>
        <p:cNvPr id="1" name=""/>
        <p:cNvGrpSpPr/>
        <p:nvPr/>
      </p:nvGrpSpPr>
      <p:grpSpPr>
        <a:xfrm>
          <a:off x="0" y="0"/>
          <a:ext cx="0" cy="0"/>
          <a:chOff x="0" y="0"/>
          <a:chExt cx="0" cy="0"/>
        </a:xfrm>
      </p:grpSpPr>
      <p:sp>
        <p:nvSpPr>
          <p:cNvPr id="2" name="Freeform 2"/>
          <p:cNvSpPr/>
          <p:nvPr/>
        </p:nvSpPr>
        <p:spPr>
          <a:xfrm rot="-5400000" flipH="1">
            <a:off x="12148198" y="4147198"/>
            <a:ext cx="10807132" cy="1472472"/>
          </a:xfrm>
          <a:custGeom>
            <a:avLst/>
            <a:gdLst/>
            <a:ahLst/>
            <a:cxnLst/>
            <a:rect l="l" t="t" r="r" b="b"/>
            <a:pathLst>
              <a:path w="10807132" h="1472472">
                <a:moveTo>
                  <a:pt x="10807132" y="0"/>
                </a:moveTo>
                <a:lnTo>
                  <a:pt x="0" y="0"/>
                </a:lnTo>
                <a:lnTo>
                  <a:pt x="0" y="1472472"/>
                </a:lnTo>
                <a:lnTo>
                  <a:pt x="10807132" y="1472472"/>
                </a:lnTo>
                <a:lnTo>
                  <a:pt x="10807132"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520088" y="9048454"/>
            <a:ext cx="17293580" cy="866600"/>
            <a:chOff x="0" y="0"/>
            <a:chExt cx="4244348" cy="212689"/>
          </a:xfrm>
        </p:grpSpPr>
        <p:sp>
          <p:nvSpPr>
            <p:cNvPr id="4" name="Freeform 4"/>
            <p:cNvSpPr/>
            <p:nvPr/>
          </p:nvSpPr>
          <p:spPr>
            <a:xfrm>
              <a:off x="0" y="0"/>
              <a:ext cx="4244348" cy="212689"/>
            </a:xfrm>
            <a:custGeom>
              <a:avLst/>
              <a:gdLst/>
              <a:ahLst/>
              <a:cxnLst/>
              <a:rect l="l" t="t" r="r" b="b"/>
              <a:pathLst>
                <a:path w="4244348" h="212689">
                  <a:moveTo>
                    <a:pt x="4041148" y="0"/>
                  </a:moveTo>
                  <a:lnTo>
                    <a:pt x="0" y="0"/>
                  </a:lnTo>
                  <a:lnTo>
                    <a:pt x="203200" y="212689"/>
                  </a:lnTo>
                  <a:lnTo>
                    <a:pt x="4244348" y="212689"/>
                  </a:lnTo>
                  <a:lnTo>
                    <a:pt x="4041148" y="0"/>
                  </a:lnTo>
                  <a:close/>
                </a:path>
              </a:pathLst>
            </a:custGeom>
            <a:ln w="76200" cap="sq">
              <a:solidFill>
                <a:srgbClr val="76ADE5"/>
              </a:solidFill>
              <a:prstDash val="solid"/>
              <a:miter/>
            </a:ln>
          </p:spPr>
        </p:sp>
        <p:sp>
          <p:nvSpPr>
            <p:cNvPr id="5" name="TextBox 5"/>
            <p:cNvSpPr txBox="1"/>
            <p:nvPr/>
          </p:nvSpPr>
          <p:spPr>
            <a:xfrm>
              <a:off x="101600" y="-38100"/>
              <a:ext cx="4041148" cy="250789"/>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3774912" y="1333682"/>
            <a:ext cx="1934312" cy="761636"/>
          </a:xfrm>
          <a:custGeom>
            <a:avLst/>
            <a:gdLst/>
            <a:ahLst/>
            <a:cxnLst/>
            <a:rect l="l" t="t" r="r" b="b"/>
            <a:pathLst>
              <a:path w="1934312" h="761636">
                <a:moveTo>
                  <a:pt x="0" y="0"/>
                </a:moveTo>
                <a:lnTo>
                  <a:pt x="1934313" y="0"/>
                </a:lnTo>
                <a:lnTo>
                  <a:pt x="1934313" y="761636"/>
                </a:lnTo>
                <a:lnTo>
                  <a:pt x="0" y="7616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1028700" y="885643"/>
            <a:ext cx="10138178" cy="1209675"/>
          </a:xfrm>
          <a:prstGeom prst="rect">
            <a:avLst/>
          </a:prstGeom>
        </p:spPr>
        <p:txBody>
          <a:bodyPr lIns="0" tIns="0" rIns="0" bIns="0" rtlCol="0" anchor="t">
            <a:spAutoFit/>
          </a:bodyPr>
          <a:lstStyle/>
          <a:p>
            <a:pPr algn="l">
              <a:lnSpc>
                <a:spcPts val="9000"/>
              </a:lnSpc>
            </a:pPr>
            <a:r>
              <a:rPr lang="en-US" sz="9000">
                <a:solidFill>
                  <a:srgbClr val="5E50A0"/>
                </a:solidFill>
                <a:latin typeface="Anton"/>
                <a:ea typeface="Anton"/>
                <a:cs typeface="Anton"/>
                <a:sym typeface="Anton"/>
              </a:rPr>
              <a:t>SPRINT 1: STORIES</a:t>
            </a:r>
          </a:p>
        </p:txBody>
      </p:sp>
      <p:sp>
        <p:nvSpPr>
          <p:cNvPr id="8" name="Freeform 8"/>
          <p:cNvSpPr/>
          <p:nvPr/>
        </p:nvSpPr>
        <p:spPr>
          <a:xfrm rot="-10800000" flipH="1" flipV="1">
            <a:off x="-1251631" y="6172200"/>
            <a:ext cx="4231157" cy="4114800"/>
          </a:xfrm>
          <a:custGeom>
            <a:avLst/>
            <a:gdLst/>
            <a:ahLst/>
            <a:cxnLst/>
            <a:rect l="l" t="t" r="r" b="b"/>
            <a:pathLst>
              <a:path w="4231157" h="4114800">
                <a:moveTo>
                  <a:pt x="4231156" y="4114800"/>
                </a:moveTo>
                <a:lnTo>
                  <a:pt x="0" y="4114800"/>
                </a:lnTo>
                <a:lnTo>
                  <a:pt x="0" y="0"/>
                </a:lnTo>
                <a:lnTo>
                  <a:pt x="4231156" y="0"/>
                </a:lnTo>
                <a:lnTo>
                  <a:pt x="4231156" y="411480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1220980" y="3194969"/>
            <a:ext cx="1758545" cy="1024256"/>
          </a:xfrm>
          <a:prstGeom prst="rect">
            <a:avLst/>
          </a:prstGeom>
        </p:spPr>
        <p:txBody>
          <a:bodyPr lIns="0" tIns="0" rIns="0" bIns="0" rtlCol="0" anchor="t">
            <a:spAutoFit/>
          </a:bodyPr>
          <a:lstStyle/>
          <a:p>
            <a:pPr algn="l">
              <a:lnSpc>
                <a:spcPts val="7700"/>
              </a:lnSpc>
            </a:pPr>
            <a:r>
              <a:rPr lang="en-US" sz="7700">
                <a:solidFill>
                  <a:srgbClr val="76ADE5"/>
                </a:solidFill>
                <a:latin typeface="Anton"/>
                <a:ea typeface="Anton"/>
                <a:cs typeface="Anton"/>
                <a:sym typeface="Anton"/>
              </a:rPr>
              <a:t>01</a:t>
            </a:r>
          </a:p>
        </p:txBody>
      </p:sp>
      <p:sp>
        <p:nvSpPr>
          <p:cNvPr id="10" name="TextBox 10"/>
          <p:cNvSpPr txBox="1"/>
          <p:nvPr/>
        </p:nvSpPr>
        <p:spPr>
          <a:xfrm>
            <a:off x="1220980" y="5026309"/>
            <a:ext cx="1758545" cy="1024256"/>
          </a:xfrm>
          <a:prstGeom prst="rect">
            <a:avLst/>
          </a:prstGeom>
        </p:spPr>
        <p:txBody>
          <a:bodyPr lIns="0" tIns="0" rIns="0" bIns="0" rtlCol="0" anchor="t">
            <a:spAutoFit/>
          </a:bodyPr>
          <a:lstStyle/>
          <a:p>
            <a:pPr algn="l">
              <a:lnSpc>
                <a:spcPts val="7700"/>
              </a:lnSpc>
            </a:pPr>
            <a:r>
              <a:rPr lang="en-US" sz="7700">
                <a:solidFill>
                  <a:srgbClr val="76ADE5"/>
                </a:solidFill>
                <a:latin typeface="Anton"/>
                <a:ea typeface="Anton"/>
                <a:cs typeface="Anton"/>
                <a:sym typeface="Anton"/>
              </a:rPr>
              <a:t>02</a:t>
            </a:r>
          </a:p>
        </p:txBody>
      </p:sp>
      <p:sp>
        <p:nvSpPr>
          <p:cNvPr id="11" name="TextBox 11"/>
          <p:cNvSpPr txBox="1"/>
          <p:nvPr/>
        </p:nvSpPr>
        <p:spPr>
          <a:xfrm>
            <a:off x="2471041" y="3178459"/>
            <a:ext cx="3819028" cy="914400"/>
          </a:xfrm>
          <a:prstGeom prst="rect">
            <a:avLst/>
          </a:prstGeom>
        </p:spPr>
        <p:txBody>
          <a:bodyPr lIns="0" tIns="0" rIns="0" bIns="0" rtlCol="0" anchor="t">
            <a:spAutoFit/>
          </a:bodyPr>
          <a:lstStyle/>
          <a:p>
            <a:pPr algn="l">
              <a:lnSpc>
                <a:spcPts val="3600"/>
              </a:lnSpc>
            </a:pPr>
            <a:r>
              <a:rPr lang="en-US" sz="3000" b="1">
                <a:solidFill>
                  <a:srgbClr val="2C1F36"/>
                </a:solidFill>
                <a:latin typeface="Open Sans Bold"/>
                <a:ea typeface="Open Sans Bold"/>
                <a:cs typeface="Open Sans Bold"/>
                <a:sym typeface="Open Sans Bold"/>
              </a:rPr>
              <a:t>USER SIGNUP &amp; LOGIN</a:t>
            </a:r>
          </a:p>
        </p:txBody>
      </p:sp>
      <p:sp>
        <p:nvSpPr>
          <p:cNvPr id="12" name="TextBox 12"/>
          <p:cNvSpPr txBox="1"/>
          <p:nvPr/>
        </p:nvSpPr>
        <p:spPr>
          <a:xfrm>
            <a:off x="2471041" y="5240819"/>
            <a:ext cx="4956789" cy="457200"/>
          </a:xfrm>
          <a:prstGeom prst="rect">
            <a:avLst/>
          </a:prstGeom>
        </p:spPr>
        <p:txBody>
          <a:bodyPr lIns="0" tIns="0" rIns="0" bIns="0" rtlCol="0" anchor="t">
            <a:spAutoFit/>
          </a:bodyPr>
          <a:lstStyle/>
          <a:p>
            <a:pPr algn="l">
              <a:lnSpc>
                <a:spcPts val="3600"/>
              </a:lnSpc>
            </a:pPr>
            <a:r>
              <a:rPr lang="en-US" sz="3000" b="1">
                <a:solidFill>
                  <a:srgbClr val="2C1F36"/>
                </a:solidFill>
                <a:latin typeface="Open Sans Bold"/>
                <a:ea typeface="Open Sans Bold"/>
                <a:cs typeface="Open Sans Bold"/>
                <a:sym typeface="Open Sans Bold"/>
              </a:rPr>
              <a:t>CREATE GROUP</a:t>
            </a:r>
          </a:p>
        </p:txBody>
      </p:sp>
      <p:sp>
        <p:nvSpPr>
          <p:cNvPr id="13" name="TextBox 13"/>
          <p:cNvSpPr txBox="1"/>
          <p:nvPr/>
        </p:nvSpPr>
        <p:spPr>
          <a:xfrm>
            <a:off x="1220980" y="6822161"/>
            <a:ext cx="1758545" cy="1024256"/>
          </a:xfrm>
          <a:prstGeom prst="rect">
            <a:avLst/>
          </a:prstGeom>
        </p:spPr>
        <p:txBody>
          <a:bodyPr lIns="0" tIns="0" rIns="0" bIns="0" rtlCol="0" anchor="t">
            <a:spAutoFit/>
          </a:bodyPr>
          <a:lstStyle/>
          <a:p>
            <a:pPr algn="l">
              <a:lnSpc>
                <a:spcPts val="7700"/>
              </a:lnSpc>
            </a:pPr>
            <a:r>
              <a:rPr lang="en-US" sz="7700">
                <a:solidFill>
                  <a:srgbClr val="76ADE5"/>
                </a:solidFill>
                <a:latin typeface="Anton"/>
                <a:ea typeface="Anton"/>
                <a:cs typeface="Anton"/>
                <a:sym typeface="Anton"/>
              </a:rPr>
              <a:t>03</a:t>
            </a:r>
          </a:p>
        </p:txBody>
      </p:sp>
      <p:sp>
        <p:nvSpPr>
          <p:cNvPr id="14" name="TextBox 14"/>
          <p:cNvSpPr txBox="1"/>
          <p:nvPr/>
        </p:nvSpPr>
        <p:spPr>
          <a:xfrm>
            <a:off x="2520088" y="6843752"/>
            <a:ext cx="4956789" cy="914400"/>
          </a:xfrm>
          <a:prstGeom prst="rect">
            <a:avLst/>
          </a:prstGeom>
        </p:spPr>
        <p:txBody>
          <a:bodyPr lIns="0" tIns="0" rIns="0" bIns="0" rtlCol="0" anchor="t">
            <a:spAutoFit/>
          </a:bodyPr>
          <a:lstStyle/>
          <a:p>
            <a:pPr algn="l">
              <a:lnSpc>
                <a:spcPts val="3600"/>
              </a:lnSpc>
            </a:pPr>
            <a:r>
              <a:rPr lang="en-US" sz="3000" b="1">
                <a:solidFill>
                  <a:srgbClr val="2C1F36"/>
                </a:solidFill>
                <a:latin typeface="Open Sans Bold"/>
                <a:ea typeface="Open Sans Bold"/>
                <a:cs typeface="Open Sans Bold"/>
                <a:sym typeface="Open Sans Bold"/>
              </a:rPr>
              <a:t>JOIN GROUP VIA INVITE CODE</a:t>
            </a:r>
          </a:p>
        </p:txBody>
      </p:sp>
      <p:sp>
        <p:nvSpPr>
          <p:cNvPr id="15" name="TextBox 15"/>
          <p:cNvSpPr txBox="1"/>
          <p:nvPr/>
        </p:nvSpPr>
        <p:spPr>
          <a:xfrm>
            <a:off x="8267359" y="2904461"/>
            <a:ext cx="1758545" cy="1024256"/>
          </a:xfrm>
          <a:prstGeom prst="rect">
            <a:avLst/>
          </a:prstGeom>
        </p:spPr>
        <p:txBody>
          <a:bodyPr lIns="0" tIns="0" rIns="0" bIns="0" rtlCol="0" anchor="t">
            <a:spAutoFit/>
          </a:bodyPr>
          <a:lstStyle/>
          <a:p>
            <a:pPr algn="l">
              <a:lnSpc>
                <a:spcPts val="7700"/>
              </a:lnSpc>
            </a:pPr>
            <a:r>
              <a:rPr lang="en-US" sz="7700">
                <a:solidFill>
                  <a:srgbClr val="76ADE5"/>
                </a:solidFill>
                <a:latin typeface="Anton"/>
                <a:ea typeface="Anton"/>
                <a:cs typeface="Anton"/>
                <a:sym typeface="Anton"/>
              </a:rPr>
              <a:t>04</a:t>
            </a:r>
          </a:p>
        </p:txBody>
      </p:sp>
      <p:sp>
        <p:nvSpPr>
          <p:cNvPr id="16" name="TextBox 16"/>
          <p:cNvSpPr txBox="1"/>
          <p:nvPr/>
        </p:nvSpPr>
        <p:spPr>
          <a:xfrm>
            <a:off x="8267359" y="4442744"/>
            <a:ext cx="1758545" cy="1024256"/>
          </a:xfrm>
          <a:prstGeom prst="rect">
            <a:avLst/>
          </a:prstGeom>
        </p:spPr>
        <p:txBody>
          <a:bodyPr lIns="0" tIns="0" rIns="0" bIns="0" rtlCol="0" anchor="t">
            <a:spAutoFit/>
          </a:bodyPr>
          <a:lstStyle/>
          <a:p>
            <a:pPr algn="l">
              <a:lnSpc>
                <a:spcPts val="7700"/>
              </a:lnSpc>
            </a:pPr>
            <a:r>
              <a:rPr lang="en-US" sz="7700">
                <a:solidFill>
                  <a:srgbClr val="76ADE5"/>
                </a:solidFill>
                <a:latin typeface="Anton"/>
                <a:ea typeface="Anton"/>
                <a:cs typeface="Anton"/>
                <a:sym typeface="Anton"/>
              </a:rPr>
              <a:t>05</a:t>
            </a:r>
          </a:p>
        </p:txBody>
      </p:sp>
      <p:sp>
        <p:nvSpPr>
          <p:cNvPr id="17" name="TextBox 17"/>
          <p:cNvSpPr txBox="1"/>
          <p:nvPr/>
        </p:nvSpPr>
        <p:spPr>
          <a:xfrm>
            <a:off x="9532326" y="3033386"/>
            <a:ext cx="3806733" cy="457200"/>
          </a:xfrm>
          <a:prstGeom prst="rect">
            <a:avLst/>
          </a:prstGeom>
        </p:spPr>
        <p:txBody>
          <a:bodyPr lIns="0" tIns="0" rIns="0" bIns="0" rtlCol="0" anchor="t">
            <a:spAutoFit/>
          </a:bodyPr>
          <a:lstStyle/>
          <a:p>
            <a:pPr algn="l">
              <a:lnSpc>
                <a:spcPts val="3600"/>
              </a:lnSpc>
            </a:pPr>
            <a:r>
              <a:rPr lang="en-US" sz="3000" b="1">
                <a:solidFill>
                  <a:srgbClr val="2C1F36"/>
                </a:solidFill>
                <a:latin typeface="Open Sans Bold"/>
                <a:ea typeface="Open Sans Bold"/>
                <a:cs typeface="Open Sans Bold"/>
                <a:sym typeface="Open Sans Bold"/>
              </a:rPr>
              <a:t>ADD EXPENSE</a:t>
            </a:r>
          </a:p>
        </p:txBody>
      </p:sp>
      <p:sp>
        <p:nvSpPr>
          <p:cNvPr id="18" name="TextBox 18"/>
          <p:cNvSpPr txBox="1"/>
          <p:nvPr/>
        </p:nvSpPr>
        <p:spPr>
          <a:xfrm>
            <a:off x="9532326" y="4654834"/>
            <a:ext cx="5897616" cy="457200"/>
          </a:xfrm>
          <a:prstGeom prst="rect">
            <a:avLst/>
          </a:prstGeom>
        </p:spPr>
        <p:txBody>
          <a:bodyPr lIns="0" tIns="0" rIns="0" bIns="0" rtlCol="0" anchor="t">
            <a:spAutoFit/>
          </a:bodyPr>
          <a:lstStyle/>
          <a:p>
            <a:pPr algn="l">
              <a:lnSpc>
                <a:spcPts val="3600"/>
              </a:lnSpc>
            </a:pPr>
            <a:r>
              <a:rPr lang="en-US" sz="3000" b="1">
                <a:solidFill>
                  <a:srgbClr val="2C1F36"/>
                </a:solidFill>
                <a:latin typeface="Open Sans Bold"/>
                <a:ea typeface="Open Sans Bold"/>
                <a:cs typeface="Open Sans Bold"/>
                <a:sym typeface="Open Sans Bold"/>
              </a:rPr>
              <a:t>EDIT/DELETE EXPENSE</a:t>
            </a:r>
          </a:p>
        </p:txBody>
      </p:sp>
      <p:sp>
        <p:nvSpPr>
          <p:cNvPr id="19" name="TextBox 19"/>
          <p:cNvSpPr txBox="1"/>
          <p:nvPr/>
        </p:nvSpPr>
        <p:spPr>
          <a:xfrm>
            <a:off x="8267359" y="5981349"/>
            <a:ext cx="1758545" cy="1024256"/>
          </a:xfrm>
          <a:prstGeom prst="rect">
            <a:avLst/>
          </a:prstGeom>
        </p:spPr>
        <p:txBody>
          <a:bodyPr lIns="0" tIns="0" rIns="0" bIns="0" rtlCol="0" anchor="t">
            <a:spAutoFit/>
          </a:bodyPr>
          <a:lstStyle/>
          <a:p>
            <a:pPr algn="l">
              <a:lnSpc>
                <a:spcPts val="7700"/>
              </a:lnSpc>
            </a:pPr>
            <a:r>
              <a:rPr lang="en-US" sz="7700">
                <a:solidFill>
                  <a:srgbClr val="76ADE5"/>
                </a:solidFill>
                <a:latin typeface="Anton"/>
                <a:ea typeface="Anton"/>
                <a:cs typeface="Anton"/>
                <a:sym typeface="Anton"/>
              </a:rPr>
              <a:t>06</a:t>
            </a:r>
          </a:p>
        </p:txBody>
      </p:sp>
      <p:sp>
        <p:nvSpPr>
          <p:cNvPr id="20" name="TextBox 20"/>
          <p:cNvSpPr txBox="1"/>
          <p:nvPr/>
        </p:nvSpPr>
        <p:spPr>
          <a:xfrm>
            <a:off x="9532326" y="6193440"/>
            <a:ext cx="5081556" cy="457200"/>
          </a:xfrm>
          <a:prstGeom prst="rect">
            <a:avLst/>
          </a:prstGeom>
        </p:spPr>
        <p:txBody>
          <a:bodyPr lIns="0" tIns="0" rIns="0" bIns="0" rtlCol="0" anchor="t">
            <a:spAutoFit/>
          </a:bodyPr>
          <a:lstStyle/>
          <a:p>
            <a:pPr algn="l">
              <a:lnSpc>
                <a:spcPts val="3600"/>
              </a:lnSpc>
            </a:pPr>
            <a:r>
              <a:rPr lang="en-US" sz="3000" b="1">
                <a:solidFill>
                  <a:srgbClr val="2C1F36"/>
                </a:solidFill>
                <a:latin typeface="Open Sans Bold"/>
                <a:ea typeface="Open Sans Bold"/>
                <a:cs typeface="Open Sans Bold"/>
                <a:sym typeface="Open Sans Bold"/>
              </a:rPr>
              <a:t>EQUAL EXPENSE SPLIT</a:t>
            </a:r>
          </a:p>
        </p:txBody>
      </p:sp>
      <p:sp>
        <p:nvSpPr>
          <p:cNvPr id="21" name="TextBox 21"/>
          <p:cNvSpPr txBox="1"/>
          <p:nvPr/>
        </p:nvSpPr>
        <p:spPr>
          <a:xfrm>
            <a:off x="8264727" y="7519955"/>
            <a:ext cx="1758545" cy="1024256"/>
          </a:xfrm>
          <a:prstGeom prst="rect">
            <a:avLst/>
          </a:prstGeom>
        </p:spPr>
        <p:txBody>
          <a:bodyPr lIns="0" tIns="0" rIns="0" bIns="0" rtlCol="0" anchor="t">
            <a:spAutoFit/>
          </a:bodyPr>
          <a:lstStyle/>
          <a:p>
            <a:pPr algn="l">
              <a:lnSpc>
                <a:spcPts val="7700"/>
              </a:lnSpc>
            </a:pPr>
            <a:r>
              <a:rPr lang="en-US" sz="7700">
                <a:solidFill>
                  <a:srgbClr val="76ADE5"/>
                </a:solidFill>
                <a:latin typeface="Anton"/>
                <a:ea typeface="Anton"/>
                <a:cs typeface="Anton"/>
                <a:sym typeface="Anton"/>
              </a:rPr>
              <a:t>07</a:t>
            </a:r>
          </a:p>
        </p:txBody>
      </p:sp>
      <p:sp>
        <p:nvSpPr>
          <p:cNvPr id="22" name="TextBox 22"/>
          <p:cNvSpPr txBox="1"/>
          <p:nvPr/>
        </p:nvSpPr>
        <p:spPr>
          <a:xfrm>
            <a:off x="9660513" y="7569829"/>
            <a:ext cx="5081556" cy="914400"/>
          </a:xfrm>
          <a:prstGeom prst="rect">
            <a:avLst/>
          </a:prstGeom>
        </p:spPr>
        <p:txBody>
          <a:bodyPr lIns="0" tIns="0" rIns="0" bIns="0" rtlCol="0" anchor="t">
            <a:spAutoFit/>
          </a:bodyPr>
          <a:lstStyle/>
          <a:p>
            <a:pPr algn="l">
              <a:lnSpc>
                <a:spcPts val="3600"/>
              </a:lnSpc>
            </a:pPr>
            <a:r>
              <a:rPr lang="en-US" sz="3000" b="1">
                <a:solidFill>
                  <a:srgbClr val="2C1F36"/>
                </a:solidFill>
                <a:latin typeface="Open Sans Bold"/>
                <a:ea typeface="Open Sans Bold"/>
                <a:cs typeface="Open Sans Bold"/>
                <a:sym typeface="Open Sans Bold"/>
              </a:rPr>
              <a:t>BASIC BALANCE DASHBOARD</a:t>
            </a:r>
          </a:p>
        </p:txBody>
      </p:sp>
      <p:sp>
        <p:nvSpPr>
          <p:cNvPr id="23" name="TextBox 23"/>
          <p:cNvSpPr txBox="1"/>
          <p:nvPr/>
        </p:nvSpPr>
        <p:spPr>
          <a:xfrm>
            <a:off x="10917912" y="9253153"/>
            <a:ext cx="5897616" cy="457200"/>
          </a:xfrm>
          <a:prstGeom prst="rect">
            <a:avLst/>
          </a:prstGeom>
        </p:spPr>
        <p:txBody>
          <a:bodyPr lIns="0" tIns="0" rIns="0" bIns="0" rtlCol="0" anchor="t">
            <a:spAutoFit/>
          </a:bodyPr>
          <a:lstStyle/>
          <a:p>
            <a:pPr algn="l">
              <a:lnSpc>
                <a:spcPts val="3600"/>
              </a:lnSpc>
            </a:pPr>
            <a:r>
              <a:rPr lang="en-US" sz="3000" b="1">
                <a:solidFill>
                  <a:srgbClr val="2C1F36"/>
                </a:solidFill>
                <a:latin typeface="Open Sans Bold"/>
                <a:ea typeface="Open Sans Bold"/>
                <a:cs typeface="Open Sans Bold"/>
                <a:sym typeface="Open Sans Bold"/>
              </a:rPr>
              <a:t>TOTAL STORY POINTS: 37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AEEF0"/>
        </a:solidFill>
        <a:effectLst/>
      </p:bgPr>
    </p:bg>
    <p:spTree>
      <p:nvGrpSpPr>
        <p:cNvPr id="1" name=""/>
        <p:cNvGrpSpPr/>
        <p:nvPr/>
      </p:nvGrpSpPr>
      <p:grpSpPr>
        <a:xfrm>
          <a:off x="0" y="0"/>
          <a:ext cx="0" cy="0"/>
          <a:chOff x="0" y="0"/>
          <a:chExt cx="0" cy="0"/>
        </a:xfrm>
      </p:grpSpPr>
      <p:sp>
        <p:nvSpPr>
          <p:cNvPr id="2" name="Freeform 2"/>
          <p:cNvSpPr/>
          <p:nvPr/>
        </p:nvSpPr>
        <p:spPr>
          <a:xfrm rot="-5400000" flipH="1">
            <a:off x="12148198" y="4147198"/>
            <a:ext cx="10807132" cy="1472472"/>
          </a:xfrm>
          <a:custGeom>
            <a:avLst/>
            <a:gdLst/>
            <a:ahLst/>
            <a:cxnLst/>
            <a:rect l="l" t="t" r="r" b="b"/>
            <a:pathLst>
              <a:path w="10807132" h="1472472">
                <a:moveTo>
                  <a:pt x="10807132" y="0"/>
                </a:moveTo>
                <a:lnTo>
                  <a:pt x="0" y="0"/>
                </a:lnTo>
                <a:lnTo>
                  <a:pt x="0" y="1472472"/>
                </a:lnTo>
                <a:lnTo>
                  <a:pt x="10807132" y="1472472"/>
                </a:lnTo>
                <a:lnTo>
                  <a:pt x="10807132"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520088" y="9048454"/>
            <a:ext cx="17293580" cy="866600"/>
            <a:chOff x="0" y="0"/>
            <a:chExt cx="4244348" cy="212689"/>
          </a:xfrm>
        </p:grpSpPr>
        <p:sp>
          <p:nvSpPr>
            <p:cNvPr id="4" name="Freeform 4"/>
            <p:cNvSpPr/>
            <p:nvPr/>
          </p:nvSpPr>
          <p:spPr>
            <a:xfrm>
              <a:off x="0" y="0"/>
              <a:ext cx="4244348" cy="212689"/>
            </a:xfrm>
            <a:custGeom>
              <a:avLst/>
              <a:gdLst/>
              <a:ahLst/>
              <a:cxnLst/>
              <a:rect l="l" t="t" r="r" b="b"/>
              <a:pathLst>
                <a:path w="4244348" h="212689">
                  <a:moveTo>
                    <a:pt x="4041148" y="0"/>
                  </a:moveTo>
                  <a:lnTo>
                    <a:pt x="0" y="0"/>
                  </a:lnTo>
                  <a:lnTo>
                    <a:pt x="203200" y="212689"/>
                  </a:lnTo>
                  <a:lnTo>
                    <a:pt x="4244348" y="212689"/>
                  </a:lnTo>
                  <a:lnTo>
                    <a:pt x="4041148" y="0"/>
                  </a:lnTo>
                  <a:close/>
                </a:path>
              </a:pathLst>
            </a:custGeom>
            <a:ln w="76200" cap="sq">
              <a:solidFill>
                <a:srgbClr val="76ADE5"/>
              </a:solidFill>
              <a:prstDash val="solid"/>
              <a:miter/>
            </a:ln>
          </p:spPr>
        </p:sp>
        <p:sp>
          <p:nvSpPr>
            <p:cNvPr id="5" name="TextBox 5"/>
            <p:cNvSpPr txBox="1"/>
            <p:nvPr/>
          </p:nvSpPr>
          <p:spPr>
            <a:xfrm>
              <a:off x="101600" y="-38100"/>
              <a:ext cx="4041148" cy="250789"/>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3774912" y="1333682"/>
            <a:ext cx="1934312" cy="761636"/>
          </a:xfrm>
          <a:custGeom>
            <a:avLst/>
            <a:gdLst/>
            <a:ahLst/>
            <a:cxnLst/>
            <a:rect l="l" t="t" r="r" b="b"/>
            <a:pathLst>
              <a:path w="1934312" h="761636">
                <a:moveTo>
                  <a:pt x="0" y="0"/>
                </a:moveTo>
                <a:lnTo>
                  <a:pt x="1934313" y="0"/>
                </a:lnTo>
                <a:lnTo>
                  <a:pt x="1934313" y="761636"/>
                </a:lnTo>
                <a:lnTo>
                  <a:pt x="0" y="7616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1028700" y="885643"/>
            <a:ext cx="10138178" cy="1209675"/>
          </a:xfrm>
          <a:prstGeom prst="rect">
            <a:avLst/>
          </a:prstGeom>
        </p:spPr>
        <p:txBody>
          <a:bodyPr lIns="0" tIns="0" rIns="0" bIns="0" rtlCol="0" anchor="t">
            <a:spAutoFit/>
          </a:bodyPr>
          <a:lstStyle/>
          <a:p>
            <a:pPr algn="l">
              <a:lnSpc>
                <a:spcPts val="9000"/>
              </a:lnSpc>
            </a:pPr>
            <a:r>
              <a:rPr lang="en-US" sz="9000">
                <a:solidFill>
                  <a:srgbClr val="5E50A0"/>
                </a:solidFill>
                <a:latin typeface="Anton"/>
                <a:ea typeface="Anton"/>
                <a:cs typeface="Anton"/>
                <a:sym typeface="Anton"/>
              </a:rPr>
              <a:t>SPRINT 2: STORIES</a:t>
            </a:r>
          </a:p>
        </p:txBody>
      </p:sp>
      <p:sp>
        <p:nvSpPr>
          <p:cNvPr id="8" name="Freeform 8"/>
          <p:cNvSpPr/>
          <p:nvPr/>
        </p:nvSpPr>
        <p:spPr>
          <a:xfrm rot="-10800000" flipH="1" flipV="1">
            <a:off x="-1251631" y="6172200"/>
            <a:ext cx="4231157" cy="4114800"/>
          </a:xfrm>
          <a:custGeom>
            <a:avLst/>
            <a:gdLst/>
            <a:ahLst/>
            <a:cxnLst/>
            <a:rect l="l" t="t" r="r" b="b"/>
            <a:pathLst>
              <a:path w="4231157" h="4114800">
                <a:moveTo>
                  <a:pt x="4231156" y="4114800"/>
                </a:moveTo>
                <a:lnTo>
                  <a:pt x="0" y="4114800"/>
                </a:lnTo>
                <a:lnTo>
                  <a:pt x="0" y="0"/>
                </a:lnTo>
                <a:lnTo>
                  <a:pt x="4231156" y="0"/>
                </a:lnTo>
                <a:lnTo>
                  <a:pt x="4231156" y="411480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2520088" y="3292680"/>
            <a:ext cx="1758545" cy="1024256"/>
          </a:xfrm>
          <a:prstGeom prst="rect">
            <a:avLst/>
          </a:prstGeom>
        </p:spPr>
        <p:txBody>
          <a:bodyPr lIns="0" tIns="0" rIns="0" bIns="0" rtlCol="0" anchor="t">
            <a:spAutoFit/>
          </a:bodyPr>
          <a:lstStyle/>
          <a:p>
            <a:pPr algn="l">
              <a:lnSpc>
                <a:spcPts val="7700"/>
              </a:lnSpc>
            </a:pPr>
            <a:r>
              <a:rPr lang="en-US" sz="7700">
                <a:solidFill>
                  <a:srgbClr val="76ADE5"/>
                </a:solidFill>
                <a:latin typeface="Anton"/>
                <a:ea typeface="Anton"/>
                <a:cs typeface="Anton"/>
                <a:sym typeface="Anton"/>
              </a:rPr>
              <a:t>01</a:t>
            </a:r>
          </a:p>
        </p:txBody>
      </p:sp>
      <p:sp>
        <p:nvSpPr>
          <p:cNvPr id="10" name="TextBox 10"/>
          <p:cNvSpPr txBox="1"/>
          <p:nvPr/>
        </p:nvSpPr>
        <p:spPr>
          <a:xfrm>
            <a:off x="3651296" y="3504771"/>
            <a:ext cx="8017150" cy="457200"/>
          </a:xfrm>
          <a:prstGeom prst="rect">
            <a:avLst/>
          </a:prstGeom>
        </p:spPr>
        <p:txBody>
          <a:bodyPr lIns="0" tIns="0" rIns="0" bIns="0" rtlCol="0" anchor="t">
            <a:spAutoFit/>
          </a:bodyPr>
          <a:lstStyle/>
          <a:p>
            <a:pPr algn="l">
              <a:lnSpc>
                <a:spcPts val="3600"/>
              </a:lnSpc>
            </a:pPr>
            <a:r>
              <a:rPr lang="en-US" sz="3000" b="1">
                <a:solidFill>
                  <a:srgbClr val="2C1F36"/>
                </a:solidFill>
                <a:latin typeface="Open Sans Bold"/>
                <a:ea typeface="Open Sans Bold"/>
                <a:cs typeface="Open Sans Bold"/>
                <a:sym typeface="Open Sans Bold"/>
              </a:rPr>
              <a:t>SELECT PARTICIPANTS FOR AN EXPENSE</a:t>
            </a:r>
          </a:p>
        </p:txBody>
      </p:sp>
      <p:grpSp>
        <p:nvGrpSpPr>
          <p:cNvPr id="11" name="Group 11"/>
          <p:cNvGrpSpPr/>
          <p:nvPr/>
        </p:nvGrpSpPr>
        <p:grpSpPr>
          <a:xfrm>
            <a:off x="2520088" y="5005069"/>
            <a:ext cx="8642401" cy="1167131"/>
            <a:chOff x="0" y="0"/>
            <a:chExt cx="11523201" cy="1556174"/>
          </a:xfrm>
        </p:grpSpPr>
        <p:sp>
          <p:nvSpPr>
            <p:cNvPr id="12" name="TextBox 12"/>
            <p:cNvSpPr txBox="1"/>
            <p:nvPr/>
          </p:nvSpPr>
          <p:spPr>
            <a:xfrm>
              <a:off x="0" y="142875"/>
              <a:ext cx="2344727" cy="1413299"/>
            </a:xfrm>
            <a:prstGeom prst="rect">
              <a:avLst/>
            </a:prstGeom>
          </p:spPr>
          <p:txBody>
            <a:bodyPr lIns="0" tIns="0" rIns="0" bIns="0" rtlCol="0" anchor="t">
              <a:spAutoFit/>
            </a:bodyPr>
            <a:lstStyle/>
            <a:p>
              <a:pPr algn="l">
                <a:lnSpc>
                  <a:spcPts val="7700"/>
                </a:lnSpc>
              </a:pPr>
              <a:r>
                <a:rPr lang="en-US" sz="7700">
                  <a:solidFill>
                    <a:srgbClr val="76ADE5"/>
                  </a:solidFill>
                  <a:latin typeface="Anton"/>
                  <a:ea typeface="Anton"/>
                  <a:cs typeface="Anton"/>
                  <a:sym typeface="Anton"/>
                </a:rPr>
                <a:t>02</a:t>
              </a:r>
            </a:p>
          </p:txBody>
        </p:sp>
        <p:sp>
          <p:nvSpPr>
            <p:cNvPr id="13" name="TextBox 13"/>
            <p:cNvSpPr txBox="1"/>
            <p:nvPr/>
          </p:nvSpPr>
          <p:spPr>
            <a:xfrm>
              <a:off x="1666748" y="476513"/>
              <a:ext cx="9856453" cy="609600"/>
            </a:xfrm>
            <a:prstGeom prst="rect">
              <a:avLst/>
            </a:prstGeom>
          </p:spPr>
          <p:txBody>
            <a:bodyPr lIns="0" tIns="0" rIns="0" bIns="0" rtlCol="0" anchor="t">
              <a:spAutoFit/>
            </a:bodyPr>
            <a:lstStyle/>
            <a:p>
              <a:pPr algn="l">
                <a:lnSpc>
                  <a:spcPts val="3600"/>
                </a:lnSpc>
              </a:pPr>
              <a:r>
                <a:rPr lang="en-US" sz="3000" b="1">
                  <a:solidFill>
                    <a:srgbClr val="2C1F36"/>
                  </a:solidFill>
                  <a:latin typeface="Open Sans Bold"/>
                  <a:ea typeface="Open Sans Bold"/>
                  <a:cs typeface="Open Sans Bold"/>
                  <a:sym typeface="Open Sans Bold"/>
                </a:rPr>
                <a:t>PERCENTAGE-BASED EXPENSE SPLIT</a:t>
              </a:r>
            </a:p>
          </p:txBody>
        </p:sp>
      </p:grpSp>
      <p:sp>
        <p:nvSpPr>
          <p:cNvPr id="14" name="TextBox 14"/>
          <p:cNvSpPr txBox="1"/>
          <p:nvPr/>
        </p:nvSpPr>
        <p:spPr>
          <a:xfrm>
            <a:off x="2520088" y="7169636"/>
            <a:ext cx="1758545" cy="1024256"/>
          </a:xfrm>
          <a:prstGeom prst="rect">
            <a:avLst/>
          </a:prstGeom>
        </p:spPr>
        <p:txBody>
          <a:bodyPr lIns="0" tIns="0" rIns="0" bIns="0" rtlCol="0" anchor="t">
            <a:spAutoFit/>
          </a:bodyPr>
          <a:lstStyle/>
          <a:p>
            <a:pPr algn="l">
              <a:lnSpc>
                <a:spcPts val="7700"/>
              </a:lnSpc>
            </a:pPr>
            <a:r>
              <a:rPr lang="en-US" sz="7700">
                <a:solidFill>
                  <a:srgbClr val="76ADE5"/>
                </a:solidFill>
                <a:latin typeface="Anton"/>
                <a:ea typeface="Anton"/>
                <a:cs typeface="Anton"/>
                <a:sym typeface="Anton"/>
              </a:rPr>
              <a:t>03</a:t>
            </a:r>
          </a:p>
        </p:txBody>
      </p:sp>
      <p:sp>
        <p:nvSpPr>
          <p:cNvPr id="15" name="TextBox 15"/>
          <p:cNvSpPr txBox="1"/>
          <p:nvPr/>
        </p:nvSpPr>
        <p:spPr>
          <a:xfrm>
            <a:off x="3921438" y="7153127"/>
            <a:ext cx="6996474" cy="457200"/>
          </a:xfrm>
          <a:prstGeom prst="rect">
            <a:avLst/>
          </a:prstGeom>
        </p:spPr>
        <p:txBody>
          <a:bodyPr lIns="0" tIns="0" rIns="0" bIns="0" rtlCol="0" anchor="t">
            <a:spAutoFit/>
          </a:bodyPr>
          <a:lstStyle/>
          <a:p>
            <a:pPr algn="l">
              <a:lnSpc>
                <a:spcPts val="3600"/>
              </a:lnSpc>
            </a:pPr>
            <a:r>
              <a:rPr lang="en-US" sz="3000" b="1">
                <a:solidFill>
                  <a:srgbClr val="2C1F36"/>
                </a:solidFill>
                <a:latin typeface="Open Sans Bold"/>
                <a:ea typeface="Open Sans Bold"/>
                <a:cs typeface="Open Sans Bold"/>
                <a:sym typeface="Open Sans Bold"/>
              </a:rPr>
              <a:t>ATTACH RECEIPTS TO EXPENSES</a:t>
            </a:r>
          </a:p>
        </p:txBody>
      </p:sp>
      <p:sp>
        <p:nvSpPr>
          <p:cNvPr id="16" name="TextBox 16"/>
          <p:cNvSpPr txBox="1"/>
          <p:nvPr/>
        </p:nvSpPr>
        <p:spPr>
          <a:xfrm>
            <a:off x="10917912" y="9253153"/>
            <a:ext cx="5897616" cy="457200"/>
          </a:xfrm>
          <a:prstGeom prst="rect">
            <a:avLst/>
          </a:prstGeom>
        </p:spPr>
        <p:txBody>
          <a:bodyPr lIns="0" tIns="0" rIns="0" bIns="0" rtlCol="0" anchor="t">
            <a:spAutoFit/>
          </a:bodyPr>
          <a:lstStyle/>
          <a:p>
            <a:pPr algn="l">
              <a:lnSpc>
                <a:spcPts val="3600"/>
              </a:lnSpc>
            </a:pPr>
            <a:r>
              <a:rPr lang="en-US" sz="3000" b="1">
                <a:solidFill>
                  <a:srgbClr val="2C1F36"/>
                </a:solidFill>
                <a:latin typeface="Open Sans Bold"/>
                <a:ea typeface="Open Sans Bold"/>
                <a:cs typeface="Open Sans Bold"/>
                <a:sym typeface="Open Sans Bold"/>
              </a:rPr>
              <a:t>TOTAL STORY POINTS: 21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AEEF0"/>
        </a:solidFill>
        <a:effectLst/>
      </p:bgPr>
    </p:bg>
    <p:spTree>
      <p:nvGrpSpPr>
        <p:cNvPr id="1" name=""/>
        <p:cNvGrpSpPr/>
        <p:nvPr/>
      </p:nvGrpSpPr>
      <p:grpSpPr>
        <a:xfrm>
          <a:off x="0" y="0"/>
          <a:ext cx="0" cy="0"/>
          <a:chOff x="0" y="0"/>
          <a:chExt cx="0" cy="0"/>
        </a:xfrm>
      </p:grpSpPr>
      <p:sp>
        <p:nvSpPr>
          <p:cNvPr id="2" name="Freeform 2"/>
          <p:cNvSpPr/>
          <p:nvPr/>
        </p:nvSpPr>
        <p:spPr>
          <a:xfrm rot="-10800000">
            <a:off x="14056843" y="0"/>
            <a:ext cx="4231157" cy="4114800"/>
          </a:xfrm>
          <a:custGeom>
            <a:avLst/>
            <a:gdLst/>
            <a:ahLst/>
            <a:cxnLst/>
            <a:rect l="l" t="t" r="r" b="b"/>
            <a:pathLst>
              <a:path w="4231157" h="4114800">
                <a:moveTo>
                  <a:pt x="0" y="0"/>
                </a:moveTo>
                <a:lnTo>
                  <a:pt x="4231157" y="0"/>
                </a:lnTo>
                <a:lnTo>
                  <a:pt x="42311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324988" y="8454365"/>
            <a:ext cx="1934312" cy="761636"/>
          </a:xfrm>
          <a:custGeom>
            <a:avLst/>
            <a:gdLst/>
            <a:ahLst/>
            <a:cxnLst/>
            <a:rect l="l" t="t" r="r" b="b"/>
            <a:pathLst>
              <a:path w="1934312" h="761636">
                <a:moveTo>
                  <a:pt x="0" y="0"/>
                </a:moveTo>
                <a:lnTo>
                  <a:pt x="1934312" y="0"/>
                </a:lnTo>
                <a:lnTo>
                  <a:pt x="1934312" y="761635"/>
                </a:lnTo>
                <a:lnTo>
                  <a:pt x="0" y="7616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395235" y="8454365"/>
            <a:ext cx="13388208" cy="803935"/>
            <a:chOff x="0" y="0"/>
            <a:chExt cx="3526113" cy="211736"/>
          </a:xfrm>
        </p:grpSpPr>
        <p:sp>
          <p:nvSpPr>
            <p:cNvPr id="5" name="Freeform 5"/>
            <p:cNvSpPr/>
            <p:nvPr/>
          </p:nvSpPr>
          <p:spPr>
            <a:xfrm>
              <a:off x="0" y="0"/>
              <a:ext cx="3526113" cy="211736"/>
            </a:xfrm>
            <a:custGeom>
              <a:avLst/>
              <a:gdLst/>
              <a:ahLst/>
              <a:cxnLst/>
              <a:rect l="l" t="t" r="r" b="b"/>
              <a:pathLst>
                <a:path w="3526113" h="211736">
                  <a:moveTo>
                    <a:pt x="0" y="0"/>
                  </a:moveTo>
                  <a:lnTo>
                    <a:pt x="3526113" y="0"/>
                  </a:lnTo>
                  <a:lnTo>
                    <a:pt x="3526113" y="211736"/>
                  </a:lnTo>
                  <a:lnTo>
                    <a:pt x="0" y="211736"/>
                  </a:lnTo>
                  <a:close/>
                </a:path>
              </a:pathLst>
            </a:custGeom>
            <a:solidFill>
              <a:srgbClr val="76ADE5"/>
            </a:solidFill>
          </p:spPr>
        </p:sp>
        <p:sp>
          <p:nvSpPr>
            <p:cNvPr id="6" name="TextBox 6"/>
            <p:cNvSpPr txBox="1"/>
            <p:nvPr/>
          </p:nvSpPr>
          <p:spPr>
            <a:xfrm>
              <a:off x="0" y="-38100"/>
              <a:ext cx="3526113" cy="249836"/>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0" y="8454365"/>
            <a:ext cx="14488262" cy="803935"/>
            <a:chOff x="0" y="0"/>
            <a:chExt cx="3815839" cy="211736"/>
          </a:xfrm>
        </p:grpSpPr>
        <p:sp>
          <p:nvSpPr>
            <p:cNvPr id="8" name="Freeform 8"/>
            <p:cNvSpPr/>
            <p:nvPr/>
          </p:nvSpPr>
          <p:spPr>
            <a:xfrm>
              <a:off x="0" y="0"/>
              <a:ext cx="3815838" cy="211736"/>
            </a:xfrm>
            <a:custGeom>
              <a:avLst/>
              <a:gdLst/>
              <a:ahLst/>
              <a:cxnLst/>
              <a:rect l="l" t="t" r="r" b="b"/>
              <a:pathLst>
                <a:path w="3815838" h="211736">
                  <a:moveTo>
                    <a:pt x="0" y="0"/>
                  </a:moveTo>
                  <a:lnTo>
                    <a:pt x="3815838" y="0"/>
                  </a:lnTo>
                  <a:lnTo>
                    <a:pt x="3815838" y="211736"/>
                  </a:lnTo>
                  <a:lnTo>
                    <a:pt x="0" y="211736"/>
                  </a:lnTo>
                  <a:close/>
                </a:path>
              </a:pathLst>
            </a:custGeom>
            <a:solidFill>
              <a:srgbClr val="5E50A0"/>
            </a:solidFill>
          </p:spPr>
        </p:sp>
        <p:sp>
          <p:nvSpPr>
            <p:cNvPr id="9" name="TextBox 9"/>
            <p:cNvSpPr txBox="1"/>
            <p:nvPr/>
          </p:nvSpPr>
          <p:spPr>
            <a:xfrm>
              <a:off x="0" y="-38100"/>
              <a:ext cx="3815839" cy="249836"/>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622149" y="8454365"/>
            <a:ext cx="1475840" cy="803935"/>
            <a:chOff x="0" y="0"/>
            <a:chExt cx="388699" cy="211736"/>
          </a:xfrm>
        </p:grpSpPr>
        <p:sp>
          <p:nvSpPr>
            <p:cNvPr id="11" name="Freeform 11"/>
            <p:cNvSpPr/>
            <p:nvPr/>
          </p:nvSpPr>
          <p:spPr>
            <a:xfrm>
              <a:off x="0" y="0"/>
              <a:ext cx="388699" cy="211736"/>
            </a:xfrm>
            <a:custGeom>
              <a:avLst/>
              <a:gdLst/>
              <a:ahLst/>
              <a:cxnLst/>
              <a:rect l="l" t="t" r="r" b="b"/>
              <a:pathLst>
                <a:path w="388699" h="211736">
                  <a:moveTo>
                    <a:pt x="0" y="0"/>
                  </a:moveTo>
                  <a:lnTo>
                    <a:pt x="388699" y="0"/>
                  </a:lnTo>
                  <a:lnTo>
                    <a:pt x="388699" y="211736"/>
                  </a:lnTo>
                  <a:lnTo>
                    <a:pt x="0" y="211736"/>
                  </a:lnTo>
                  <a:close/>
                </a:path>
              </a:pathLst>
            </a:custGeom>
            <a:solidFill>
              <a:srgbClr val="794897"/>
            </a:solidFill>
          </p:spPr>
        </p:sp>
        <p:sp>
          <p:nvSpPr>
            <p:cNvPr id="12" name="TextBox 12"/>
            <p:cNvSpPr txBox="1"/>
            <p:nvPr/>
          </p:nvSpPr>
          <p:spPr>
            <a:xfrm>
              <a:off x="0" y="-38100"/>
              <a:ext cx="388699" cy="249836"/>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891667" y="-1488134"/>
            <a:ext cx="7558495" cy="2217578"/>
            <a:chOff x="0" y="0"/>
            <a:chExt cx="724938" cy="212689"/>
          </a:xfrm>
        </p:grpSpPr>
        <p:sp>
          <p:nvSpPr>
            <p:cNvPr id="14" name="Freeform 14"/>
            <p:cNvSpPr/>
            <p:nvPr/>
          </p:nvSpPr>
          <p:spPr>
            <a:xfrm>
              <a:off x="0" y="0"/>
              <a:ext cx="724938" cy="212689"/>
            </a:xfrm>
            <a:custGeom>
              <a:avLst/>
              <a:gdLst/>
              <a:ahLst/>
              <a:cxnLst/>
              <a:rect l="l" t="t" r="r" b="b"/>
              <a:pathLst>
                <a:path w="724938" h="212689">
                  <a:moveTo>
                    <a:pt x="521738" y="0"/>
                  </a:moveTo>
                  <a:lnTo>
                    <a:pt x="0" y="0"/>
                  </a:lnTo>
                  <a:lnTo>
                    <a:pt x="203200" y="212689"/>
                  </a:lnTo>
                  <a:lnTo>
                    <a:pt x="724938" y="212689"/>
                  </a:lnTo>
                  <a:lnTo>
                    <a:pt x="521738" y="0"/>
                  </a:lnTo>
                  <a:close/>
                </a:path>
              </a:pathLst>
            </a:custGeom>
            <a:ln w="76200" cap="sq">
              <a:solidFill>
                <a:srgbClr val="76ADE5"/>
              </a:solidFill>
              <a:prstDash val="solid"/>
              <a:miter/>
            </a:ln>
          </p:spPr>
        </p:sp>
        <p:sp>
          <p:nvSpPr>
            <p:cNvPr id="15" name="TextBox 15"/>
            <p:cNvSpPr txBox="1"/>
            <p:nvPr/>
          </p:nvSpPr>
          <p:spPr>
            <a:xfrm>
              <a:off x="101600" y="-38100"/>
              <a:ext cx="521738" cy="250789"/>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028700" y="1104900"/>
            <a:ext cx="8394608" cy="1295400"/>
          </a:xfrm>
          <a:prstGeom prst="rect">
            <a:avLst/>
          </a:prstGeom>
        </p:spPr>
        <p:txBody>
          <a:bodyPr lIns="0" tIns="0" rIns="0" bIns="0" rtlCol="0" anchor="t">
            <a:spAutoFit/>
          </a:bodyPr>
          <a:lstStyle/>
          <a:p>
            <a:pPr algn="l">
              <a:lnSpc>
                <a:spcPts val="9900"/>
              </a:lnSpc>
            </a:pPr>
            <a:r>
              <a:rPr lang="en-US" sz="9000">
                <a:solidFill>
                  <a:srgbClr val="5E50A0"/>
                </a:solidFill>
                <a:latin typeface="Anton"/>
                <a:ea typeface="Anton"/>
                <a:cs typeface="Anton"/>
                <a:sym typeface="Anton"/>
              </a:rPr>
              <a:t>SPRINT 3:  </a:t>
            </a:r>
            <a:r>
              <a:rPr lang="en-US" sz="9000">
                <a:solidFill>
                  <a:srgbClr val="794897"/>
                </a:solidFill>
                <a:latin typeface="Anton"/>
                <a:ea typeface="Anton"/>
                <a:cs typeface="Anton"/>
                <a:sym typeface="Anton"/>
              </a:rPr>
              <a:t>STORIES</a:t>
            </a:r>
          </a:p>
        </p:txBody>
      </p:sp>
      <p:sp>
        <p:nvSpPr>
          <p:cNvPr id="17" name="TextBox 17"/>
          <p:cNvSpPr txBox="1"/>
          <p:nvPr/>
        </p:nvSpPr>
        <p:spPr>
          <a:xfrm>
            <a:off x="853691" y="4474184"/>
            <a:ext cx="3846899" cy="348932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2C1F36"/>
                </a:solidFill>
                <a:latin typeface="Open Sans"/>
                <a:ea typeface="Open Sans"/>
                <a:cs typeface="Open Sans"/>
                <a:sym typeface="Open Sans"/>
              </a:rPr>
              <a:t>Export balance sheet as PDF/CSV</a:t>
            </a:r>
          </a:p>
          <a:p>
            <a:pPr marL="539749" lvl="1" indent="-269875" algn="l">
              <a:lnSpc>
                <a:spcPts val="3499"/>
              </a:lnSpc>
              <a:buFont typeface="Arial"/>
              <a:buChar char="•"/>
            </a:pPr>
            <a:r>
              <a:rPr lang="en-US" sz="2499">
                <a:solidFill>
                  <a:srgbClr val="2C1F36"/>
                </a:solidFill>
                <a:latin typeface="Open Sans"/>
                <a:ea typeface="Open Sans"/>
                <a:cs typeface="Open Sans"/>
                <a:sym typeface="Open Sans"/>
              </a:rPr>
              <a:t>Includes all:</a:t>
            </a:r>
          </a:p>
          <a:p>
            <a:pPr marL="1079499" lvl="2" indent="-359833" algn="l">
              <a:lnSpc>
                <a:spcPts val="3499"/>
              </a:lnSpc>
              <a:buFont typeface="Arial"/>
              <a:buChar char="⚬"/>
            </a:pPr>
            <a:r>
              <a:rPr lang="en-US" sz="2499">
                <a:solidFill>
                  <a:srgbClr val="2C1F36"/>
                </a:solidFill>
                <a:latin typeface="Open Sans"/>
                <a:ea typeface="Open Sans"/>
                <a:cs typeface="Open Sans"/>
                <a:sym typeface="Open Sans"/>
              </a:rPr>
              <a:t>Users</a:t>
            </a:r>
          </a:p>
          <a:p>
            <a:pPr marL="1079499" lvl="2" indent="-359833" algn="l">
              <a:lnSpc>
                <a:spcPts val="3499"/>
              </a:lnSpc>
              <a:buFont typeface="Arial"/>
              <a:buChar char="⚬"/>
            </a:pPr>
            <a:r>
              <a:rPr lang="en-US" sz="2499">
                <a:solidFill>
                  <a:srgbClr val="2C1F36"/>
                </a:solidFill>
                <a:latin typeface="Open Sans"/>
                <a:ea typeface="Open Sans"/>
                <a:cs typeface="Open Sans"/>
                <a:sym typeface="Open Sans"/>
              </a:rPr>
              <a:t>Expenses</a:t>
            </a:r>
          </a:p>
          <a:p>
            <a:pPr marL="1079499" lvl="2" indent="-359833" algn="l">
              <a:lnSpc>
                <a:spcPts val="3499"/>
              </a:lnSpc>
              <a:buFont typeface="Arial"/>
              <a:buChar char="⚬"/>
            </a:pPr>
            <a:r>
              <a:rPr lang="en-US" sz="2499">
                <a:solidFill>
                  <a:srgbClr val="2C1F36"/>
                </a:solidFill>
                <a:latin typeface="Open Sans"/>
                <a:ea typeface="Open Sans"/>
                <a:cs typeface="Open Sans"/>
                <a:sym typeface="Open Sans"/>
              </a:rPr>
              <a:t>Net balances</a:t>
            </a:r>
          </a:p>
          <a:p>
            <a:pPr marL="539749" lvl="1" indent="-269875" algn="l">
              <a:lnSpc>
                <a:spcPts val="3499"/>
              </a:lnSpc>
              <a:buFont typeface="Arial"/>
              <a:buChar char="•"/>
            </a:pPr>
            <a:r>
              <a:rPr lang="en-US" sz="2499">
                <a:solidFill>
                  <a:srgbClr val="2C1F36"/>
                </a:solidFill>
                <a:latin typeface="Open Sans"/>
                <a:ea typeface="Open Sans"/>
                <a:cs typeface="Open Sans"/>
                <a:sym typeface="Open Sans"/>
              </a:rPr>
              <a:t>Data matches dashboard</a:t>
            </a:r>
          </a:p>
        </p:txBody>
      </p:sp>
      <p:sp>
        <p:nvSpPr>
          <p:cNvPr id="18" name="TextBox 18"/>
          <p:cNvSpPr txBox="1"/>
          <p:nvPr/>
        </p:nvSpPr>
        <p:spPr>
          <a:xfrm>
            <a:off x="5473247" y="4588964"/>
            <a:ext cx="3532436" cy="305117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2C1F36"/>
                </a:solidFill>
                <a:latin typeface="Open Sans"/>
                <a:ea typeface="Open Sans"/>
                <a:cs typeface="Open Sans"/>
                <a:sym typeface="Open Sans"/>
              </a:rPr>
              <a:t>System generates instructions:</a:t>
            </a:r>
          </a:p>
          <a:p>
            <a:pPr marL="1079499" lvl="2" indent="-359833" algn="l">
              <a:lnSpc>
                <a:spcPts val="3499"/>
              </a:lnSpc>
              <a:buFont typeface="Arial"/>
              <a:buChar char="⚬"/>
            </a:pPr>
            <a:r>
              <a:rPr lang="en-US" sz="2499">
                <a:solidFill>
                  <a:srgbClr val="2C1F36"/>
                </a:solidFill>
                <a:latin typeface="Open Sans"/>
                <a:ea typeface="Open Sans"/>
                <a:cs typeface="Open Sans"/>
                <a:sym typeface="Open Sans"/>
              </a:rPr>
              <a:t>“A pays B $X”</a:t>
            </a:r>
          </a:p>
          <a:p>
            <a:pPr marL="539749" lvl="1" indent="-269875" algn="l">
              <a:lnSpc>
                <a:spcPts val="3499"/>
              </a:lnSpc>
              <a:buFont typeface="Arial"/>
              <a:buChar char="•"/>
            </a:pPr>
            <a:r>
              <a:rPr lang="en-US" sz="2499">
                <a:solidFill>
                  <a:srgbClr val="2C1F36"/>
                </a:solidFill>
                <a:latin typeface="Open Sans"/>
                <a:ea typeface="Open Sans"/>
                <a:cs typeface="Open Sans"/>
                <a:sym typeface="Open Sans"/>
              </a:rPr>
              <a:t>Minimizes number of transactions</a:t>
            </a:r>
          </a:p>
          <a:p>
            <a:pPr marL="539749" lvl="1" indent="-269875" algn="l">
              <a:lnSpc>
                <a:spcPts val="3499"/>
              </a:lnSpc>
              <a:buFont typeface="Arial"/>
              <a:buChar char="•"/>
            </a:pPr>
            <a:r>
              <a:rPr lang="en-US" sz="2499">
                <a:solidFill>
                  <a:srgbClr val="2C1F36"/>
                </a:solidFill>
                <a:latin typeface="Open Sans"/>
                <a:ea typeface="Open Sans"/>
                <a:cs typeface="Open Sans"/>
                <a:sym typeface="Open Sans"/>
              </a:rPr>
              <a:t>Updates balances after settlement</a:t>
            </a:r>
          </a:p>
        </p:txBody>
      </p:sp>
      <p:sp>
        <p:nvSpPr>
          <p:cNvPr id="19" name="TextBox 19"/>
          <p:cNvSpPr txBox="1"/>
          <p:nvPr/>
        </p:nvSpPr>
        <p:spPr>
          <a:xfrm>
            <a:off x="1028700" y="3116554"/>
            <a:ext cx="3671890" cy="914400"/>
          </a:xfrm>
          <a:prstGeom prst="rect">
            <a:avLst/>
          </a:prstGeom>
        </p:spPr>
        <p:txBody>
          <a:bodyPr lIns="0" tIns="0" rIns="0" bIns="0" rtlCol="0" anchor="t">
            <a:spAutoFit/>
          </a:bodyPr>
          <a:lstStyle/>
          <a:p>
            <a:pPr algn="l">
              <a:lnSpc>
                <a:spcPts val="3600"/>
              </a:lnSpc>
            </a:pPr>
            <a:r>
              <a:rPr lang="en-US" sz="3000" b="1">
                <a:solidFill>
                  <a:srgbClr val="5E50A0"/>
                </a:solidFill>
                <a:latin typeface="Open Sans Bold"/>
                <a:ea typeface="Open Sans Bold"/>
                <a:cs typeface="Open Sans Bold"/>
                <a:sym typeface="Open Sans Bold"/>
              </a:rPr>
              <a:t>EXPORT BALANCE SHEET (SP: 5)</a:t>
            </a:r>
          </a:p>
        </p:txBody>
      </p:sp>
      <p:sp>
        <p:nvSpPr>
          <p:cNvPr id="20" name="TextBox 20"/>
          <p:cNvSpPr txBox="1"/>
          <p:nvPr/>
        </p:nvSpPr>
        <p:spPr>
          <a:xfrm>
            <a:off x="5584405" y="2969714"/>
            <a:ext cx="3832124" cy="1371600"/>
          </a:xfrm>
          <a:prstGeom prst="rect">
            <a:avLst/>
          </a:prstGeom>
        </p:spPr>
        <p:txBody>
          <a:bodyPr lIns="0" tIns="0" rIns="0" bIns="0" rtlCol="0" anchor="t">
            <a:spAutoFit/>
          </a:bodyPr>
          <a:lstStyle/>
          <a:p>
            <a:pPr algn="l">
              <a:lnSpc>
                <a:spcPts val="3600"/>
              </a:lnSpc>
            </a:pPr>
            <a:r>
              <a:rPr lang="en-US" sz="3000" b="1">
                <a:solidFill>
                  <a:srgbClr val="5E50A0"/>
                </a:solidFill>
                <a:latin typeface="Open Sans Bold"/>
                <a:ea typeface="Open Sans Bold"/>
                <a:cs typeface="Open Sans Bold"/>
                <a:sym typeface="Open Sans Bold"/>
              </a:rPr>
              <a:t>GENERATE SETTLEMENT PLAN (SP: 8)</a:t>
            </a:r>
          </a:p>
        </p:txBody>
      </p:sp>
      <p:sp>
        <p:nvSpPr>
          <p:cNvPr id="21" name="TextBox 21"/>
          <p:cNvSpPr txBox="1"/>
          <p:nvPr/>
        </p:nvSpPr>
        <p:spPr>
          <a:xfrm>
            <a:off x="9777208" y="4474184"/>
            <a:ext cx="3756499" cy="261302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2C1F36"/>
                </a:solidFill>
                <a:latin typeface="Open Sans"/>
                <a:ea typeface="Open Sans"/>
                <a:cs typeface="Open Sans"/>
                <a:sym typeface="Open Sans"/>
              </a:rPr>
              <a:t>Option to mark all debts as settled</a:t>
            </a:r>
          </a:p>
          <a:p>
            <a:pPr marL="539749" lvl="1" indent="-269875" algn="l">
              <a:lnSpc>
                <a:spcPts val="3499"/>
              </a:lnSpc>
              <a:buFont typeface="Arial"/>
              <a:buChar char="•"/>
            </a:pPr>
            <a:r>
              <a:rPr lang="en-US" sz="2499">
                <a:solidFill>
                  <a:srgbClr val="2C1F36"/>
                </a:solidFill>
                <a:latin typeface="Open Sans"/>
                <a:ea typeface="Open Sans"/>
                <a:cs typeface="Open Sans"/>
                <a:sym typeface="Open Sans"/>
              </a:rPr>
              <a:t>Resets balances to zero</a:t>
            </a:r>
          </a:p>
          <a:p>
            <a:pPr marL="539749" lvl="1" indent="-269875" algn="l">
              <a:lnSpc>
                <a:spcPts val="3499"/>
              </a:lnSpc>
              <a:buFont typeface="Arial"/>
              <a:buChar char="•"/>
            </a:pPr>
            <a:r>
              <a:rPr lang="en-US" sz="2499">
                <a:solidFill>
                  <a:srgbClr val="2C1F36"/>
                </a:solidFill>
                <a:latin typeface="Open Sans"/>
                <a:ea typeface="Open Sans"/>
                <a:cs typeface="Open Sans"/>
                <a:sym typeface="Open Sans"/>
              </a:rPr>
              <a:t>Dashboard reflects cleared state</a:t>
            </a:r>
          </a:p>
        </p:txBody>
      </p:sp>
      <p:sp>
        <p:nvSpPr>
          <p:cNvPr id="22" name="TextBox 22"/>
          <p:cNvSpPr txBox="1"/>
          <p:nvPr/>
        </p:nvSpPr>
        <p:spPr>
          <a:xfrm>
            <a:off x="10002667" y="2969714"/>
            <a:ext cx="2518208" cy="914400"/>
          </a:xfrm>
          <a:prstGeom prst="rect">
            <a:avLst/>
          </a:prstGeom>
        </p:spPr>
        <p:txBody>
          <a:bodyPr lIns="0" tIns="0" rIns="0" bIns="0" rtlCol="0" anchor="t">
            <a:spAutoFit/>
          </a:bodyPr>
          <a:lstStyle/>
          <a:p>
            <a:pPr algn="l">
              <a:lnSpc>
                <a:spcPts val="3600"/>
              </a:lnSpc>
            </a:pPr>
            <a:r>
              <a:rPr lang="en-US" sz="3000" b="1">
                <a:solidFill>
                  <a:srgbClr val="5E50A0"/>
                </a:solidFill>
                <a:latin typeface="Open Sans Bold"/>
                <a:ea typeface="Open Sans Bold"/>
                <a:cs typeface="Open Sans Bold"/>
                <a:sym typeface="Open Sans Bold"/>
              </a:rPr>
              <a:t>CLEAR ALL DEBTS (SP: 8)</a:t>
            </a:r>
          </a:p>
        </p:txBody>
      </p:sp>
      <p:sp>
        <p:nvSpPr>
          <p:cNvPr id="23" name="TextBox 23"/>
          <p:cNvSpPr txBox="1"/>
          <p:nvPr/>
        </p:nvSpPr>
        <p:spPr>
          <a:xfrm>
            <a:off x="14056843" y="2969714"/>
            <a:ext cx="3030956" cy="1371600"/>
          </a:xfrm>
          <a:prstGeom prst="rect">
            <a:avLst/>
          </a:prstGeom>
        </p:spPr>
        <p:txBody>
          <a:bodyPr lIns="0" tIns="0" rIns="0" bIns="0" rtlCol="0" anchor="t">
            <a:spAutoFit/>
          </a:bodyPr>
          <a:lstStyle/>
          <a:p>
            <a:pPr algn="l">
              <a:lnSpc>
                <a:spcPts val="3600"/>
              </a:lnSpc>
            </a:pPr>
            <a:r>
              <a:rPr lang="en-US" sz="3000" b="1">
                <a:solidFill>
                  <a:srgbClr val="5E50A0"/>
                </a:solidFill>
                <a:latin typeface="Open Sans Bold"/>
                <a:ea typeface="Open Sans Bold"/>
                <a:cs typeface="Open Sans Bold"/>
                <a:sym typeface="Open Sans Bold"/>
              </a:rPr>
              <a:t>ZELLE INTEGRATION (SP: 5)</a:t>
            </a:r>
          </a:p>
        </p:txBody>
      </p:sp>
      <p:sp>
        <p:nvSpPr>
          <p:cNvPr id="24" name="TextBox 24"/>
          <p:cNvSpPr txBox="1"/>
          <p:nvPr/>
        </p:nvSpPr>
        <p:spPr>
          <a:xfrm>
            <a:off x="13809510" y="4474184"/>
            <a:ext cx="3756499" cy="173672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2C1F36"/>
                </a:solidFill>
                <a:latin typeface="Open Sans"/>
                <a:ea typeface="Open Sans"/>
                <a:cs typeface="Open Sans"/>
                <a:sym typeface="Open Sans"/>
              </a:rPr>
              <a:t>Add Zelle email / phone</a:t>
            </a:r>
          </a:p>
          <a:p>
            <a:pPr marL="539749" lvl="1" indent="-269875" algn="l">
              <a:lnSpc>
                <a:spcPts val="3499"/>
              </a:lnSpc>
              <a:buFont typeface="Arial"/>
              <a:buChar char="•"/>
            </a:pPr>
            <a:r>
              <a:rPr lang="en-US" sz="2499">
                <a:solidFill>
                  <a:srgbClr val="2C1F36"/>
                </a:solidFill>
                <a:latin typeface="Open Sans"/>
                <a:ea typeface="Open Sans"/>
                <a:cs typeface="Open Sans"/>
                <a:sym typeface="Open Sans"/>
              </a:rPr>
              <a:t>Upload QR code for payments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AEEF0"/>
        </a:solidFill>
        <a:effectLst/>
      </p:bgPr>
    </p:bg>
    <p:spTree>
      <p:nvGrpSpPr>
        <p:cNvPr id="1" name=""/>
        <p:cNvGrpSpPr/>
        <p:nvPr/>
      </p:nvGrpSpPr>
      <p:grpSpPr>
        <a:xfrm>
          <a:off x="0" y="0"/>
          <a:ext cx="0" cy="0"/>
          <a:chOff x="0" y="0"/>
          <a:chExt cx="0" cy="0"/>
        </a:xfrm>
      </p:grpSpPr>
      <p:grpSp>
        <p:nvGrpSpPr>
          <p:cNvPr id="2" name="Group 2"/>
          <p:cNvGrpSpPr/>
          <p:nvPr/>
        </p:nvGrpSpPr>
        <p:grpSpPr>
          <a:xfrm>
            <a:off x="382193" y="3954145"/>
            <a:ext cx="18669426" cy="6332855"/>
            <a:chOff x="0" y="0"/>
            <a:chExt cx="4917050" cy="1667912"/>
          </a:xfrm>
        </p:grpSpPr>
        <p:sp>
          <p:nvSpPr>
            <p:cNvPr id="3" name="Freeform 3"/>
            <p:cNvSpPr/>
            <p:nvPr/>
          </p:nvSpPr>
          <p:spPr>
            <a:xfrm>
              <a:off x="0" y="0"/>
              <a:ext cx="4917050" cy="1667913"/>
            </a:xfrm>
            <a:custGeom>
              <a:avLst/>
              <a:gdLst/>
              <a:ahLst/>
              <a:cxnLst/>
              <a:rect l="l" t="t" r="r" b="b"/>
              <a:pathLst>
                <a:path w="4917050" h="1667913">
                  <a:moveTo>
                    <a:pt x="0" y="0"/>
                  </a:moveTo>
                  <a:lnTo>
                    <a:pt x="4917050" y="0"/>
                  </a:lnTo>
                  <a:lnTo>
                    <a:pt x="4917050" y="1667913"/>
                  </a:lnTo>
                  <a:lnTo>
                    <a:pt x="0" y="1667913"/>
                  </a:lnTo>
                  <a:close/>
                </a:path>
              </a:pathLst>
            </a:custGeom>
            <a:solidFill>
              <a:srgbClr val="794897"/>
            </a:solidFill>
          </p:spPr>
        </p:sp>
        <p:sp>
          <p:nvSpPr>
            <p:cNvPr id="4" name="TextBox 4"/>
            <p:cNvSpPr txBox="1"/>
            <p:nvPr/>
          </p:nvSpPr>
          <p:spPr>
            <a:xfrm>
              <a:off x="0" y="-38100"/>
              <a:ext cx="4917050" cy="170601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5400000">
            <a:off x="12148198" y="4147198"/>
            <a:ext cx="10807132" cy="1472472"/>
          </a:xfrm>
          <a:custGeom>
            <a:avLst/>
            <a:gdLst/>
            <a:ahLst/>
            <a:cxnLst/>
            <a:rect l="l" t="t" r="r" b="b"/>
            <a:pathLst>
              <a:path w="10807132" h="1472472">
                <a:moveTo>
                  <a:pt x="0" y="0"/>
                </a:moveTo>
                <a:lnTo>
                  <a:pt x="10807132" y="0"/>
                </a:lnTo>
                <a:lnTo>
                  <a:pt x="10807132" y="1472472"/>
                </a:lnTo>
                <a:lnTo>
                  <a:pt x="0" y="14724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4873969" y="1303713"/>
            <a:ext cx="1934312" cy="761636"/>
          </a:xfrm>
          <a:custGeom>
            <a:avLst/>
            <a:gdLst/>
            <a:ahLst/>
            <a:cxnLst/>
            <a:rect l="l" t="t" r="r" b="b"/>
            <a:pathLst>
              <a:path w="1934312" h="761636">
                <a:moveTo>
                  <a:pt x="0" y="0"/>
                </a:moveTo>
                <a:lnTo>
                  <a:pt x="1934312" y="0"/>
                </a:lnTo>
                <a:lnTo>
                  <a:pt x="1934312" y="761636"/>
                </a:lnTo>
                <a:lnTo>
                  <a:pt x="0" y="7616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1028700" y="1104900"/>
            <a:ext cx="13263330" cy="2552700"/>
          </a:xfrm>
          <a:prstGeom prst="rect">
            <a:avLst/>
          </a:prstGeom>
        </p:spPr>
        <p:txBody>
          <a:bodyPr lIns="0" tIns="0" rIns="0" bIns="0" rtlCol="0" anchor="t">
            <a:spAutoFit/>
          </a:bodyPr>
          <a:lstStyle/>
          <a:p>
            <a:pPr algn="l">
              <a:lnSpc>
                <a:spcPts val="9900"/>
              </a:lnSpc>
            </a:pPr>
            <a:r>
              <a:rPr lang="en-US" sz="9000">
                <a:solidFill>
                  <a:srgbClr val="5E50A0"/>
                </a:solidFill>
                <a:latin typeface="Anton"/>
                <a:ea typeface="Anton"/>
                <a:cs typeface="Anton"/>
                <a:sym typeface="Anton"/>
              </a:rPr>
              <a:t>SPRINT ESTIMATION &amp; </a:t>
            </a:r>
          </a:p>
          <a:p>
            <a:pPr algn="l">
              <a:lnSpc>
                <a:spcPts val="9900"/>
              </a:lnSpc>
            </a:pPr>
            <a:r>
              <a:rPr lang="en-US" sz="9000">
                <a:solidFill>
                  <a:srgbClr val="794897"/>
                </a:solidFill>
                <a:latin typeface="Anton"/>
                <a:ea typeface="Anton"/>
                <a:cs typeface="Anton"/>
                <a:sym typeface="Anton"/>
              </a:rPr>
              <a:t>PROJECT COMPLETION</a:t>
            </a:r>
          </a:p>
        </p:txBody>
      </p:sp>
      <p:grpSp>
        <p:nvGrpSpPr>
          <p:cNvPr id="8" name="Group 8"/>
          <p:cNvGrpSpPr/>
          <p:nvPr/>
        </p:nvGrpSpPr>
        <p:grpSpPr>
          <a:xfrm>
            <a:off x="1028700" y="4430712"/>
            <a:ext cx="15182844" cy="5379720"/>
            <a:chOff x="0" y="0"/>
            <a:chExt cx="20243792" cy="7172961"/>
          </a:xfrm>
        </p:grpSpPr>
        <p:sp>
          <p:nvSpPr>
            <p:cNvPr id="9" name="TextBox 9"/>
            <p:cNvSpPr txBox="1"/>
            <p:nvPr/>
          </p:nvSpPr>
          <p:spPr>
            <a:xfrm>
              <a:off x="951976" y="-190500"/>
              <a:ext cx="920882" cy="2091719"/>
            </a:xfrm>
            <a:prstGeom prst="rect">
              <a:avLst/>
            </a:prstGeom>
          </p:spPr>
          <p:txBody>
            <a:bodyPr lIns="0" tIns="0" rIns="0" bIns="0" rtlCol="0" anchor="t">
              <a:spAutoFit/>
            </a:bodyPr>
            <a:lstStyle/>
            <a:p>
              <a:pPr algn="ctr">
                <a:lnSpc>
                  <a:spcPts val="13216"/>
                </a:lnSpc>
              </a:pPr>
              <a:r>
                <a:rPr lang="en-US" sz="9440">
                  <a:solidFill>
                    <a:srgbClr val="EAEEF0"/>
                  </a:solidFill>
                  <a:latin typeface="Brittany"/>
                  <a:ea typeface="Brittany"/>
                  <a:cs typeface="Brittany"/>
                  <a:sym typeface="Brittany"/>
                </a:rPr>
                <a:t>37</a:t>
              </a:r>
            </a:p>
          </p:txBody>
        </p:sp>
        <p:sp>
          <p:nvSpPr>
            <p:cNvPr id="10" name="TextBox 10"/>
            <p:cNvSpPr txBox="1"/>
            <p:nvPr/>
          </p:nvSpPr>
          <p:spPr>
            <a:xfrm>
              <a:off x="6361718" y="-190500"/>
              <a:ext cx="711442" cy="2091719"/>
            </a:xfrm>
            <a:prstGeom prst="rect">
              <a:avLst/>
            </a:prstGeom>
          </p:spPr>
          <p:txBody>
            <a:bodyPr lIns="0" tIns="0" rIns="0" bIns="0" rtlCol="0" anchor="t">
              <a:spAutoFit/>
            </a:bodyPr>
            <a:lstStyle/>
            <a:p>
              <a:pPr algn="ctr">
                <a:lnSpc>
                  <a:spcPts val="13216"/>
                </a:lnSpc>
              </a:pPr>
              <a:r>
                <a:rPr lang="en-US" sz="9440">
                  <a:solidFill>
                    <a:srgbClr val="EAEEF0"/>
                  </a:solidFill>
                  <a:latin typeface="Brittany"/>
                  <a:ea typeface="Brittany"/>
                  <a:cs typeface="Brittany"/>
                  <a:sym typeface="Brittany"/>
                </a:rPr>
                <a:t>21</a:t>
              </a:r>
            </a:p>
          </p:txBody>
        </p:sp>
        <p:sp>
          <p:nvSpPr>
            <p:cNvPr id="11" name="TextBox 11"/>
            <p:cNvSpPr txBox="1"/>
            <p:nvPr/>
          </p:nvSpPr>
          <p:spPr>
            <a:xfrm>
              <a:off x="11556259" y="-190500"/>
              <a:ext cx="906346" cy="2091719"/>
            </a:xfrm>
            <a:prstGeom prst="rect">
              <a:avLst/>
            </a:prstGeom>
          </p:spPr>
          <p:txBody>
            <a:bodyPr lIns="0" tIns="0" rIns="0" bIns="0" rtlCol="0" anchor="t">
              <a:spAutoFit/>
            </a:bodyPr>
            <a:lstStyle/>
            <a:p>
              <a:pPr algn="ctr">
                <a:lnSpc>
                  <a:spcPts val="13216"/>
                </a:lnSpc>
              </a:pPr>
              <a:r>
                <a:rPr lang="en-US" sz="9440">
                  <a:solidFill>
                    <a:srgbClr val="EAEEF0"/>
                  </a:solidFill>
                  <a:latin typeface="Brittany"/>
                  <a:ea typeface="Brittany"/>
                  <a:cs typeface="Brittany"/>
                  <a:sym typeface="Brittany"/>
                </a:rPr>
                <a:t>26</a:t>
              </a:r>
            </a:p>
          </p:txBody>
        </p:sp>
        <p:sp>
          <p:nvSpPr>
            <p:cNvPr id="12" name="TextBox 12"/>
            <p:cNvSpPr txBox="1"/>
            <p:nvPr/>
          </p:nvSpPr>
          <p:spPr>
            <a:xfrm>
              <a:off x="17386575" y="-190500"/>
              <a:ext cx="906346" cy="2091719"/>
            </a:xfrm>
            <a:prstGeom prst="rect">
              <a:avLst/>
            </a:prstGeom>
          </p:spPr>
          <p:txBody>
            <a:bodyPr lIns="0" tIns="0" rIns="0" bIns="0" rtlCol="0" anchor="t">
              <a:spAutoFit/>
            </a:bodyPr>
            <a:lstStyle/>
            <a:p>
              <a:pPr algn="ctr">
                <a:lnSpc>
                  <a:spcPts val="13216"/>
                </a:lnSpc>
              </a:pPr>
              <a:r>
                <a:rPr lang="en-US" sz="9440">
                  <a:solidFill>
                    <a:srgbClr val="EAEEF0"/>
                  </a:solidFill>
                  <a:latin typeface="Brittany"/>
                  <a:ea typeface="Brittany"/>
                  <a:cs typeface="Brittany"/>
                  <a:sym typeface="Brittany"/>
                </a:rPr>
                <a:t>26</a:t>
              </a:r>
            </a:p>
          </p:txBody>
        </p:sp>
        <p:sp>
          <p:nvSpPr>
            <p:cNvPr id="13" name="TextBox 13"/>
            <p:cNvSpPr txBox="1"/>
            <p:nvPr/>
          </p:nvSpPr>
          <p:spPr>
            <a:xfrm>
              <a:off x="155307" y="2208526"/>
              <a:ext cx="3975516" cy="547158"/>
            </a:xfrm>
            <a:prstGeom prst="rect">
              <a:avLst/>
            </a:prstGeom>
          </p:spPr>
          <p:txBody>
            <a:bodyPr lIns="0" tIns="0" rIns="0" bIns="0" rtlCol="0" anchor="t">
              <a:spAutoFit/>
            </a:bodyPr>
            <a:lstStyle/>
            <a:p>
              <a:pPr algn="l">
                <a:lnSpc>
                  <a:spcPts val="3499"/>
                </a:lnSpc>
              </a:pPr>
              <a:r>
                <a:rPr lang="en-US" sz="2499">
                  <a:solidFill>
                    <a:srgbClr val="EAEEF0"/>
                  </a:solidFill>
                  <a:latin typeface="Open Sans"/>
                  <a:ea typeface="Open Sans"/>
                  <a:cs typeface="Open Sans"/>
                  <a:sym typeface="Open Sans"/>
                </a:rPr>
                <a:t>SPRINT 1 VELOCITY</a:t>
              </a:r>
            </a:p>
          </p:txBody>
        </p:sp>
        <p:sp>
          <p:nvSpPr>
            <p:cNvPr id="14" name="TextBox 14"/>
            <p:cNvSpPr txBox="1"/>
            <p:nvPr/>
          </p:nvSpPr>
          <p:spPr>
            <a:xfrm>
              <a:off x="5085401" y="2208526"/>
              <a:ext cx="3975516" cy="547158"/>
            </a:xfrm>
            <a:prstGeom prst="rect">
              <a:avLst/>
            </a:prstGeom>
          </p:spPr>
          <p:txBody>
            <a:bodyPr lIns="0" tIns="0" rIns="0" bIns="0" rtlCol="0" anchor="t">
              <a:spAutoFit/>
            </a:bodyPr>
            <a:lstStyle/>
            <a:p>
              <a:pPr algn="l">
                <a:lnSpc>
                  <a:spcPts val="3499"/>
                </a:lnSpc>
              </a:pPr>
              <a:r>
                <a:rPr lang="en-US" sz="2499">
                  <a:solidFill>
                    <a:srgbClr val="EAEEF0"/>
                  </a:solidFill>
                  <a:latin typeface="Open Sans"/>
                  <a:ea typeface="Open Sans"/>
                  <a:cs typeface="Open Sans"/>
                  <a:sym typeface="Open Sans"/>
                </a:rPr>
                <a:t>SPRINT 2 VELOCITY</a:t>
              </a:r>
            </a:p>
          </p:txBody>
        </p:sp>
        <p:sp>
          <p:nvSpPr>
            <p:cNvPr id="15" name="TextBox 15"/>
            <p:cNvSpPr txBox="1"/>
            <p:nvPr/>
          </p:nvSpPr>
          <p:spPr>
            <a:xfrm>
              <a:off x="10679860" y="2208526"/>
              <a:ext cx="3975516" cy="547158"/>
            </a:xfrm>
            <a:prstGeom prst="rect">
              <a:avLst/>
            </a:prstGeom>
          </p:spPr>
          <p:txBody>
            <a:bodyPr lIns="0" tIns="0" rIns="0" bIns="0" rtlCol="0" anchor="t">
              <a:spAutoFit/>
            </a:bodyPr>
            <a:lstStyle/>
            <a:p>
              <a:pPr algn="l">
                <a:lnSpc>
                  <a:spcPts val="3499"/>
                </a:lnSpc>
              </a:pPr>
              <a:r>
                <a:rPr lang="en-US" sz="2499">
                  <a:solidFill>
                    <a:srgbClr val="EAEEF0"/>
                  </a:solidFill>
                  <a:latin typeface="Open Sans"/>
                  <a:ea typeface="Open Sans"/>
                  <a:cs typeface="Open Sans"/>
                  <a:sym typeface="Open Sans"/>
                </a:rPr>
                <a:t>SPRINT 3 VELOCITY</a:t>
              </a:r>
            </a:p>
          </p:txBody>
        </p:sp>
        <p:sp>
          <p:nvSpPr>
            <p:cNvPr id="16" name="TextBox 16"/>
            <p:cNvSpPr txBox="1"/>
            <p:nvPr/>
          </p:nvSpPr>
          <p:spPr>
            <a:xfrm>
              <a:off x="16268276" y="2208526"/>
              <a:ext cx="3975516" cy="547158"/>
            </a:xfrm>
            <a:prstGeom prst="rect">
              <a:avLst/>
            </a:prstGeom>
          </p:spPr>
          <p:txBody>
            <a:bodyPr lIns="0" tIns="0" rIns="0" bIns="0" rtlCol="0" anchor="t">
              <a:spAutoFit/>
            </a:bodyPr>
            <a:lstStyle/>
            <a:p>
              <a:pPr algn="l">
                <a:lnSpc>
                  <a:spcPts val="3499"/>
                </a:lnSpc>
              </a:pPr>
              <a:r>
                <a:rPr lang="en-US" sz="2499">
                  <a:solidFill>
                    <a:srgbClr val="EAEEF0"/>
                  </a:solidFill>
                  <a:latin typeface="Open Sans"/>
                  <a:ea typeface="Open Sans"/>
                  <a:cs typeface="Open Sans"/>
                  <a:sym typeface="Open Sans"/>
                </a:rPr>
                <a:t>MEDIAN VELOCITY</a:t>
              </a:r>
            </a:p>
          </p:txBody>
        </p:sp>
        <p:sp>
          <p:nvSpPr>
            <p:cNvPr id="17" name="TextBox 17"/>
            <p:cNvSpPr txBox="1"/>
            <p:nvPr/>
          </p:nvSpPr>
          <p:spPr>
            <a:xfrm>
              <a:off x="0" y="3515361"/>
              <a:ext cx="19905208" cy="3657600"/>
            </a:xfrm>
            <a:prstGeom prst="rect">
              <a:avLst/>
            </a:prstGeom>
          </p:spPr>
          <p:txBody>
            <a:bodyPr lIns="0" tIns="0" rIns="0" bIns="0" rtlCol="0" anchor="t">
              <a:spAutoFit/>
            </a:bodyPr>
            <a:lstStyle/>
            <a:p>
              <a:pPr algn="l">
                <a:lnSpc>
                  <a:spcPts val="3600"/>
                </a:lnSpc>
                <a:spcBef>
                  <a:spcPct val="0"/>
                </a:spcBef>
              </a:pPr>
              <a:r>
                <a:rPr lang="en-US" sz="3000">
                  <a:solidFill>
                    <a:srgbClr val="EAEEF0"/>
                  </a:solidFill>
                  <a:latin typeface="Open Sans"/>
                  <a:ea typeface="Open Sans"/>
                  <a:cs typeface="Open Sans"/>
                  <a:sym typeface="Open Sans"/>
                </a:rPr>
                <a:t>All planned features successfully completed within 3 sprints, achieving MVP goals with 90% confidence interval reliability.</a:t>
              </a:r>
            </a:p>
            <a:p>
              <a:pPr algn="l">
                <a:lnSpc>
                  <a:spcPts val="3600"/>
                </a:lnSpc>
                <a:spcBef>
                  <a:spcPct val="0"/>
                </a:spcBef>
              </a:pPr>
              <a:endParaRPr lang="en-US" sz="3000">
                <a:solidFill>
                  <a:srgbClr val="EAEEF0"/>
                </a:solidFill>
                <a:latin typeface="Open Sans"/>
                <a:ea typeface="Open Sans"/>
                <a:cs typeface="Open Sans"/>
                <a:sym typeface="Open Sans"/>
              </a:endParaRPr>
            </a:p>
            <a:p>
              <a:pPr algn="l">
                <a:lnSpc>
                  <a:spcPts val="3600"/>
                </a:lnSpc>
                <a:spcBef>
                  <a:spcPct val="0"/>
                </a:spcBef>
              </a:pPr>
              <a:r>
                <a:rPr lang="en-US" sz="3000">
                  <a:solidFill>
                    <a:srgbClr val="EAEEF0"/>
                  </a:solidFill>
                  <a:latin typeface="Open Sans"/>
                  <a:ea typeface="Open Sans"/>
                  <a:cs typeface="Open Sans"/>
                  <a:sym typeface="Open Sans"/>
                </a:rPr>
                <a:t>Total sprints required were 3. </a:t>
              </a:r>
            </a:p>
            <a:p>
              <a:pPr algn="l">
                <a:lnSpc>
                  <a:spcPts val="3600"/>
                </a:lnSpc>
                <a:spcBef>
                  <a:spcPct val="0"/>
                </a:spcBef>
              </a:pPr>
              <a:endParaRPr lang="en-US" sz="3000">
                <a:solidFill>
                  <a:srgbClr val="EAEEF0"/>
                </a:solidFill>
                <a:latin typeface="Open Sans"/>
                <a:ea typeface="Open Sans"/>
                <a:cs typeface="Open Sans"/>
                <a:sym typeface="Open Sans"/>
              </a:endParaRPr>
            </a:p>
            <a:p>
              <a:pPr algn="l">
                <a:lnSpc>
                  <a:spcPts val="3600"/>
                </a:lnSpc>
                <a:spcBef>
                  <a:spcPct val="0"/>
                </a:spcBef>
              </a:pPr>
              <a:r>
                <a:rPr lang="en-US" sz="3000">
                  <a:solidFill>
                    <a:srgbClr val="EAEEF0"/>
                  </a:solidFill>
                  <a:latin typeface="Open Sans"/>
                  <a:ea typeface="Open Sans"/>
                  <a:cs typeface="Open Sans"/>
                  <a:sym typeface="Open Sans"/>
                </a:rPr>
                <a:t>No additional sprint is needed</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AEEF0"/>
        </a:solidFill>
        <a:effectLst/>
      </p:bgPr>
    </p:bg>
    <p:spTree>
      <p:nvGrpSpPr>
        <p:cNvPr id="1" name=""/>
        <p:cNvGrpSpPr/>
        <p:nvPr/>
      </p:nvGrpSpPr>
      <p:grpSpPr>
        <a:xfrm>
          <a:off x="0" y="0"/>
          <a:ext cx="0" cy="0"/>
          <a:chOff x="0" y="0"/>
          <a:chExt cx="0" cy="0"/>
        </a:xfrm>
      </p:grpSpPr>
      <p:sp>
        <p:nvSpPr>
          <p:cNvPr id="2" name="Freeform 2"/>
          <p:cNvSpPr/>
          <p:nvPr/>
        </p:nvSpPr>
        <p:spPr>
          <a:xfrm rot="-10800000">
            <a:off x="14056843" y="0"/>
            <a:ext cx="4231157" cy="4114800"/>
          </a:xfrm>
          <a:custGeom>
            <a:avLst/>
            <a:gdLst/>
            <a:ahLst/>
            <a:cxnLst/>
            <a:rect l="l" t="t" r="r" b="b"/>
            <a:pathLst>
              <a:path w="4231157" h="4114800">
                <a:moveTo>
                  <a:pt x="0" y="0"/>
                </a:moveTo>
                <a:lnTo>
                  <a:pt x="4231157" y="0"/>
                </a:lnTo>
                <a:lnTo>
                  <a:pt x="42311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172422" y="8206953"/>
            <a:ext cx="1934312" cy="761636"/>
          </a:xfrm>
          <a:custGeom>
            <a:avLst/>
            <a:gdLst/>
            <a:ahLst/>
            <a:cxnLst/>
            <a:rect l="l" t="t" r="r" b="b"/>
            <a:pathLst>
              <a:path w="1934312" h="761636">
                <a:moveTo>
                  <a:pt x="0" y="0"/>
                </a:moveTo>
                <a:lnTo>
                  <a:pt x="1934312" y="0"/>
                </a:lnTo>
                <a:lnTo>
                  <a:pt x="1934312" y="761636"/>
                </a:lnTo>
                <a:lnTo>
                  <a:pt x="0" y="7616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622149" y="9260846"/>
            <a:ext cx="6806241" cy="803935"/>
            <a:chOff x="0" y="0"/>
            <a:chExt cx="9074988" cy="1071914"/>
          </a:xfrm>
        </p:grpSpPr>
        <p:grpSp>
          <p:nvGrpSpPr>
            <p:cNvPr id="5" name="Group 5"/>
            <p:cNvGrpSpPr/>
            <p:nvPr/>
          </p:nvGrpSpPr>
          <p:grpSpPr>
            <a:xfrm>
              <a:off x="1188383" y="0"/>
              <a:ext cx="7886605" cy="1071914"/>
              <a:chOff x="0" y="0"/>
              <a:chExt cx="1557848" cy="211736"/>
            </a:xfrm>
          </p:grpSpPr>
          <p:sp>
            <p:nvSpPr>
              <p:cNvPr id="6" name="Freeform 6"/>
              <p:cNvSpPr/>
              <p:nvPr/>
            </p:nvSpPr>
            <p:spPr>
              <a:xfrm>
                <a:off x="0" y="0"/>
                <a:ext cx="1557848" cy="211736"/>
              </a:xfrm>
              <a:custGeom>
                <a:avLst/>
                <a:gdLst/>
                <a:ahLst/>
                <a:cxnLst/>
                <a:rect l="l" t="t" r="r" b="b"/>
                <a:pathLst>
                  <a:path w="1557848" h="211736">
                    <a:moveTo>
                      <a:pt x="0" y="0"/>
                    </a:moveTo>
                    <a:lnTo>
                      <a:pt x="1557848" y="0"/>
                    </a:lnTo>
                    <a:lnTo>
                      <a:pt x="1557848" y="211736"/>
                    </a:lnTo>
                    <a:lnTo>
                      <a:pt x="0" y="211736"/>
                    </a:lnTo>
                    <a:close/>
                  </a:path>
                </a:pathLst>
              </a:custGeom>
              <a:solidFill>
                <a:srgbClr val="76ADE5"/>
              </a:solidFill>
            </p:spPr>
          </p:sp>
          <p:sp>
            <p:nvSpPr>
              <p:cNvPr id="7" name="TextBox 7"/>
              <p:cNvSpPr txBox="1"/>
              <p:nvPr/>
            </p:nvSpPr>
            <p:spPr>
              <a:xfrm>
                <a:off x="0" y="-38100"/>
                <a:ext cx="1557848" cy="249836"/>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366490" y="0"/>
              <a:ext cx="8534615" cy="1071914"/>
              <a:chOff x="0" y="0"/>
              <a:chExt cx="1685850" cy="211736"/>
            </a:xfrm>
          </p:grpSpPr>
          <p:sp>
            <p:nvSpPr>
              <p:cNvPr id="9" name="Freeform 9"/>
              <p:cNvSpPr/>
              <p:nvPr/>
            </p:nvSpPr>
            <p:spPr>
              <a:xfrm>
                <a:off x="0" y="0"/>
                <a:ext cx="1685850" cy="211736"/>
              </a:xfrm>
              <a:custGeom>
                <a:avLst/>
                <a:gdLst/>
                <a:ahLst/>
                <a:cxnLst/>
                <a:rect l="l" t="t" r="r" b="b"/>
                <a:pathLst>
                  <a:path w="1685850" h="211736">
                    <a:moveTo>
                      <a:pt x="0" y="0"/>
                    </a:moveTo>
                    <a:lnTo>
                      <a:pt x="1685850" y="0"/>
                    </a:lnTo>
                    <a:lnTo>
                      <a:pt x="1685850" y="211736"/>
                    </a:lnTo>
                    <a:lnTo>
                      <a:pt x="0" y="211736"/>
                    </a:lnTo>
                    <a:close/>
                  </a:path>
                </a:pathLst>
              </a:custGeom>
              <a:solidFill>
                <a:srgbClr val="5E50A0"/>
              </a:solidFill>
            </p:spPr>
          </p:sp>
          <p:sp>
            <p:nvSpPr>
              <p:cNvPr id="10" name="TextBox 10"/>
              <p:cNvSpPr txBox="1"/>
              <p:nvPr/>
            </p:nvSpPr>
            <p:spPr>
              <a:xfrm>
                <a:off x="0" y="-38100"/>
                <a:ext cx="1685850" cy="249836"/>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0" y="0"/>
              <a:ext cx="869375" cy="1071914"/>
              <a:chOff x="0" y="0"/>
              <a:chExt cx="171728" cy="211736"/>
            </a:xfrm>
          </p:grpSpPr>
          <p:sp>
            <p:nvSpPr>
              <p:cNvPr id="12" name="Freeform 12"/>
              <p:cNvSpPr/>
              <p:nvPr/>
            </p:nvSpPr>
            <p:spPr>
              <a:xfrm>
                <a:off x="0" y="0"/>
                <a:ext cx="171728" cy="211736"/>
              </a:xfrm>
              <a:custGeom>
                <a:avLst/>
                <a:gdLst/>
                <a:ahLst/>
                <a:cxnLst/>
                <a:rect l="l" t="t" r="r" b="b"/>
                <a:pathLst>
                  <a:path w="171728" h="211736">
                    <a:moveTo>
                      <a:pt x="0" y="0"/>
                    </a:moveTo>
                    <a:lnTo>
                      <a:pt x="171728" y="0"/>
                    </a:lnTo>
                    <a:lnTo>
                      <a:pt x="171728" y="211736"/>
                    </a:lnTo>
                    <a:lnTo>
                      <a:pt x="0" y="211736"/>
                    </a:lnTo>
                    <a:close/>
                  </a:path>
                </a:pathLst>
              </a:custGeom>
              <a:solidFill>
                <a:srgbClr val="794897"/>
              </a:solidFill>
            </p:spPr>
          </p:sp>
          <p:sp>
            <p:nvSpPr>
              <p:cNvPr id="13" name="TextBox 13"/>
              <p:cNvSpPr txBox="1"/>
              <p:nvPr/>
            </p:nvSpPr>
            <p:spPr>
              <a:xfrm>
                <a:off x="0" y="-38100"/>
                <a:ext cx="171728" cy="249836"/>
              </a:xfrm>
              <a:prstGeom prst="rect">
                <a:avLst/>
              </a:prstGeom>
            </p:spPr>
            <p:txBody>
              <a:bodyPr lIns="50800" tIns="50800" rIns="50800" bIns="50800" rtlCol="0" anchor="ctr"/>
              <a:lstStyle/>
              <a:p>
                <a:pPr algn="ctr">
                  <a:lnSpc>
                    <a:spcPts val="2659"/>
                  </a:lnSpc>
                </a:pPr>
                <a:endParaRPr/>
              </a:p>
            </p:txBody>
          </p:sp>
        </p:grpSp>
      </p:grpSp>
      <p:grpSp>
        <p:nvGrpSpPr>
          <p:cNvPr id="14" name="Group 14"/>
          <p:cNvGrpSpPr/>
          <p:nvPr/>
        </p:nvGrpSpPr>
        <p:grpSpPr>
          <a:xfrm>
            <a:off x="1062274" y="4259845"/>
            <a:ext cx="174264" cy="167111"/>
            <a:chOff x="0" y="0"/>
            <a:chExt cx="45897" cy="44013"/>
          </a:xfrm>
        </p:grpSpPr>
        <p:sp>
          <p:nvSpPr>
            <p:cNvPr id="15" name="Freeform 15"/>
            <p:cNvSpPr/>
            <p:nvPr/>
          </p:nvSpPr>
          <p:spPr>
            <a:xfrm>
              <a:off x="0" y="0"/>
              <a:ext cx="45897" cy="44013"/>
            </a:xfrm>
            <a:custGeom>
              <a:avLst/>
              <a:gdLst/>
              <a:ahLst/>
              <a:cxnLst/>
              <a:rect l="l" t="t" r="r" b="b"/>
              <a:pathLst>
                <a:path w="45897" h="44013">
                  <a:moveTo>
                    <a:pt x="0" y="0"/>
                  </a:moveTo>
                  <a:lnTo>
                    <a:pt x="45897" y="0"/>
                  </a:lnTo>
                  <a:lnTo>
                    <a:pt x="45897" y="44013"/>
                  </a:lnTo>
                  <a:lnTo>
                    <a:pt x="0" y="44013"/>
                  </a:lnTo>
                  <a:close/>
                </a:path>
              </a:pathLst>
            </a:custGeom>
            <a:solidFill>
              <a:srgbClr val="794897"/>
            </a:solidFill>
          </p:spPr>
        </p:sp>
        <p:sp>
          <p:nvSpPr>
            <p:cNvPr id="16" name="TextBox 16"/>
            <p:cNvSpPr txBox="1"/>
            <p:nvPr/>
          </p:nvSpPr>
          <p:spPr>
            <a:xfrm>
              <a:off x="0" y="-38100"/>
              <a:ext cx="45897" cy="82113"/>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6598906" y="4259845"/>
            <a:ext cx="174264" cy="167111"/>
            <a:chOff x="0" y="0"/>
            <a:chExt cx="45897" cy="44013"/>
          </a:xfrm>
        </p:grpSpPr>
        <p:sp>
          <p:nvSpPr>
            <p:cNvPr id="18" name="Freeform 18"/>
            <p:cNvSpPr/>
            <p:nvPr/>
          </p:nvSpPr>
          <p:spPr>
            <a:xfrm>
              <a:off x="0" y="0"/>
              <a:ext cx="45897" cy="44013"/>
            </a:xfrm>
            <a:custGeom>
              <a:avLst/>
              <a:gdLst/>
              <a:ahLst/>
              <a:cxnLst/>
              <a:rect l="l" t="t" r="r" b="b"/>
              <a:pathLst>
                <a:path w="45897" h="44013">
                  <a:moveTo>
                    <a:pt x="0" y="0"/>
                  </a:moveTo>
                  <a:lnTo>
                    <a:pt x="45897" y="0"/>
                  </a:lnTo>
                  <a:lnTo>
                    <a:pt x="45897" y="44013"/>
                  </a:lnTo>
                  <a:lnTo>
                    <a:pt x="0" y="44013"/>
                  </a:lnTo>
                  <a:close/>
                </a:path>
              </a:pathLst>
            </a:custGeom>
            <a:solidFill>
              <a:srgbClr val="794897"/>
            </a:solidFill>
          </p:spPr>
        </p:sp>
        <p:sp>
          <p:nvSpPr>
            <p:cNvPr id="19" name="TextBox 19"/>
            <p:cNvSpPr txBox="1"/>
            <p:nvPr/>
          </p:nvSpPr>
          <p:spPr>
            <a:xfrm>
              <a:off x="0" y="-38100"/>
              <a:ext cx="45897" cy="82113"/>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62274" y="6187761"/>
            <a:ext cx="174264" cy="167111"/>
            <a:chOff x="0" y="0"/>
            <a:chExt cx="45897" cy="44013"/>
          </a:xfrm>
        </p:grpSpPr>
        <p:sp>
          <p:nvSpPr>
            <p:cNvPr id="21" name="Freeform 21"/>
            <p:cNvSpPr/>
            <p:nvPr/>
          </p:nvSpPr>
          <p:spPr>
            <a:xfrm>
              <a:off x="0" y="0"/>
              <a:ext cx="45897" cy="44013"/>
            </a:xfrm>
            <a:custGeom>
              <a:avLst/>
              <a:gdLst/>
              <a:ahLst/>
              <a:cxnLst/>
              <a:rect l="l" t="t" r="r" b="b"/>
              <a:pathLst>
                <a:path w="45897" h="44013">
                  <a:moveTo>
                    <a:pt x="0" y="0"/>
                  </a:moveTo>
                  <a:lnTo>
                    <a:pt x="45897" y="0"/>
                  </a:lnTo>
                  <a:lnTo>
                    <a:pt x="45897" y="44013"/>
                  </a:lnTo>
                  <a:lnTo>
                    <a:pt x="0" y="44013"/>
                  </a:lnTo>
                  <a:close/>
                </a:path>
              </a:pathLst>
            </a:custGeom>
            <a:solidFill>
              <a:srgbClr val="794897"/>
            </a:solidFill>
          </p:spPr>
        </p:sp>
        <p:sp>
          <p:nvSpPr>
            <p:cNvPr id="22" name="TextBox 22"/>
            <p:cNvSpPr txBox="1"/>
            <p:nvPr/>
          </p:nvSpPr>
          <p:spPr>
            <a:xfrm>
              <a:off x="0" y="-38100"/>
              <a:ext cx="45897" cy="82113"/>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6598906" y="6187761"/>
            <a:ext cx="174264" cy="167111"/>
            <a:chOff x="0" y="0"/>
            <a:chExt cx="45897" cy="44013"/>
          </a:xfrm>
        </p:grpSpPr>
        <p:sp>
          <p:nvSpPr>
            <p:cNvPr id="24" name="Freeform 24"/>
            <p:cNvSpPr/>
            <p:nvPr/>
          </p:nvSpPr>
          <p:spPr>
            <a:xfrm>
              <a:off x="0" y="0"/>
              <a:ext cx="45897" cy="44013"/>
            </a:xfrm>
            <a:custGeom>
              <a:avLst/>
              <a:gdLst/>
              <a:ahLst/>
              <a:cxnLst/>
              <a:rect l="l" t="t" r="r" b="b"/>
              <a:pathLst>
                <a:path w="45897" h="44013">
                  <a:moveTo>
                    <a:pt x="0" y="0"/>
                  </a:moveTo>
                  <a:lnTo>
                    <a:pt x="45897" y="0"/>
                  </a:lnTo>
                  <a:lnTo>
                    <a:pt x="45897" y="44013"/>
                  </a:lnTo>
                  <a:lnTo>
                    <a:pt x="0" y="44013"/>
                  </a:lnTo>
                  <a:close/>
                </a:path>
              </a:pathLst>
            </a:custGeom>
            <a:solidFill>
              <a:srgbClr val="794897"/>
            </a:solidFill>
          </p:spPr>
        </p:sp>
        <p:sp>
          <p:nvSpPr>
            <p:cNvPr id="25" name="TextBox 25"/>
            <p:cNvSpPr txBox="1"/>
            <p:nvPr/>
          </p:nvSpPr>
          <p:spPr>
            <a:xfrm>
              <a:off x="0" y="-38100"/>
              <a:ext cx="45897" cy="82113"/>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6891667" y="-1488134"/>
            <a:ext cx="7558495" cy="2217578"/>
            <a:chOff x="0" y="0"/>
            <a:chExt cx="724938" cy="212689"/>
          </a:xfrm>
        </p:grpSpPr>
        <p:sp>
          <p:nvSpPr>
            <p:cNvPr id="27" name="Freeform 27"/>
            <p:cNvSpPr/>
            <p:nvPr/>
          </p:nvSpPr>
          <p:spPr>
            <a:xfrm>
              <a:off x="0" y="0"/>
              <a:ext cx="724938" cy="212689"/>
            </a:xfrm>
            <a:custGeom>
              <a:avLst/>
              <a:gdLst/>
              <a:ahLst/>
              <a:cxnLst/>
              <a:rect l="l" t="t" r="r" b="b"/>
              <a:pathLst>
                <a:path w="724938" h="212689">
                  <a:moveTo>
                    <a:pt x="521738" y="0"/>
                  </a:moveTo>
                  <a:lnTo>
                    <a:pt x="0" y="0"/>
                  </a:lnTo>
                  <a:lnTo>
                    <a:pt x="203200" y="212689"/>
                  </a:lnTo>
                  <a:lnTo>
                    <a:pt x="724938" y="212689"/>
                  </a:lnTo>
                  <a:lnTo>
                    <a:pt x="521738" y="0"/>
                  </a:lnTo>
                  <a:close/>
                </a:path>
              </a:pathLst>
            </a:custGeom>
            <a:ln w="76200" cap="sq">
              <a:solidFill>
                <a:srgbClr val="76ADE5"/>
              </a:solidFill>
              <a:prstDash val="solid"/>
              <a:miter/>
            </a:ln>
          </p:spPr>
        </p:sp>
        <p:sp>
          <p:nvSpPr>
            <p:cNvPr id="28" name="TextBox 28"/>
            <p:cNvSpPr txBox="1"/>
            <p:nvPr/>
          </p:nvSpPr>
          <p:spPr>
            <a:xfrm>
              <a:off x="101600" y="-38100"/>
              <a:ext cx="521738" cy="250789"/>
            </a:xfrm>
            <a:prstGeom prst="rect">
              <a:avLst/>
            </a:prstGeom>
          </p:spPr>
          <p:txBody>
            <a:bodyPr lIns="50800" tIns="50800" rIns="50800" bIns="50800" rtlCol="0" anchor="ctr"/>
            <a:lstStyle/>
            <a:p>
              <a:pPr algn="ctr">
                <a:lnSpc>
                  <a:spcPts val="2659"/>
                </a:lnSpc>
                <a:spcBef>
                  <a:spcPct val="0"/>
                </a:spcBef>
              </a:pPr>
              <a:endParaRPr/>
            </a:p>
          </p:txBody>
        </p:sp>
      </p:grpSp>
      <p:sp>
        <p:nvSpPr>
          <p:cNvPr id="29" name="TextBox 29"/>
          <p:cNvSpPr txBox="1"/>
          <p:nvPr/>
        </p:nvSpPr>
        <p:spPr>
          <a:xfrm>
            <a:off x="1028700" y="1104900"/>
            <a:ext cx="12331046" cy="2552700"/>
          </a:xfrm>
          <a:prstGeom prst="rect">
            <a:avLst/>
          </a:prstGeom>
        </p:spPr>
        <p:txBody>
          <a:bodyPr lIns="0" tIns="0" rIns="0" bIns="0" rtlCol="0" anchor="t">
            <a:spAutoFit/>
          </a:bodyPr>
          <a:lstStyle/>
          <a:p>
            <a:pPr algn="l">
              <a:lnSpc>
                <a:spcPts val="9900"/>
              </a:lnSpc>
            </a:pPr>
            <a:r>
              <a:rPr lang="en-US" sz="9000">
                <a:solidFill>
                  <a:srgbClr val="5E50A0"/>
                </a:solidFill>
                <a:latin typeface="Anton"/>
                <a:ea typeface="Anton"/>
                <a:cs typeface="Anton"/>
                <a:sym typeface="Anton"/>
              </a:rPr>
              <a:t>TESTING AND COVERAGE</a:t>
            </a:r>
          </a:p>
          <a:p>
            <a:pPr algn="l">
              <a:lnSpc>
                <a:spcPts val="9900"/>
              </a:lnSpc>
            </a:pPr>
            <a:r>
              <a:rPr lang="en-US" sz="9000">
                <a:solidFill>
                  <a:srgbClr val="794897"/>
                </a:solidFill>
                <a:latin typeface="Anton"/>
                <a:ea typeface="Anton"/>
                <a:cs typeface="Anton"/>
                <a:sym typeface="Anton"/>
              </a:rPr>
              <a:t>TOOLS (SPRINT 3)</a:t>
            </a:r>
          </a:p>
        </p:txBody>
      </p:sp>
      <p:sp>
        <p:nvSpPr>
          <p:cNvPr id="30" name="TextBox 30"/>
          <p:cNvSpPr txBox="1"/>
          <p:nvPr/>
        </p:nvSpPr>
        <p:spPr>
          <a:xfrm>
            <a:off x="1028700" y="4727260"/>
            <a:ext cx="4780042" cy="860425"/>
          </a:xfrm>
          <a:prstGeom prst="rect">
            <a:avLst/>
          </a:prstGeom>
        </p:spPr>
        <p:txBody>
          <a:bodyPr lIns="0" tIns="0" rIns="0" bIns="0" rtlCol="0" anchor="t">
            <a:spAutoFit/>
          </a:bodyPr>
          <a:lstStyle/>
          <a:p>
            <a:pPr algn="l">
              <a:lnSpc>
                <a:spcPts val="3499"/>
              </a:lnSpc>
            </a:pPr>
            <a:r>
              <a:rPr lang="en-US" sz="2499">
                <a:solidFill>
                  <a:srgbClr val="2C1F36"/>
                </a:solidFill>
                <a:latin typeface="Open Sans"/>
                <a:ea typeface="Open Sans"/>
                <a:cs typeface="Open Sans"/>
                <a:sym typeface="Open Sans"/>
              </a:rPr>
              <a:t>Unit testing framework for backend logic verification</a:t>
            </a:r>
          </a:p>
        </p:txBody>
      </p:sp>
      <p:sp>
        <p:nvSpPr>
          <p:cNvPr id="31" name="TextBox 31"/>
          <p:cNvSpPr txBox="1"/>
          <p:nvPr/>
        </p:nvSpPr>
        <p:spPr>
          <a:xfrm>
            <a:off x="6561422" y="4727260"/>
            <a:ext cx="5013605" cy="860425"/>
          </a:xfrm>
          <a:prstGeom prst="rect">
            <a:avLst/>
          </a:prstGeom>
        </p:spPr>
        <p:txBody>
          <a:bodyPr lIns="0" tIns="0" rIns="0" bIns="0" rtlCol="0" anchor="t">
            <a:spAutoFit/>
          </a:bodyPr>
          <a:lstStyle/>
          <a:p>
            <a:pPr algn="l">
              <a:lnSpc>
                <a:spcPts val="3499"/>
              </a:lnSpc>
            </a:pPr>
            <a:r>
              <a:rPr lang="en-US" sz="2499">
                <a:solidFill>
                  <a:srgbClr val="2C1F36"/>
                </a:solidFill>
                <a:latin typeface="Open Sans"/>
                <a:ea typeface="Open Sans"/>
                <a:cs typeface="Open Sans"/>
                <a:sym typeface="Open Sans"/>
              </a:rPr>
              <a:t>Mocking dependencies including services and repositories</a:t>
            </a:r>
          </a:p>
        </p:txBody>
      </p:sp>
      <p:sp>
        <p:nvSpPr>
          <p:cNvPr id="32" name="TextBox 32"/>
          <p:cNvSpPr txBox="1"/>
          <p:nvPr/>
        </p:nvSpPr>
        <p:spPr>
          <a:xfrm>
            <a:off x="1028700" y="6638296"/>
            <a:ext cx="4780042" cy="860425"/>
          </a:xfrm>
          <a:prstGeom prst="rect">
            <a:avLst/>
          </a:prstGeom>
        </p:spPr>
        <p:txBody>
          <a:bodyPr lIns="0" tIns="0" rIns="0" bIns="0" rtlCol="0" anchor="t">
            <a:spAutoFit/>
          </a:bodyPr>
          <a:lstStyle/>
          <a:p>
            <a:pPr algn="l">
              <a:lnSpc>
                <a:spcPts val="3499"/>
              </a:lnSpc>
            </a:pPr>
            <a:r>
              <a:rPr lang="en-US" sz="2499">
                <a:solidFill>
                  <a:srgbClr val="2C1F36"/>
                </a:solidFill>
                <a:latin typeface="Open Sans"/>
                <a:ea typeface="Open Sans"/>
                <a:cs typeface="Open Sans"/>
                <a:sym typeface="Open Sans"/>
              </a:rPr>
              <a:t>Comprehensive code coverage measurement and reporting</a:t>
            </a:r>
          </a:p>
        </p:txBody>
      </p:sp>
      <p:sp>
        <p:nvSpPr>
          <p:cNvPr id="33" name="TextBox 33"/>
          <p:cNvSpPr txBox="1"/>
          <p:nvPr/>
        </p:nvSpPr>
        <p:spPr>
          <a:xfrm>
            <a:off x="6561422" y="6638296"/>
            <a:ext cx="4780042" cy="860425"/>
          </a:xfrm>
          <a:prstGeom prst="rect">
            <a:avLst/>
          </a:prstGeom>
        </p:spPr>
        <p:txBody>
          <a:bodyPr lIns="0" tIns="0" rIns="0" bIns="0" rtlCol="0" anchor="t">
            <a:spAutoFit/>
          </a:bodyPr>
          <a:lstStyle/>
          <a:p>
            <a:pPr algn="l">
              <a:lnSpc>
                <a:spcPts val="3499"/>
              </a:lnSpc>
            </a:pPr>
            <a:r>
              <a:rPr lang="en-US" sz="2499">
                <a:solidFill>
                  <a:srgbClr val="2C1F36"/>
                </a:solidFill>
                <a:latin typeface="Open Sans"/>
                <a:ea typeface="Open Sans"/>
                <a:cs typeface="Open Sans"/>
                <a:sym typeface="Open Sans"/>
              </a:rPr>
              <a:t>Detect architecture, design and implementation smells</a:t>
            </a:r>
          </a:p>
        </p:txBody>
      </p:sp>
      <p:sp>
        <p:nvSpPr>
          <p:cNvPr id="34" name="TextBox 34"/>
          <p:cNvSpPr txBox="1"/>
          <p:nvPr/>
        </p:nvSpPr>
        <p:spPr>
          <a:xfrm>
            <a:off x="1424224" y="4114800"/>
            <a:ext cx="5165156" cy="457200"/>
          </a:xfrm>
          <a:prstGeom prst="rect">
            <a:avLst/>
          </a:prstGeom>
        </p:spPr>
        <p:txBody>
          <a:bodyPr lIns="0" tIns="0" rIns="0" bIns="0" rtlCol="0" anchor="t">
            <a:spAutoFit/>
          </a:bodyPr>
          <a:lstStyle/>
          <a:p>
            <a:pPr algn="l">
              <a:lnSpc>
                <a:spcPts val="3600"/>
              </a:lnSpc>
            </a:pPr>
            <a:r>
              <a:rPr lang="en-US" sz="3000" b="1">
                <a:solidFill>
                  <a:srgbClr val="5E50A0"/>
                </a:solidFill>
                <a:latin typeface="Open Sans Bold"/>
                <a:ea typeface="Open Sans Bold"/>
                <a:cs typeface="Open Sans Bold"/>
                <a:sym typeface="Open Sans Bold"/>
              </a:rPr>
              <a:t>JUNIT 5</a:t>
            </a:r>
          </a:p>
        </p:txBody>
      </p:sp>
      <p:sp>
        <p:nvSpPr>
          <p:cNvPr id="35" name="TextBox 35"/>
          <p:cNvSpPr txBox="1"/>
          <p:nvPr/>
        </p:nvSpPr>
        <p:spPr>
          <a:xfrm>
            <a:off x="6999821" y="4114800"/>
            <a:ext cx="2894875" cy="457200"/>
          </a:xfrm>
          <a:prstGeom prst="rect">
            <a:avLst/>
          </a:prstGeom>
        </p:spPr>
        <p:txBody>
          <a:bodyPr lIns="0" tIns="0" rIns="0" bIns="0" rtlCol="0" anchor="t">
            <a:spAutoFit/>
          </a:bodyPr>
          <a:lstStyle/>
          <a:p>
            <a:pPr algn="l">
              <a:lnSpc>
                <a:spcPts val="3600"/>
              </a:lnSpc>
            </a:pPr>
            <a:r>
              <a:rPr lang="en-US" sz="3000" b="1">
                <a:solidFill>
                  <a:srgbClr val="5E50A0"/>
                </a:solidFill>
                <a:latin typeface="Open Sans Bold"/>
                <a:ea typeface="Open Sans Bold"/>
                <a:cs typeface="Open Sans Bold"/>
                <a:sym typeface="Open Sans Bold"/>
              </a:rPr>
              <a:t>MOCKITO</a:t>
            </a:r>
          </a:p>
        </p:txBody>
      </p:sp>
      <p:sp>
        <p:nvSpPr>
          <p:cNvPr id="36" name="TextBox 36"/>
          <p:cNvSpPr txBox="1"/>
          <p:nvPr/>
        </p:nvSpPr>
        <p:spPr>
          <a:xfrm>
            <a:off x="1424224" y="6025836"/>
            <a:ext cx="2738303" cy="457200"/>
          </a:xfrm>
          <a:prstGeom prst="rect">
            <a:avLst/>
          </a:prstGeom>
        </p:spPr>
        <p:txBody>
          <a:bodyPr lIns="0" tIns="0" rIns="0" bIns="0" rtlCol="0" anchor="t">
            <a:spAutoFit/>
          </a:bodyPr>
          <a:lstStyle/>
          <a:p>
            <a:pPr algn="l">
              <a:lnSpc>
                <a:spcPts val="3600"/>
              </a:lnSpc>
            </a:pPr>
            <a:r>
              <a:rPr lang="en-US" sz="3000" b="1">
                <a:solidFill>
                  <a:srgbClr val="5E50A0"/>
                </a:solidFill>
                <a:latin typeface="Open Sans Bold"/>
                <a:ea typeface="Open Sans Bold"/>
                <a:cs typeface="Open Sans Bold"/>
                <a:sym typeface="Open Sans Bold"/>
              </a:rPr>
              <a:t>JACOCO</a:t>
            </a:r>
          </a:p>
        </p:txBody>
      </p:sp>
      <p:sp>
        <p:nvSpPr>
          <p:cNvPr id="37" name="TextBox 37"/>
          <p:cNvSpPr txBox="1"/>
          <p:nvPr/>
        </p:nvSpPr>
        <p:spPr>
          <a:xfrm>
            <a:off x="6999821" y="6025836"/>
            <a:ext cx="2894875" cy="457200"/>
          </a:xfrm>
          <a:prstGeom prst="rect">
            <a:avLst/>
          </a:prstGeom>
        </p:spPr>
        <p:txBody>
          <a:bodyPr lIns="0" tIns="0" rIns="0" bIns="0" rtlCol="0" anchor="t">
            <a:spAutoFit/>
          </a:bodyPr>
          <a:lstStyle/>
          <a:p>
            <a:pPr algn="l">
              <a:lnSpc>
                <a:spcPts val="3600"/>
              </a:lnSpc>
            </a:pPr>
            <a:r>
              <a:rPr lang="en-US" sz="3000" b="1">
                <a:solidFill>
                  <a:srgbClr val="5E50A0"/>
                </a:solidFill>
                <a:latin typeface="Open Sans Bold"/>
                <a:ea typeface="Open Sans Bold"/>
                <a:cs typeface="Open Sans Bold"/>
                <a:sym typeface="Open Sans Bold"/>
              </a:rPr>
              <a:t>DESIGNITEJAVA</a:t>
            </a:r>
          </a:p>
        </p:txBody>
      </p:sp>
      <p:grpSp>
        <p:nvGrpSpPr>
          <p:cNvPr id="38" name="Group 38"/>
          <p:cNvGrpSpPr/>
          <p:nvPr/>
        </p:nvGrpSpPr>
        <p:grpSpPr>
          <a:xfrm>
            <a:off x="12858531" y="4114800"/>
            <a:ext cx="4867174" cy="1472886"/>
            <a:chOff x="0" y="0"/>
            <a:chExt cx="6489566" cy="1963847"/>
          </a:xfrm>
        </p:grpSpPr>
        <p:grpSp>
          <p:nvGrpSpPr>
            <p:cNvPr id="39" name="Group 39"/>
            <p:cNvGrpSpPr/>
            <p:nvPr/>
          </p:nvGrpSpPr>
          <p:grpSpPr>
            <a:xfrm>
              <a:off x="0" y="193393"/>
              <a:ext cx="232352" cy="222815"/>
              <a:chOff x="0" y="0"/>
              <a:chExt cx="45897" cy="44013"/>
            </a:xfrm>
          </p:grpSpPr>
          <p:sp>
            <p:nvSpPr>
              <p:cNvPr id="40" name="Freeform 40"/>
              <p:cNvSpPr/>
              <p:nvPr/>
            </p:nvSpPr>
            <p:spPr>
              <a:xfrm>
                <a:off x="0" y="0"/>
                <a:ext cx="45897" cy="44013"/>
              </a:xfrm>
              <a:custGeom>
                <a:avLst/>
                <a:gdLst/>
                <a:ahLst/>
                <a:cxnLst/>
                <a:rect l="l" t="t" r="r" b="b"/>
                <a:pathLst>
                  <a:path w="45897" h="44013">
                    <a:moveTo>
                      <a:pt x="0" y="0"/>
                    </a:moveTo>
                    <a:lnTo>
                      <a:pt x="45897" y="0"/>
                    </a:lnTo>
                    <a:lnTo>
                      <a:pt x="45897" y="44013"/>
                    </a:lnTo>
                    <a:lnTo>
                      <a:pt x="0" y="44013"/>
                    </a:lnTo>
                    <a:close/>
                  </a:path>
                </a:pathLst>
              </a:custGeom>
              <a:solidFill>
                <a:srgbClr val="794897"/>
              </a:solidFill>
            </p:spPr>
          </p:sp>
          <p:sp>
            <p:nvSpPr>
              <p:cNvPr id="41" name="TextBox 41"/>
              <p:cNvSpPr txBox="1"/>
              <p:nvPr/>
            </p:nvSpPr>
            <p:spPr>
              <a:xfrm>
                <a:off x="0" y="-38100"/>
                <a:ext cx="45897" cy="82113"/>
              </a:xfrm>
              <a:prstGeom prst="rect">
                <a:avLst/>
              </a:prstGeom>
            </p:spPr>
            <p:txBody>
              <a:bodyPr lIns="50800" tIns="50800" rIns="50800" bIns="50800" rtlCol="0" anchor="ctr"/>
              <a:lstStyle/>
              <a:p>
                <a:pPr algn="ctr">
                  <a:lnSpc>
                    <a:spcPts val="2659"/>
                  </a:lnSpc>
                </a:pPr>
                <a:endParaRPr/>
              </a:p>
            </p:txBody>
          </p:sp>
        </p:grpSp>
        <p:sp>
          <p:nvSpPr>
            <p:cNvPr id="42" name="TextBox 42"/>
            <p:cNvSpPr txBox="1"/>
            <p:nvPr/>
          </p:nvSpPr>
          <p:spPr>
            <a:xfrm>
              <a:off x="116176" y="832489"/>
              <a:ext cx="6373390" cy="1131358"/>
            </a:xfrm>
            <a:prstGeom prst="rect">
              <a:avLst/>
            </a:prstGeom>
          </p:spPr>
          <p:txBody>
            <a:bodyPr lIns="0" tIns="0" rIns="0" bIns="0" rtlCol="0" anchor="t">
              <a:spAutoFit/>
            </a:bodyPr>
            <a:lstStyle/>
            <a:p>
              <a:pPr algn="l">
                <a:lnSpc>
                  <a:spcPts val="3499"/>
                </a:lnSpc>
              </a:pPr>
              <a:r>
                <a:rPr lang="en-US" sz="2499">
                  <a:solidFill>
                    <a:srgbClr val="2C1F36"/>
                  </a:solidFill>
                  <a:latin typeface="Open Sans"/>
                  <a:ea typeface="Open Sans"/>
                  <a:cs typeface="Open Sans"/>
                  <a:sym typeface="Open Sans"/>
                </a:rPr>
                <a:t>Automated test execution across all test suites</a:t>
              </a:r>
            </a:p>
          </p:txBody>
        </p:sp>
        <p:sp>
          <p:nvSpPr>
            <p:cNvPr id="43" name="TextBox 43"/>
            <p:cNvSpPr txBox="1"/>
            <p:nvPr/>
          </p:nvSpPr>
          <p:spPr>
            <a:xfrm>
              <a:off x="668288" y="0"/>
              <a:ext cx="4435052" cy="609600"/>
            </a:xfrm>
            <a:prstGeom prst="rect">
              <a:avLst/>
            </a:prstGeom>
          </p:spPr>
          <p:txBody>
            <a:bodyPr lIns="0" tIns="0" rIns="0" bIns="0" rtlCol="0" anchor="t">
              <a:spAutoFit/>
            </a:bodyPr>
            <a:lstStyle/>
            <a:p>
              <a:pPr algn="l">
                <a:lnSpc>
                  <a:spcPts val="3600"/>
                </a:lnSpc>
              </a:pPr>
              <a:r>
                <a:rPr lang="en-US" sz="3000" b="1">
                  <a:solidFill>
                    <a:srgbClr val="5E50A0"/>
                  </a:solidFill>
                  <a:latin typeface="Open Sans Bold"/>
                  <a:ea typeface="Open Sans Bold"/>
                  <a:cs typeface="Open Sans Bold"/>
                  <a:sym typeface="Open Sans Bold"/>
                </a:rPr>
                <a:t>MAVEN SUREFIRE</a:t>
              </a:r>
            </a:p>
          </p:txBody>
        </p:sp>
      </p:grpSp>
      <p:grpSp>
        <p:nvGrpSpPr>
          <p:cNvPr id="44" name="Group 44"/>
          <p:cNvGrpSpPr/>
          <p:nvPr/>
        </p:nvGrpSpPr>
        <p:grpSpPr>
          <a:xfrm>
            <a:off x="12891400" y="6332805"/>
            <a:ext cx="174264" cy="167111"/>
            <a:chOff x="0" y="0"/>
            <a:chExt cx="45897" cy="44013"/>
          </a:xfrm>
        </p:grpSpPr>
        <p:sp>
          <p:nvSpPr>
            <p:cNvPr id="45" name="Freeform 45"/>
            <p:cNvSpPr/>
            <p:nvPr/>
          </p:nvSpPr>
          <p:spPr>
            <a:xfrm>
              <a:off x="0" y="0"/>
              <a:ext cx="45897" cy="44013"/>
            </a:xfrm>
            <a:custGeom>
              <a:avLst/>
              <a:gdLst/>
              <a:ahLst/>
              <a:cxnLst/>
              <a:rect l="l" t="t" r="r" b="b"/>
              <a:pathLst>
                <a:path w="45897" h="44013">
                  <a:moveTo>
                    <a:pt x="0" y="0"/>
                  </a:moveTo>
                  <a:lnTo>
                    <a:pt x="45897" y="0"/>
                  </a:lnTo>
                  <a:lnTo>
                    <a:pt x="45897" y="44013"/>
                  </a:lnTo>
                  <a:lnTo>
                    <a:pt x="0" y="44013"/>
                  </a:lnTo>
                  <a:close/>
                </a:path>
              </a:pathLst>
            </a:custGeom>
            <a:solidFill>
              <a:srgbClr val="794897"/>
            </a:solidFill>
          </p:spPr>
        </p:sp>
        <p:sp>
          <p:nvSpPr>
            <p:cNvPr id="46" name="TextBox 46"/>
            <p:cNvSpPr txBox="1"/>
            <p:nvPr/>
          </p:nvSpPr>
          <p:spPr>
            <a:xfrm>
              <a:off x="0" y="-38100"/>
              <a:ext cx="45897" cy="82113"/>
            </a:xfrm>
            <a:prstGeom prst="rect">
              <a:avLst/>
            </a:prstGeom>
          </p:spPr>
          <p:txBody>
            <a:bodyPr lIns="50800" tIns="50800" rIns="50800" bIns="50800" rtlCol="0" anchor="ctr"/>
            <a:lstStyle/>
            <a:p>
              <a:pPr algn="ctr">
                <a:lnSpc>
                  <a:spcPts val="2659"/>
                </a:lnSpc>
              </a:pPr>
              <a:endParaRPr/>
            </a:p>
          </p:txBody>
        </p:sp>
      </p:grpSp>
      <p:sp>
        <p:nvSpPr>
          <p:cNvPr id="47" name="TextBox 47"/>
          <p:cNvSpPr txBox="1"/>
          <p:nvPr/>
        </p:nvSpPr>
        <p:spPr>
          <a:xfrm>
            <a:off x="12978532" y="6800221"/>
            <a:ext cx="4780042" cy="422275"/>
          </a:xfrm>
          <a:prstGeom prst="rect">
            <a:avLst/>
          </a:prstGeom>
        </p:spPr>
        <p:txBody>
          <a:bodyPr lIns="0" tIns="0" rIns="0" bIns="0" rtlCol="0" anchor="t">
            <a:spAutoFit/>
          </a:bodyPr>
          <a:lstStyle/>
          <a:p>
            <a:pPr algn="l">
              <a:lnSpc>
                <a:spcPts val="3499"/>
              </a:lnSpc>
            </a:pPr>
            <a:r>
              <a:rPr lang="en-US" sz="2499">
                <a:solidFill>
                  <a:srgbClr val="2C1F36"/>
                </a:solidFill>
                <a:latin typeface="Open Sans"/>
                <a:ea typeface="Open Sans"/>
                <a:cs typeface="Open Sans"/>
                <a:sym typeface="Open Sans"/>
              </a:rPr>
              <a:t>Frontend logic testing</a:t>
            </a:r>
          </a:p>
        </p:txBody>
      </p:sp>
      <p:sp>
        <p:nvSpPr>
          <p:cNvPr id="48" name="TextBox 48"/>
          <p:cNvSpPr txBox="1"/>
          <p:nvPr/>
        </p:nvSpPr>
        <p:spPr>
          <a:xfrm>
            <a:off x="13392616" y="6187761"/>
            <a:ext cx="3326289" cy="457200"/>
          </a:xfrm>
          <a:prstGeom prst="rect">
            <a:avLst/>
          </a:prstGeom>
        </p:spPr>
        <p:txBody>
          <a:bodyPr lIns="0" tIns="0" rIns="0" bIns="0" rtlCol="0" anchor="t">
            <a:spAutoFit/>
          </a:bodyPr>
          <a:lstStyle/>
          <a:p>
            <a:pPr algn="l">
              <a:lnSpc>
                <a:spcPts val="3600"/>
              </a:lnSpc>
            </a:pPr>
            <a:r>
              <a:rPr lang="en-US" sz="3000" b="1">
                <a:solidFill>
                  <a:srgbClr val="5E50A0"/>
                </a:solidFill>
                <a:latin typeface="Open Sans Bold"/>
                <a:ea typeface="Open Sans Bold"/>
                <a:cs typeface="Open Sans Bold"/>
                <a:sym typeface="Open Sans Bold"/>
              </a:rPr>
              <a:t>VITEST</a:t>
            </a:r>
          </a:p>
        </p:txBody>
      </p:sp>
      <p:grpSp>
        <p:nvGrpSpPr>
          <p:cNvPr id="49" name="Group 49"/>
          <p:cNvGrpSpPr/>
          <p:nvPr/>
        </p:nvGrpSpPr>
        <p:grpSpPr>
          <a:xfrm>
            <a:off x="6474290" y="7793996"/>
            <a:ext cx="4867174" cy="2349186"/>
            <a:chOff x="0" y="0"/>
            <a:chExt cx="6489566" cy="3132247"/>
          </a:xfrm>
        </p:grpSpPr>
        <p:grpSp>
          <p:nvGrpSpPr>
            <p:cNvPr id="50" name="Group 50"/>
            <p:cNvGrpSpPr/>
            <p:nvPr/>
          </p:nvGrpSpPr>
          <p:grpSpPr>
            <a:xfrm>
              <a:off x="0" y="193393"/>
              <a:ext cx="232352" cy="222815"/>
              <a:chOff x="0" y="0"/>
              <a:chExt cx="45897" cy="44013"/>
            </a:xfrm>
          </p:grpSpPr>
          <p:sp>
            <p:nvSpPr>
              <p:cNvPr id="51" name="Freeform 51"/>
              <p:cNvSpPr/>
              <p:nvPr/>
            </p:nvSpPr>
            <p:spPr>
              <a:xfrm>
                <a:off x="0" y="0"/>
                <a:ext cx="45897" cy="44013"/>
              </a:xfrm>
              <a:custGeom>
                <a:avLst/>
                <a:gdLst/>
                <a:ahLst/>
                <a:cxnLst/>
                <a:rect l="l" t="t" r="r" b="b"/>
                <a:pathLst>
                  <a:path w="45897" h="44013">
                    <a:moveTo>
                      <a:pt x="0" y="0"/>
                    </a:moveTo>
                    <a:lnTo>
                      <a:pt x="45897" y="0"/>
                    </a:lnTo>
                    <a:lnTo>
                      <a:pt x="45897" y="44013"/>
                    </a:lnTo>
                    <a:lnTo>
                      <a:pt x="0" y="44013"/>
                    </a:lnTo>
                    <a:close/>
                  </a:path>
                </a:pathLst>
              </a:custGeom>
              <a:solidFill>
                <a:srgbClr val="794897"/>
              </a:solidFill>
            </p:spPr>
          </p:sp>
          <p:sp>
            <p:nvSpPr>
              <p:cNvPr id="52" name="TextBox 52"/>
              <p:cNvSpPr txBox="1"/>
              <p:nvPr/>
            </p:nvSpPr>
            <p:spPr>
              <a:xfrm>
                <a:off x="0" y="-38100"/>
                <a:ext cx="45897" cy="82113"/>
              </a:xfrm>
              <a:prstGeom prst="rect">
                <a:avLst/>
              </a:prstGeom>
            </p:spPr>
            <p:txBody>
              <a:bodyPr lIns="50800" tIns="50800" rIns="50800" bIns="50800" rtlCol="0" anchor="ctr"/>
              <a:lstStyle/>
              <a:p>
                <a:pPr algn="ctr">
                  <a:lnSpc>
                    <a:spcPts val="2659"/>
                  </a:lnSpc>
                </a:pPr>
                <a:endParaRPr/>
              </a:p>
            </p:txBody>
          </p:sp>
        </p:grpSp>
        <p:sp>
          <p:nvSpPr>
            <p:cNvPr id="53" name="TextBox 53"/>
            <p:cNvSpPr txBox="1"/>
            <p:nvPr/>
          </p:nvSpPr>
          <p:spPr>
            <a:xfrm>
              <a:off x="116176" y="832489"/>
              <a:ext cx="6373390" cy="2299758"/>
            </a:xfrm>
            <a:prstGeom prst="rect">
              <a:avLst/>
            </a:prstGeom>
          </p:spPr>
          <p:txBody>
            <a:bodyPr lIns="0" tIns="0" rIns="0" bIns="0" rtlCol="0" anchor="t">
              <a:spAutoFit/>
            </a:bodyPr>
            <a:lstStyle/>
            <a:p>
              <a:pPr algn="l">
                <a:lnSpc>
                  <a:spcPts val="3499"/>
                </a:lnSpc>
              </a:pPr>
              <a:r>
                <a:rPr lang="en-US" sz="2499">
                  <a:solidFill>
                    <a:srgbClr val="2C1F36"/>
                  </a:solidFill>
                  <a:latin typeface="Open Sans"/>
                  <a:ea typeface="Open Sans"/>
                  <a:cs typeface="Open Sans"/>
                  <a:sym typeface="Open Sans"/>
                </a:rPr>
                <a:t>Implemented CI/CD with GitHub Actions to automate testing and ensure consistent code coverage on every push</a:t>
              </a:r>
            </a:p>
          </p:txBody>
        </p:sp>
        <p:sp>
          <p:nvSpPr>
            <p:cNvPr id="54" name="TextBox 54"/>
            <p:cNvSpPr txBox="1"/>
            <p:nvPr/>
          </p:nvSpPr>
          <p:spPr>
            <a:xfrm>
              <a:off x="668288" y="0"/>
              <a:ext cx="4435052" cy="609600"/>
            </a:xfrm>
            <a:prstGeom prst="rect">
              <a:avLst/>
            </a:prstGeom>
          </p:spPr>
          <p:txBody>
            <a:bodyPr lIns="0" tIns="0" rIns="0" bIns="0" rtlCol="0" anchor="t">
              <a:spAutoFit/>
            </a:bodyPr>
            <a:lstStyle/>
            <a:p>
              <a:pPr algn="l">
                <a:lnSpc>
                  <a:spcPts val="3600"/>
                </a:lnSpc>
              </a:pPr>
              <a:r>
                <a:rPr lang="en-US" sz="3000" b="1">
                  <a:solidFill>
                    <a:srgbClr val="5E50A0"/>
                  </a:solidFill>
                  <a:latin typeface="Open Sans Bold"/>
                  <a:ea typeface="Open Sans Bold"/>
                  <a:cs typeface="Open Sans Bold"/>
                  <a:sym typeface="Open Sans Bold"/>
                </a:rPr>
                <a:t>GITHUB ACTIONS</a:t>
              </a:r>
            </a:p>
          </p:txBody>
        </p:sp>
      </p:grpSp>
      <p:grpSp>
        <p:nvGrpSpPr>
          <p:cNvPr id="55" name="Group 55"/>
          <p:cNvGrpSpPr/>
          <p:nvPr/>
        </p:nvGrpSpPr>
        <p:grpSpPr>
          <a:xfrm>
            <a:off x="11652640" y="9260846"/>
            <a:ext cx="6806241" cy="803935"/>
            <a:chOff x="0" y="0"/>
            <a:chExt cx="9074988" cy="1071914"/>
          </a:xfrm>
        </p:grpSpPr>
        <p:grpSp>
          <p:nvGrpSpPr>
            <p:cNvPr id="56" name="Group 56"/>
            <p:cNvGrpSpPr/>
            <p:nvPr/>
          </p:nvGrpSpPr>
          <p:grpSpPr>
            <a:xfrm>
              <a:off x="1188383" y="0"/>
              <a:ext cx="7886605" cy="1071914"/>
              <a:chOff x="0" y="0"/>
              <a:chExt cx="1557848" cy="211736"/>
            </a:xfrm>
          </p:grpSpPr>
          <p:sp>
            <p:nvSpPr>
              <p:cNvPr id="57" name="Freeform 57"/>
              <p:cNvSpPr/>
              <p:nvPr/>
            </p:nvSpPr>
            <p:spPr>
              <a:xfrm>
                <a:off x="0" y="0"/>
                <a:ext cx="1557848" cy="211736"/>
              </a:xfrm>
              <a:custGeom>
                <a:avLst/>
                <a:gdLst/>
                <a:ahLst/>
                <a:cxnLst/>
                <a:rect l="l" t="t" r="r" b="b"/>
                <a:pathLst>
                  <a:path w="1557848" h="211736">
                    <a:moveTo>
                      <a:pt x="0" y="0"/>
                    </a:moveTo>
                    <a:lnTo>
                      <a:pt x="1557848" y="0"/>
                    </a:lnTo>
                    <a:lnTo>
                      <a:pt x="1557848" y="211736"/>
                    </a:lnTo>
                    <a:lnTo>
                      <a:pt x="0" y="211736"/>
                    </a:lnTo>
                    <a:close/>
                  </a:path>
                </a:pathLst>
              </a:custGeom>
              <a:solidFill>
                <a:srgbClr val="76ADE5"/>
              </a:solidFill>
            </p:spPr>
          </p:sp>
          <p:sp>
            <p:nvSpPr>
              <p:cNvPr id="58" name="TextBox 58"/>
              <p:cNvSpPr txBox="1"/>
              <p:nvPr/>
            </p:nvSpPr>
            <p:spPr>
              <a:xfrm>
                <a:off x="0" y="-38100"/>
                <a:ext cx="1557848" cy="249836"/>
              </a:xfrm>
              <a:prstGeom prst="rect">
                <a:avLst/>
              </a:prstGeom>
            </p:spPr>
            <p:txBody>
              <a:bodyPr lIns="50800" tIns="50800" rIns="50800" bIns="50800" rtlCol="0" anchor="ctr"/>
              <a:lstStyle/>
              <a:p>
                <a:pPr algn="ctr">
                  <a:lnSpc>
                    <a:spcPts val="2659"/>
                  </a:lnSpc>
                </a:pPr>
                <a:endParaRPr/>
              </a:p>
            </p:txBody>
          </p:sp>
        </p:grpSp>
        <p:grpSp>
          <p:nvGrpSpPr>
            <p:cNvPr id="59" name="Group 59"/>
            <p:cNvGrpSpPr/>
            <p:nvPr/>
          </p:nvGrpSpPr>
          <p:grpSpPr>
            <a:xfrm>
              <a:off x="366490" y="0"/>
              <a:ext cx="8534615" cy="1071914"/>
              <a:chOff x="0" y="0"/>
              <a:chExt cx="1685850" cy="211736"/>
            </a:xfrm>
          </p:grpSpPr>
          <p:sp>
            <p:nvSpPr>
              <p:cNvPr id="60" name="Freeform 60"/>
              <p:cNvSpPr/>
              <p:nvPr/>
            </p:nvSpPr>
            <p:spPr>
              <a:xfrm>
                <a:off x="0" y="0"/>
                <a:ext cx="1685850" cy="211736"/>
              </a:xfrm>
              <a:custGeom>
                <a:avLst/>
                <a:gdLst/>
                <a:ahLst/>
                <a:cxnLst/>
                <a:rect l="l" t="t" r="r" b="b"/>
                <a:pathLst>
                  <a:path w="1685850" h="211736">
                    <a:moveTo>
                      <a:pt x="0" y="0"/>
                    </a:moveTo>
                    <a:lnTo>
                      <a:pt x="1685850" y="0"/>
                    </a:lnTo>
                    <a:lnTo>
                      <a:pt x="1685850" y="211736"/>
                    </a:lnTo>
                    <a:lnTo>
                      <a:pt x="0" y="211736"/>
                    </a:lnTo>
                    <a:close/>
                  </a:path>
                </a:pathLst>
              </a:custGeom>
              <a:solidFill>
                <a:srgbClr val="5E50A0"/>
              </a:solidFill>
            </p:spPr>
          </p:sp>
          <p:sp>
            <p:nvSpPr>
              <p:cNvPr id="61" name="TextBox 61"/>
              <p:cNvSpPr txBox="1"/>
              <p:nvPr/>
            </p:nvSpPr>
            <p:spPr>
              <a:xfrm>
                <a:off x="0" y="-38100"/>
                <a:ext cx="1685850" cy="249836"/>
              </a:xfrm>
              <a:prstGeom prst="rect">
                <a:avLst/>
              </a:prstGeom>
            </p:spPr>
            <p:txBody>
              <a:bodyPr lIns="50800" tIns="50800" rIns="50800" bIns="50800" rtlCol="0" anchor="ctr"/>
              <a:lstStyle/>
              <a:p>
                <a:pPr algn="ctr">
                  <a:lnSpc>
                    <a:spcPts val="2659"/>
                  </a:lnSpc>
                </a:pPr>
                <a:endParaRPr/>
              </a:p>
            </p:txBody>
          </p:sp>
        </p:grpSp>
        <p:grpSp>
          <p:nvGrpSpPr>
            <p:cNvPr id="62" name="Group 62"/>
            <p:cNvGrpSpPr/>
            <p:nvPr/>
          </p:nvGrpSpPr>
          <p:grpSpPr>
            <a:xfrm>
              <a:off x="0" y="0"/>
              <a:ext cx="869375" cy="1071914"/>
              <a:chOff x="0" y="0"/>
              <a:chExt cx="171728" cy="211736"/>
            </a:xfrm>
          </p:grpSpPr>
          <p:sp>
            <p:nvSpPr>
              <p:cNvPr id="63" name="Freeform 63"/>
              <p:cNvSpPr/>
              <p:nvPr/>
            </p:nvSpPr>
            <p:spPr>
              <a:xfrm>
                <a:off x="0" y="0"/>
                <a:ext cx="171728" cy="211736"/>
              </a:xfrm>
              <a:custGeom>
                <a:avLst/>
                <a:gdLst/>
                <a:ahLst/>
                <a:cxnLst/>
                <a:rect l="l" t="t" r="r" b="b"/>
                <a:pathLst>
                  <a:path w="171728" h="211736">
                    <a:moveTo>
                      <a:pt x="0" y="0"/>
                    </a:moveTo>
                    <a:lnTo>
                      <a:pt x="171728" y="0"/>
                    </a:lnTo>
                    <a:lnTo>
                      <a:pt x="171728" y="211736"/>
                    </a:lnTo>
                    <a:lnTo>
                      <a:pt x="0" y="211736"/>
                    </a:lnTo>
                    <a:close/>
                  </a:path>
                </a:pathLst>
              </a:custGeom>
              <a:solidFill>
                <a:srgbClr val="794897"/>
              </a:solidFill>
            </p:spPr>
          </p:sp>
          <p:sp>
            <p:nvSpPr>
              <p:cNvPr id="64" name="TextBox 64"/>
              <p:cNvSpPr txBox="1"/>
              <p:nvPr/>
            </p:nvSpPr>
            <p:spPr>
              <a:xfrm>
                <a:off x="0" y="-38100"/>
                <a:ext cx="171728" cy="249836"/>
              </a:xfrm>
              <a:prstGeom prst="rect">
                <a:avLst/>
              </a:prstGeom>
            </p:spPr>
            <p:txBody>
              <a:bodyPr lIns="50800" tIns="50800" rIns="50800" bIns="50800" rtlCol="0" anchor="ctr"/>
              <a:lstStyle/>
              <a:p>
                <a:pPr algn="ctr">
                  <a:lnSpc>
                    <a:spcPts val="2659"/>
                  </a:lnSpc>
                </a:pPr>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AEEF0"/>
        </a:solidFill>
        <a:effectLst/>
      </p:bgPr>
    </p:bg>
    <p:spTree>
      <p:nvGrpSpPr>
        <p:cNvPr id="1" name=""/>
        <p:cNvGrpSpPr/>
        <p:nvPr/>
      </p:nvGrpSpPr>
      <p:grpSpPr>
        <a:xfrm>
          <a:off x="0" y="0"/>
          <a:ext cx="0" cy="0"/>
          <a:chOff x="0" y="0"/>
          <a:chExt cx="0" cy="0"/>
        </a:xfrm>
      </p:grpSpPr>
      <p:sp>
        <p:nvSpPr>
          <p:cNvPr id="2" name="Freeform 2"/>
          <p:cNvSpPr/>
          <p:nvPr/>
        </p:nvSpPr>
        <p:spPr>
          <a:xfrm rot="-10800000">
            <a:off x="13706621" y="0"/>
            <a:ext cx="4581379" cy="4455391"/>
          </a:xfrm>
          <a:custGeom>
            <a:avLst/>
            <a:gdLst/>
            <a:ahLst/>
            <a:cxnLst/>
            <a:rect l="l" t="t" r="r" b="b"/>
            <a:pathLst>
              <a:path w="4581379" h="4455391">
                <a:moveTo>
                  <a:pt x="0" y="0"/>
                </a:moveTo>
                <a:lnTo>
                  <a:pt x="4581379" y="0"/>
                </a:lnTo>
                <a:lnTo>
                  <a:pt x="4581379" y="4455391"/>
                </a:lnTo>
                <a:lnTo>
                  <a:pt x="0" y="44553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28700" y="-820386"/>
            <a:ext cx="11894548" cy="2217578"/>
            <a:chOff x="0" y="0"/>
            <a:chExt cx="1140811" cy="212689"/>
          </a:xfrm>
        </p:grpSpPr>
        <p:sp>
          <p:nvSpPr>
            <p:cNvPr id="4" name="Freeform 4"/>
            <p:cNvSpPr/>
            <p:nvPr/>
          </p:nvSpPr>
          <p:spPr>
            <a:xfrm>
              <a:off x="0" y="0"/>
              <a:ext cx="1140811" cy="212689"/>
            </a:xfrm>
            <a:custGeom>
              <a:avLst/>
              <a:gdLst/>
              <a:ahLst/>
              <a:cxnLst/>
              <a:rect l="l" t="t" r="r" b="b"/>
              <a:pathLst>
                <a:path w="1140811" h="212689">
                  <a:moveTo>
                    <a:pt x="937611" y="0"/>
                  </a:moveTo>
                  <a:lnTo>
                    <a:pt x="0" y="0"/>
                  </a:lnTo>
                  <a:lnTo>
                    <a:pt x="203200" y="212689"/>
                  </a:lnTo>
                  <a:lnTo>
                    <a:pt x="1140811" y="212689"/>
                  </a:lnTo>
                  <a:lnTo>
                    <a:pt x="937611" y="0"/>
                  </a:lnTo>
                  <a:close/>
                </a:path>
              </a:pathLst>
            </a:custGeom>
            <a:ln w="76200" cap="sq">
              <a:solidFill>
                <a:srgbClr val="76ADE5"/>
              </a:solidFill>
              <a:prstDash val="solid"/>
              <a:miter/>
            </a:ln>
          </p:spPr>
        </p:sp>
        <p:sp>
          <p:nvSpPr>
            <p:cNvPr id="5" name="TextBox 5"/>
            <p:cNvSpPr txBox="1"/>
            <p:nvPr/>
          </p:nvSpPr>
          <p:spPr>
            <a:xfrm>
              <a:off x="101600" y="-38100"/>
              <a:ext cx="937611" cy="250789"/>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965971" y="-388655"/>
            <a:ext cx="11894548" cy="2217578"/>
            <a:chOff x="0" y="0"/>
            <a:chExt cx="1140811" cy="212689"/>
          </a:xfrm>
        </p:grpSpPr>
        <p:sp>
          <p:nvSpPr>
            <p:cNvPr id="7" name="Freeform 7"/>
            <p:cNvSpPr/>
            <p:nvPr/>
          </p:nvSpPr>
          <p:spPr>
            <a:xfrm>
              <a:off x="0" y="0"/>
              <a:ext cx="1140811" cy="212689"/>
            </a:xfrm>
            <a:custGeom>
              <a:avLst/>
              <a:gdLst/>
              <a:ahLst/>
              <a:cxnLst/>
              <a:rect l="l" t="t" r="r" b="b"/>
              <a:pathLst>
                <a:path w="1140811" h="212689">
                  <a:moveTo>
                    <a:pt x="937611" y="0"/>
                  </a:moveTo>
                  <a:lnTo>
                    <a:pt x="0" y="0"/>
                  </a:lnTo>
                  <a:lnTo>
                    <a:pt x="203200" y="212689"/>
                  </a:lnTo>
                  <a:lnTo>
                    <a:pt x="1140811" y="212689"/>
                  </a:lnTo>
                  <a:lnTo>
                    <a:pt x="937611" y="0"/>
                  </a:lnTo>
                  <a:close/>
                </a:path>
              </a:pathLst>
            </a:custGeom>
            <a:solidFill>
              <a:srgbClr val="5E50A0"/>
            </a:solidFill>
            <a:ln cap="sq">
              <a:noFill/>
              <a:prstDash val="solid"/>
              <a:miter/>
            </a:ln>
          </p:spPr>
        </p:sp>
        <p:sp>
          <p:nvSpPr>
            <p:cNvPr id="8" name="TextBox 8"/>
            <p:cNvSpPr txBox="1"/>
            <p:nvPr/>
          </p:nvSpPr>
          <p:spPr>
            <a:xfrm>
              <a:off x="101600" y="-38100"/>
              <a:ext cx="937611" cy="250789"/>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238548" y="2181560"/>
            <a:ext cx="6695652" cy="2080887"/>
          </a:xfrm>
          <a:custGeom>
            <a:avLst/>
            <a:gdLst/>
            <a:ahLst/>
            <a:cxnLst/>
            <a:rect l="l" t="t" r="r" b="b"/>
            <a:pathLst>
              <a:path w="5186196" h="1756824">
                <a:moveTo>
                  <a:pt x="0" y="0"/>
                </a:moveTo>
                <a:lnTo>
                  <a:pt x="5186196" y="0"/>
                </a:lnTo>
                <a:lnTo>
                  <a:pt x="5186196" y="1756824"/>
                </a:lnTo>
                <a:lnTo>
                  <a:pt x="0" y="1756824"/>
                </a:lnTo>
                <a:lnTo>
                  <a:pt x="0" y="0"/>
                </a:lnTo>
                <a:close/>
              </a:path>
            </a:pathLst>
          </a:custGeom>
          <a:blipFill>
            <a:blip r:embed="rId4"/>
            <a:stretch>
              <a:fillRect/>
            </a:stretch>
          </a:blipFill>
        </p:spPr>
      </p:sp>
      <p:sp>
        <p:nvSpPr>
          <p:cNvPr id="10" name="Freeform 10"/>
          <p:cNvSpPr/>
          <p:nvPr/>
        </p:nvSpPr>
        <p:spPr>
          <a:xfrm>
            <a:off x="7772400" y="2181561"/>
            <a:ext cx="7391400" cy="2120928"/>
          </a:xfrm>
          <a:custGeom>
            <a:avLst/>
            <a:gdLst/>
            <a:ahLst/>
            <a:cxnLst/>
            <a:rect l="l" t="t" r="r" b="b"/>
            <a:pathLst>
              <a:path w="5646255" h="1672703">
                <a:moveTo>
                  <a:pt x="0" y="0"/>
                </a:moveTo>
                <a:lnTo>
                  <a:pt x="5646255" y="0"/>
                </a:lnTo>
                <a:lnTo>
                  <a:pt x="5646255" y="1672703"/>
                </a:lnTo>
                <a:lnTo>
                  <a:pt x="0" y="1672703"/>
                </a:lnTo>
                <a:lnTo>
                  <a:pt x="0" y="0"/>
                </a:lnTo>
                <a:close/>
              </a:path>
            </a:pathLst>
          </a:custGeom>
          <a:blipFill>
            <a:blip r:embed="rId5"/>
            <a:stretch>
              <a:fillRect/>
            </a:stretch>
          </a:blipFill>
        </p:spPr>
      </p:sp>
      <p:sp>
        <p:nvSpPr>
          <p:cNvPr id="11" name="Freeform 11"/>
          <p:cNvSpPr/>
          <p:nvPr/>
        </p:nvSpPr>
        <p:spPr>
          <a:xfrm>
            <a:off x="338559" y="5654004"/>
            <a:ext cx="4961004" cy="2511509"/>
          </a:xfrm>
          <a:custGeom>
            <a:avLst/>
            <a:gdLst/>
            <a:ahLst/>
            <a:cxnLst/>
            <a:rect l="l" t="t" r="r" b="b"/>
            <a:pathLst>
              <a:path w="4961004" h="2511509">
                <a:moveTo>
                  <a:pt x="0" y="0"/>
                </a:moveTo>
                <a:lnTo>
                  <a:pt x="4961005" y="0"/>
                </a:lnTo>
                <a:lnTo>
                  <a:pt x="4961005" y="2511508"/>
                </a:lnTo>
                <a:lnTo>
                  <a:pt x="0" y="2511508"/>
                </a:lnTo>
                <a:lnTo>
                  <a:pt x="0" y="0"/>
                </a:lnTo>
                <a:close/>
              </a:path>
            </a:pathLst>
          </a:custGeom>
          <a:blipFill>
            <a:blip r:embed="rId6"/>
            <a:stretch>
              <a:fillRect/>
            </a:stretch>
          </a:blipFill>
        </p:spPr>
        <p:txBody>
          <a:bodyPr/>
          <a:lstStyle/>
          <a:p>
            <a:endParaRPr lang="en-IN" dirty="0"/>
          </a:p>
        </p:txBody>
      </p:sp>
      <p:sp>
        <p:nvSpPr>
          <p:cNvPr id="12" name="Freeform 12"/>
          <p:cNvSpPr/>
          <p:nvPr/>
        </p:nvSpPr>
        <p:spPr>
          <a:xfrm>
            <a:off x="5909819" y="5880660"/>
            <a:ext cx="5553028" cy="2554393"/>
          </a:xfrm>
          <a:custGeom>
            <a:avLst/>
            <a:gdLst/>
            <a:ahLst/>
            <a:cxnLst/>
            <a:rect l="l" t="t" r="r" b="b"/>
            <a:pathLst>
              <a:path w="5553028" h="2554393">
                <a:moveTo>
                  <a:pt x="0" y="0"/>
                </a:moveTo>
                <a:lnTo>
                  <a:pt x="5553028" y="0"/>
                </a:lnTo>
                <a:lnTo>
                  <a:pt x="5553028" y="2554393"/>
                </a:lnTo>
                <a:lnTo>
                  <a:pt x="0" y="2554393"/>
                </a:lnTo>
                <a:lnTo>
                  <a:pt x="0" y="0"/>
                </a:lnTo>
                <a:close/>
              </a:path>
            </a:pathLst>
          </a:custGeom>
          <a:blipFill>
            <a:blip r:embed="rId7"/>
            <a:stretch>
              <a:fillRect/>
            </a:stretch>
          </a:blipFill>
        </p:spPr>
      </p:sp>
      <p:sp>
        <p:nvSpPr>
          <p:cNvPr id="13" name="TextBox 13"/>
          <p:cNvSpPr txBox="1"/>
          <p:nvPr/>
        </p:nvSpPr>
        <p:spPr>
          <a:xfrm>
            <a:off x="236140" y="4455305"/>
            <a:ext cx="6695652" cy="763735"/>
          </a:xfrm>
          <a:prstGeom prst="rect">
            <a:avLst/>
          </a:prstGeom>
        </p:spPr>
        <p:txBody>
          <a:bodyPr wrap="square" lIns="0" tIns="0" rIns="0" bIns="0" rtlCol="0" anchor="t">
            <a:spAutoFit/>
          </a:bodyPr>
          <a:lstStyle/>
          <a:p>
            <a:pPr marL="213761" lvl="1" indent="-106880" algn="l">
              <a:lnSpc>
                <a:spcPts val="1188"/>
              </a:lnSpc>
              <a:buFont typeface="Arial"/>
              <a:buChar char="•"/>
            </a:pPr>
            <a:r>
              <a:rPr lang="en-US" sz="990" dirty="0">
                <a:solidFill>
                  <a:srgbClr val="794897"/>
                </a:solidFill>
                <a:latin typeface="Open Sans"/>
                <a:ea typeface="Open Sans"/>
                <a:cs typeface="Open Sans"/>
                <a:sym typeface="Open Sans"/>
              </a:rPr>
              <a:t>Backend tests were executed using Maven Surefire Plugin.</a:t>
            </a:r>
          </a:p>
          <a:p>
            <a:pPr marL="213761" lvl="1" indent="-106880" algn="l">
              <a:lnSpc>
                <a:spcPts val="1188"/>
              </a:lnSpc>
              <a:buFont typeface="Arial"/>
              <a:buChar char="•"/>
            </a:pPr>
            <a:r>
              <a:rPr lang="en-US" sz="990" dirty="0">
                <a:solidFill>
                  <a:srgbClr val="794897"/>
                </a:solidFill>
                <a:latin typeface="Open Sans"/>
                <a:ea typeface="Open Sans"/>
                <a:cs typeface="Open Sans"/>
                <a:sym typeface="Open Sans"/>
              </a:rPr>
              <a:t>A total of 98 automated unit tests were run.</a:t>
            </a:r>
          </a:p>
          <a:p>
            <a:pPr marL="213761" lvl="1" indent="-106880" algn="l">
              <a:lnSpc>
                <a:spcPts val="1188"/>
              </a:lnSpc>
              <a:buFont typeface="Arial"/>
              <a:buChar char="•"/>
            </a:pPr>
            <a:r>
              <a:rPr lang="en-US" sz="990" dirty="0">
                <a:solidFill>
                  <a:srgbClr val="794897"/>
                </a:solidFill>
                <a:latin typeface="Open Sans"/>
                <a:ea typeface="Open Sans"/>
                <a:cs typeface="Open Sans"/>
                <a:sym typeface="Open Sans"/>
              </a:rPr>
              <a:t>0 errors, 0 failures, and 0 skipped tests, resulting in a 100% success rate.</a:t>
            </a:r>
          </a:p>
          <a:p>
            <a:pPr marL="213761" lvl="1" indent="-106880" algn="l">
              <a:lnSpc>
                <a:spcPts val="1188"/>
              </a:lnSpc>
              <a:buFont typeface="Arial"/>
              <a:buChar char="•"/>
            </a:pPr>
            <a:r>
              <a:rPr lang="en-US" sz="990" dirty="0">
                <a:solidFill>
                  <a:srgbClr val="794897"/>
                </a:solidFill>
                <a:latin typeface="Open Sans"/>
                <a:ea typeface="Open Sans"/>
                <a:cs typeface="Open Sans"/>
                <a:sym typeface="Open Sans"/>
              </a:rPr>
              <a:t>The total test execution time was approximately 4.8 seconds.</a:t>
            </a:r>
          </a:p>
          <a:p>
            <a:pPr marL="213761" lvl="1" indent="-106880" algn="l">
              <a:lnSpc>
                <a:spcPts val="1188"/>
              </a:lnSpc>
              <a:buFont typeface="Arial"/>
              <a:buChar char="•"/>
            </a:pPr>
            <a:r>
              <a:rPr lang="en-US" sz="990" dirty="0">
                <a:solidFill>
                  <a:srgbClr val="794897"/>
                </a:solidFill>
                <a:latin typeface="Open Sans"/>
                <a:ea typeface="Open Sans"/>
                <a:cs typeface="Open Sans"/>
                <a:sym typeface="Open Sans"/>
              </a:rPr>
              <a:t>This confirms that the backend functionalities passed all implemented test cases successfully.</a:t>
            </a:r>
          </a:p>
        </p:txBody>
      </p:sp>
      <p:sp>
        <p:nvSpPr>
          <p:cNvPr id="14" name="TextBox 14"/>
          <p:cNvSpPr txBox="1"/>
          <p:nvPr/>
        </p:nvSpPr>
        <p:spPr>
          <a:xfrm>
            <a:off x="7651764" y="4455305"/>
            <a:ext cx="7740635" cy="917624"/>
          </a:xfrm>
          <a:prstGeom prst="rect">
            <a:avLst/>
          </a:prstGeom>
        </p:spPr>
        <p:txBody>
          <a:bodyPr wrap="square" lIns="0" tIns="0" rIns="0" bIns="0" rtlCol="0" anchor="t">
            <a:spAutoFit/>
          </a:bodyPr>
          <a:lstStyle/>
          <a:p>
            <a:pPr marL="213761" lvl="1" indent="-106880" algn="l">
              <a:lnSpc>
                <a:spcPts val="1188"/>
              </a:lnSpc>
              <a:buFont typeface="Arial"/>
              <a:buChar char="•"/>
            </a:pPr>
            <a:r>
              <a:rPr lang="en-US" sz="990" dirty="0">
                <a:solidFill>
                  <a:srgbClr val="794897"/>
                </a:solidFill>
                <a:latin typeface="Open Sans"/>
                <a:ea typeface="Open Sans"/>
                <a:cs typeface="Open Sans"/>
                <a:sym typeface="Open Sans"/>
              </a:rPr>
              <a:t>Code coverage was measured using the </a:t>
            </a:r>
            <a:r>
              <a:rPr lang="en-US" sz="990" dirty="0" err="1">
                <a:solidFill>
                  <a:srgbClr val="794897"/>
                </a:solidFill>
                <a:latin typeface="Open Sans"/>
                <a:ea typeface="Open Sans"/>
                <a:cs typeface="Open Sans"/>
                <a:sym typeface="Open Sans"/>
              </a:rPr>
              <a:t>JaCoCo</a:t>
            </a:r>
            <a:r>
              <a:rPr lang="en-US" sz="990" dirty="0">
                <a:solidFill>
                  <a:srgbClr val="794897"/>
                </a:solidFill>
                <a:latin typeface="Open Sans"/>
                <a:ea typeface="Open Sans"/>
                <a:cs typeface="Open Sans"/>
                <a:sym typeface="Open Sans"/>
              </a:rPr>
              <a:t> coverage tool integrated with Maven.</a:t>
            </a:r>
          </a:p>
          <a:p>
            <a:pPr marL="213761" lvl="1" indent="-106880" algn="l">
              <a:lnSpc>
                <a:spcPts val="1188"/>
              </a:lnSpc>
              <a:buFont typeface="Arial"/>
              <a:buChar char="•"/>
            </a:pPr>
            <a:r>
              <a:rPr lang="en-US" sz="990" dirty="0">
                <a:solidFill>
                  <a:srgbClr val="794897"/>
                </a:solidFill>
                <a:latin typeface="Open Sans"/>
                <a:ea typeface="Open Sans"/>
                <a:cs typeface="Open Sans"/>
                <a:sym typeface="Open Sans"/>
              </a:rPr>
              <a:t>The backend achieved 61% overall code coverage.</a:t>
            </a:r>
          </a:p>
          <a:p>
            <a:pPr marL="213761" lvl="1" indent="-106880" algn="l">
              <a:lnSpc>
                <a:spcPts val="1188"/>
              </a:lnSpc>
              <a:buFont typeface="Arial"/>
              <a:buChar char="•"/>
            </a:pPr>
            <a:r>
              <a:rPr lang="en-US" sz="990" dirty="0">
                <a:solidFill>
                  <a:srgbClr val="794897"/>
                </a:solidFill>
                <a:latin typeface="Open Sans"/>
                <a:ea typeface="Open Sans"/>
                <a:cs typeface="Open Sans"/>
                <a:sym typeface="Open Sans"/>
              </a:rPr>
              <a:t>Controller layer coverage reached 73%, indicating strong API testing.</a:t>
            </a:r>
          </a:p>
          <a:p>
            <a:pPr marL="213761" lvl="1" indent="-106880" algn="l">
              <a:lnSpc>
                <a:spcPts val="1188"/>
              </a:lnSpc>
              <a:buFont typeface="Arial"/>
              <a:buChar char="•"/>
            </a:pPr>
            <a:r>
              <a:rPr lang="en-US" sz="990" dirty="0">
                <a:solidFill>
                  <a:srgbClr val="794897"/>
                </a:solidFill>
                <a:latin typeface="Open Sans"/>
                <a:ea typeface="Open Sans"/>
                <a:cs typeface="Open Sans"/>
                <a:sym typeface="Open Sans"/>
              </a:rPr>
              <a:t>Service layer coverage is 52%, reflecting testing of core business logic.</a:t>
            </a:r>
          </a:p>
          <a:p>
            <a:pPr marL="213761" lvl="1" indent="-106880" algn="l">
              <a:lnSpc>
                <a:spcPts val="1188"/>
              </a:lnSpc>
              <a:buFont typeface="Arial"/>
              <a:buChar char="•"/>
            </a:pPr>
            <a:r>
              <a:rPr lang="en-US" sz="990" dirty="0">
                <a:solidFill>
                  <a:srgbClr val="794897"/>
                </a:solidFill>
                <a:latin typeface="Open Sans"/>
                <a:ea typeface="Open Sans"/>
                <a:cs typeface="Open Sans"/>
                <a:sym typeface="Open Sans"/>
              </a:rPr>
              <a:t>Model and payload classes achieved 79% and 94% coverage respectively.</a:t>
            </a:r>
          </a:p>
          <a:p>
            <a:pPr marL="213761" lvl="1" indent="-106880" algn="l">
              <a:lnSpc>
                <a:spcPts val="1188"/>
              </a:lnSpc>
              <a:buFont typeface="Arial"/>
              <a:buChar char="•"/>
            </a:pPr>
            <a:r>
              <a:rPr lang="en-US" sz="990" dirty="0">
                <a:solidFill>
                  <a:srgbClr val="794897"/>
                </a:solidFill>
                <a:latin typeface="Open Sans"/>
                <a:ea typeface="Open Sans"/>
                <a:cs typeface="Open Sans"/>
                <a:sym typeface="Open Sans"/>
              </a:rPr>
              <a:t>Some configuration and DTO classes remain untested because they mainly contain simple data structures or configuration code.</a:t>
            </a:r>
          </a:p>
        </p:txBody>
      </p:sp>
      <p:sp>
        <p:nvSpPr>
          <p:cNvPr id="15" name="TextBox 15"/>
          <p:cNvSpPr txBox="1"/>
          <p:nvPr/>
        </p:nvSpPr>
        <p:spPr>
          <a:xfrm>
            <a:off x="236140" y="8411241"/>
            <a:ext cx="5186196" cy="597251"/>
          </a:xfrm>
          <a:prstGeom prst="rect">
            <a:avLst/>
          </a:prstGeom>
        </p:spPr>
        <p:txBody>
          <a:bodyPr lIns="0" tIns="0" rIns="0" bIns="0" rtlCol="0" anchor="t">
            <a:spAutoFit/>
          </a:bodyPr>
          <a:lstStyle/>
          <a:p>
            <a:pPr marL="213761" lvl="1" indent="-106880" algn="l">
              <a:lnSpc>
                <a:spcPts val="1188"/>
              </a:lnSpc>
              <a:buFont typeface="Arial"/>
              <a:buChar char="•"/>
            </a:pPr>
            <a:r>
              <a:rPr lang="en-US" sz="990" dirty="0">
                <a:solidFill>
                  <a:srgbClr val="794897"/>
                </a:solidFill>
                <a:latin typeface="Open Sans"/>
                <a:ea typeface="Open Sans"/>
                <a:cs typeface="Open Sans"/>
                <a:sym typeface="Open Sans"/>
              </a:rPr>
              <a:t>Analyzed 1563 LOC, 25 classes, 203 methods using </a:t>
            </a:r>
            <a:r>
              <a:rPr lang="en-US" sz="990" dirty="0" err="1">
                <a:solidFill>
                  <a:srgbClr val="794897"/>
                </a:solidFill>
                <a:latin typeface="Open Sans"/>
                <a:ea typeface="Open Sans"/>
                <a:cs typeface="Open Sans"/>
                <a:sym typeface="Open Sans"/>
              </a:rPr>
              <a:t>DesigniteJava</a:t>
            </a:r>
            <a:endParaRPr lang="en-US" sz="990" dirty="0">
              <a:solidFill>
                <a:srgbClr val="794897"/>
              </a:solidFill>
              <a:latin typeface="Open Sans"/>
              <a:ea typeface="Open Sans"/>
              <a:cs typeface="Open Sans"/>
              <a:sym typeface="Open Sans"/>
            </a:endParaRPr>
          </a:p>
          <a:p>
            <a:pPr marL="213761" lvl="1" indent="-106880" algn="l">
              <a:lnSpc>
                <a:spcPts val="1188"/>
              </a:lnSpc>
              <a:buFont typeface="Arial"/>
              <a:buChar char="•"/>
            </a:pPr>
            <a:r>
              <a:rPr lang="en-US" sz="990" dirty="0">
                <a:solidFill>
                  <a:srgbClr val="794897"/>
                </a:solidFill>
                <a:latin typeface="Open Sans"/>
                <a:ea typeface="Open Sans"/>
                <a:cs typeface="Open Sans"/>
                <a:sym typeface="Open Sans"/>
              </a:rPr>
              <a:t>No major architecture smells → system is well-structured</a:t>
            </a:r>
          </a:p>
          <a:p>
            <a:pPr marL="213761" lvl="1" indent="-106880" algn="l">
              <a:lnSpc>
                <a:spcPts val="1188"/>
              </a:lnSpc>
              <a:buFont typeface="Arial"/>
              <a:buChar char="•"/>
            </a:pPr>
            <a:r>
              <a:rPr lang="en-US" sz="990" dirty="0">
                <a:solidFill>
                  <a:srgbClr val="794897"/>
                </a:solidFill>
                <a:latin typeface="Open Sans"/>
                <a:ea typeface="Open Sans"/>
                <a:cs typeface="Open Sans"/>
                <a:sym typeface="Open Sans"/>
              </a:rPr>
              <a:t>Minor issues found (long statements, unused abstractions) → scope for improvement</a:t>
            </a:r>
          </a:p>
        </p:txBody>
      </p:sp>
      <p:sp>
        <p:nvSpPr>
          <p:cNvPr id="16" name="TextBox 16"/>
          <p:cNvSpPr txBox="1"/>
          <p:nvPr/>
        </p:nvSpPr>
        <p:spPr>
          <a:xfrm>
            <a:off x="5905056" y="8638823"/>
            <a:ext cx="5081956" cy="509140"/>
          </a:xfrm>
          <a:prstGeom prst="rect">
            <a:avLst/>
          </a:prstGeom>
        </p:spPr>
        <p:txBody>
          <a:bodyPr lIns="0" tIns="0" rIns="0" bIns="0" rtlCol="0" anchor="t">
            <a:spAutoFit/>
          </a:bodyPr>
          <a:lstStyle/>
          <a:p>
            <a:pPr algn="l">
              <a:lnSpc>
                <a:spcPts val="1386"/>
              </a:lnSpc>
              <a:spcBef>
                <a:spcPct val="0"/>
              </a:spcBef>
            </a:pPr>
            <a:r>
              <a:rPr lang="en-US" sz="1155" dirty="0">
                <a:solidFill>
                  <a:srgbClr val="794897"/>
                </a:solidFill>
                <a:latin typeface="Open Sans"/>
                <a:ea typeface="Open Sans"/>
                <a:cs typeface="Open Sans"/>
                <a:sym typeface="Open Sans"/>
              </a:rPr>
              <a:t>Frontend logic testing was implemented using </a:t>
            </a:r>
            <a:r>
              <a:rPr lang="en-US" sz="1155" dirty="0" err="1">
                <a:solidFill>
                  <a:srgbClr val="794897"/>
                </a:solidFill>
                <a:latin typeface="Open Sans"/>
                <a:ea typeface="Open Sans"/>
                <a:cs typeface="Open Sans"/>
                <a:sym typeface="Open Sans"/>
              </a:rPr>
              <a:t>Vitest</a:t>
            </a:r>
            <a:r>
              <a:rPr lang="en-US" sz="1155" dirty="0">
                <a:solidFill>
                  <a:srgbClr val="794897"/>
                </a:solidFill>
                <a:latin typeface="Open Sans"/>
                <a:ea typeface="Open Sans"/>
                <a:cs typeface="Open Sans"/>
                <a:sym typeface="Open Sans"/>
              </a:rPr>
              <a:t>. The tests verify UI logic such as user display names, role identification, currency formatting, and invite code validation.</a:t>
            </a:r>
          </a:p>
        </p:txBody>
      </p:sp>
      <p:sp>
        <p:nvSpPr>
          <p:cNvPr id="17" name="Freeform 17"/>
          <p:cNvSpPr/>
          <p:nvPr/>
        </p:nvSpPr>
        <p:spPr>
          <a:xfrm>
            <a:off x="11863926" y="6484050"/>
            <a:ext cx="5953772" cy="1473558"/>
          </a:xfrm>
          <a:custGeom>
            <a:avLst/>
            <a:gdLst/>
            <a:ahLst/>
            <a:cxnLst/>
            <a:rect l="l" t="t" r="r" b="b"/>
            <a:pathLst>
              <a:path w="5953772" h="1473558">
                <a:moveTo>
                  <a:pt x="0" y="0"/>
                </a:moveTo>
                <a:lnTo>
                  <a:pt x="5953772" y="0"/>
                </a:lnTo>
                <a:lnTo>
                  <a:pt x="5953772" y="1473558"/>
                </a:lnTo>
                <a:lnTo>
                  <a:pt x="0" y="1473558"/>
                </a:lnTo>
                <a:lnTo>
                  <a:pt x="0" y="0"/>
                </a:lnTo>
                <a:close/>
              </a:path>
            </a:pathLst>
          </a:custGeom>
          <a:blipFill>
            <a:blip r:embed="rId8"/>
            <a:stretch>
              <a:fillRect/>
            </a:stretch>
          </a:blipFill>
        </p:spPr>
        <p:txBody>
          <a:bodyPr/>
          <a:lstStyle/>
          <a:p>
            <a:endParaRPr lang="en-IN" dirty="0"/>
          </a:p>
        </p:txBody>
      </p:sp>
      <p:sp>
        <p:nvSpPr>
          <p:cNvPr id="18" name="TextBox 18"/>
          <p:cNvSpPr txBox="1"/>
          <p:nvPr/>
        </p:nvSpPr>
        <p:spPr>
          <a:xfrm>
            <a:off x="11898088" y="8165513"/>
            <a:ext cx="5186196" cy="149313"/>
          </a:xfrm>
          <a:prstGeom prst="rect">
            <a:avLst/>
          </a:prstGeom>
        </p:spPr>
        <p:txBody>
          <a:bodyPr lIns="0" tIns="0" rIns="0" bIns="0" rtlCol="0" anchor="t">
            <a:spAutoFit/>
          </a:bodyPr>
          <a:lstStyle/>
          <a:p>
            <a:pPr marL="213761" lvl="1" indent="-106880" algn="l">
              <a:lnSpc>
                <a:spcPts val="1188"/>
              </a:lnSpc>
              <a:buFont typeface="Arial"/>
              <a:buChar char="•"/>
            </a:pPr>
            <a:r>
              <a:rPr lang="en-US" sz="990" dirty="0" err="1">
                <a:solidFill>
                  <a:srgbClr val="794897"/>
                </a:solidFill>
                <a:latin typeface="Open Sans"/>
                <a:ea typeface="Open Sans"/>
                <a:cs typeface="Open Sans"/>
                <a:sym typeface="Open Sans"/>
              </a:rPr>
              <a:t>Github</a:t>
            </a:r>
            <a:r>
              <a:rPr lang="en-US" sz="990" dirty="0">
                <a:solidFill>
                  <a:srgbClr val="794897"/>
                </a:solidFill>
                <a:latin typeface="Open Sans"/>
                <a:ea typeface="Open Sans"/>
                <a:cs typeface="Open Sans"/>
                <a:sym typeface="Open Sans"/>
              </a:rPr>
              <a:t> Actions show both successful and unsuccessful builds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AEEF0"/>
        </a:solidFill>
        <a:effectLst/>
      </p:bgPr>
    </p:bg>
    <p:spTree>
      <p:nvGrpSpPr>
        <p:cNvPr id="1" name=""/>
        <p:cNvGrpSpPr/>
        <p:nvPr/>
      </p:nvGrpSpPr>
      <p:grpSpPr>
        <a:xfrm>
          <a:off x="0" y="0"/>
          <a:ext cx="0" cy="0"/>
          <a:chOff x="0" y="0"/>
          <a:chExt cx="0" cy="0"/>
        </a:xfrm>
      </p:grpSpPr>
      <p:sp>
        <p:nvSpPr>
          <p:cNvPr id="2" name="Freeform 2"/>
          <p:cNvSpPr/>
          <p:nvPr/>
        </p:nvSpPr>
        <p:spPr>
          <a:xfrm rot="-10800000">
            <a:off x="13706621" y="0"/>
            <a:ext cx="4581379" cy="4455391"/>
          </a:xfrm>
          <a:custGeom>
            <a:avLst/>
            <a:gdLst/>
            <a:ahLst/>
            <a:cxnLst/>
            <a:rect l="l" t="t" r="r" b="b"/>
            <a:pathLst>
              <a:path w="4581379" h="4455391">
                <a:moveTo>
                  <a:pt x="0" y="0"/>
                </a:moveTo>
                <a:lnTo>
                  <a:pt x="4581379" y="0"/>
                </a:lnTo>
                <a:lnTo>
                  <a:pt x="4581379" y="4455391"/>
                </a:lnTo>
                <a:lnTo>
                  <a:pt x="0" y="44553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28700" y="-820386"/>
            <a:ext cx="11894548" cy="2217578"/>
            <a:chOff x="0" y="0"/>
            <a:chExt cx="1140811" cy="212689"/>
          </a:xfrm>
        </p:grpSpPr>
        <p:sp>
          <p:nvSpPr>
            <p:cNvPr id="4" name="Freeform 4"/>
            <p:cNvSpPr/>
            <p:nvPr/>
          </p:nvSpPr>
          <p:spPr>
            <a:xfrm>
              <a:off x="0" y="0"/>
              <a:ext cx="1140811" cy="212689"/>
            </a:xfrm>
            <a:custGeom>
              <a:avLst/>
              <a:gdLst/>
              <a:ahLst/>
              <a:cxnLst/>
              <a:rect l="l" t="t" r="r" b="b"/>
              <a:pathLst>
                <a:path w="1140811" h="212689">
                  <a:moveTo>
                    <a:pt x="937611" y="0"/>
                  </a:moveTo>
                  <a:lnTo>
                    <a:pt x="0" y="0"/>
                  </a:lnTo>
                  <a:lnTo>
                    <a:pt x="203200" y="212689"/>
                  </a:lnTo>
                  <a:lnTo>
                    <a:pt x="1140811" y="212689"/>
                  </a:lnTo>
                  <a:lnTo>
                    <a:pt x="937611" y="0"/>
                  </a:lnTo>
                  <a:close/>
                </a:path>
              </a:pathLst>
            </a:custGeom>
            <a:ln w="76200" cap="sq">
              <a:solidFill>
                <a:srgbClr val="76ADE5"/>
              </a:solidFill>
              <a:prstDash val="solid"/>
              <a:miter/>
            </a:ln>
          </p:spPr>
        </p:sp>
        <p:sp>
          <p:nvSpPr>
            <p:cNvPr id="5" name="TextBox 5"/>
            <p:cNvSpPr txBox="1"/>
            <p:nvPr/>
          </p:nvSpPr>
          <p:spPr>
            <a:xfrm>
              <a:off x="101600" y="-38100"/>
              <a:ext cx="937611" cy="250789"/>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965971" y="-388655"/>
            <a:ext cx="11894548" cy="2217578"/>
            <a:chOff x="0" y="0"/>
            <a:chExt cx="1140811" cy="212689"/>
          </a:xfrm>
        </p:grpSpPr>
        <p:sp>
          <p:nvSpPr>
            <p:cNvPr id="7" name="Freeform 7"/>
            <p:cNvSpPr/>
            <p:nvPr/>
          </p:nvSpPr>
          <p:spPr>
            <a:xfrm>
              <a:off x="0" y="0"/>
              <a:ext cx="1140811" cy="212689"/>
            </a:xfrm>
            <a:custGeom>
              <a:avLst/>
              <a:gdLst/>
              <a:ahLst/>
              <a:cxnLst/>
              <a:rect l="l" t="t" r="r" b="b"/>
              <a:pathLst>
                <a:path w="1140811" h="212689">
                  <a:moveTo>
                    <a:pt x="937611" y="0"/>
                  </a:moveTo>
                  <a:lnTo>
                    <a:pt x="0" y="0"/>
                  </a:lnTo>
                  <a:lnTo>
                    <a:pt x="203200" y="212689"/>
                  </a:lnTo>
                  <a:lnTo>
                    <a:pt x="1140811" y="212689"/>
                  </a:lnTo>
                  <a:lnTo>
                    <a:pt x="937611" y="0"/>
                  </a:lnTo>
                  <a:close/>
                </a:path>
              </a:pathLst>
            </a:custGeom>
            <a:solidFill>
              <a:srgbClr val="5E50A0"/>
            </a:solidFill>
            <a:ln cap="sq">
              <a:noFill/>
              <a:prstDash val="solid"/>
              <a:miter/>
            </a:ln>
          </p:spPr>
        </p:sp>
        <p:sp>
          <p:nvSpPr>
            <p:cNvPr id="8" name="TextBox 8"/>
            <p:cNvSpPr txBox="1"/>
            <p:nvPr/>
          </p:nvSpPr>
          <p:spPr>
            <a:xfrm>
              <a:off x="101600" y="-38100"/>
              <a:ext cx="937611" cy="250789"/>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773985" y="2185267"/>
            <a:ext cx="12149263" cy="3705525"/>
          </a:xfrm>
          <a:custGeom>
            <a:avLst/>
            <a:gdLst/>
            <a:ahLst/>
            <a:cxnLst/>
            <a:rect l="l" t="t" r="r" b="b"/>
            <a:pathLst>
              <a:path w="12149263" h="3705525">
                <a:moveTo>
                  <a:pt x="0" y="0"/>
                </a:moveTo>
                <a:lnTo>
                  <a:pt x="12149263" y="0"/>
                </a:lnTo>
                <a:lnTo>
                  <a:pt x="12149263" y="3705525"/>
                </a:lnTo>
                <a:lnTo>
                  <a:pt x="0" y="3705525"/>
                </a:lnTo>
                <a:lnTo>
                  <a:pt x="0" y="0"/>
                </a:lnTo>
                <a:close/>
              </a:path>
            </a:pathLst>
          </a:custGeom>
          <a:blipFill>
            <a:blip r:embed="rId4"/>
            <a:stretch>
              <a:fillRect/>
            </a:stretch>
          </a:blipFill>
        </p:spPr>
      </p:sp>
      <p:sp>
        <p:nvSpPr>
          <p:cNvPr id="10" name="Freeform 10"/>
          <p:cNvSpPr/>
          <p:nvPr/>
        </p:nvSpPr>
        <p:spPr>
          <a:xfrm>
            <a:off x="773985" y="6319417"/>
            <a:ext cx="6245744" cy="3138486"/>
          </a:xfrm>
          <a:custGeom>
            <a:avLst/>
            <a:gdLst/>
            <a:ahLst/>
            <a:cxnLst/>
            <a:rect l="l" t="t" r="r" b="b"/>
            <a:pathLst>
              <a:path w="6245744" h="3138486">
                <a:moveTo>
                  <a:pt x="0" y="0"/>
                </a:moveTo>
                <a:lnTo>
                  <a:pt x="6245744" y="0"/>
                </a:lnTo>
                <a:lnTo>
                  <a:pt x="6245744" y="3138487"/>
                </a:lnTo>
                <a:lnTo>
                  <a:pt x="0" y="3138487"/>
                </a:lnTo>
                <a:lnTo>
                  <a:pt x="0" y="0"/>
                </a:lnTo>
                <a:close/>
              </a:path>
            </a:pathLst>
          </a:custGeom>
          <a:blipFill>
            <a:blip r:embed="rId5"/>
            <a:stretch>
              <a:fillRect/>
            </a:stretch>
          </a:blipFill>
        </p:spPr>
      </p:sp>
      <p:sp>
        <p:nvSpPr>
          <p:cNvPr id="11" name="Freeform 11"/>
          <p:cNvSpPr/>
          <p:nvPr/>
        </p:nvSpPr>
        <p:spPr>
          <a:xfrm>
            <a:off x="9554288" y="6319417"/>
            <a:ext cx="5785228" cy="3138486"/>
          </a:xfrm>
          <a:custGeom>
            <a:avLst/>
            <a:gdLst/>
            <a:ahLst/>
            <a:cxnLst/>
            <a:rect l="l" t="t" r="r" b="b"/>
            <a:pathLst>
              <a:path w="5785228" h="3138486">
                <a:moveTo>
                  <a:pt x="0" y="0"/>
                </a:moveTo>
                <a:lnTo>
                  <a:pt x="5785229" y="0"/>
                </a:lnTo>
                <a:lnTo>
                  <a:pt x="5785229" y="3138487"/>
                </a:lnTo>
                <a:lnTo>
                  <a:pt x="0" y="3138487"/>
                </a:lnTo>
                <a:lnTo>
                  <a:pt x="0" y="0"/>
                </a:lnTo>
                <a:close/>
              </a:path>
            </a:pathLst>
          </a:custGeom>
          <a:blipFill>
            <a:blip r:embed="rId6"/>
            <a:stretch>
              <a:fillRect/>
            </a:stretch>
          </a:blipFill>
        </p:spPr>
      </p:sp>
      <p:sp>
        <p:nvSpPr>
          <p:cNvPr id="12" name="TextBox 12"/>
          <p:cNvSpPr txBox="1"/>
          <p:nvPr/>
        </p:nvSpPr>
        <p:spPr>
          <a:xfrm>
            <a:off x="13404213" y="3828480"/>
            <a:ext cx="2331633" cy="1257300"/>
          </a:xfrm>
          <a:prstGeom prst="rect">
            <a:avLst/>
          </a:prstGeom>
        </p:spPr>
        <p:txBody>
          <a:bodyPr lIns="0" tIns="0" rIns="0" bIns="0" rtlCol="0" anchor="t">
            <a:spAutoFit/>
          </a:bodyPr>
          <a:lstStyle/>
          <a:p>
            <a:pPr algn="l">
              <a:lnSpc>
                <a:spcPts val="3348"/>
              </a:lnSpc>
            </a:pPr>
            <a:r>
              <a:rPr lang="en-US" sz="2790">
                <a:solidFill>
                  <a:srgbClr val="794897"/>
                </a:solidFill>
                <a:latin typeface="Open Sans"/>
                <a:ea typeface="Open Sans"/>
                <a:cs typeface="Open Sans"/>
                <a:sym typeface="Open Sans"/>
              </a:rPr>
              <a:t>PLANNING BORAD IN GITHUB</a:t>
            </a:r>
          </a:p>
        </p:txBody>
      </p:sp>
      <p:sp>
        <p:nvSpPr>
          <p:cNvPr id="13" name="TextBox 13"/>
          <p:cNvSpPr txBox="1"/>
          <p:nvPr/>
        </p:nvSpPr>
        <p:spPr>
          <a:xfrm>
            <a:off x="15551680" y="6674708"/>
            <a:ext cx="1964632" cy="2427905"/>
          </a:xfrm>
          <a:prstGeom prst="rect">
            <a:avLst/>
          </a:prstGeom>
        </p:spPr>
        <p:txBody>
          <a:bodyPr lIns="0" tIns="0" rIns="0" bIns="0" rtlCol="0" anchor="t">
            <a:spAutoFit/>
          </a:bodyPr>
          <a:lstStyle/>
          <a:p>
            <a:pPr algn="l">
              <a:lnSpc>
                <a:spcPts val="1939"/>
              </a:lnSpc>
            </a:pPr>
            <a:r>
              <a:rPr lang="en-US" sz="1616">
                <a:solidFill>
                  <a:srgbClr val="794897"/>
                </a:solidFill>
                <a:latin typeface="Open Sans"/>
                <a:ea typeface="Open Sans"/>
                <a:cs typeface="Open Sans"/>
                <a:sym typeface="Open Sans"/>
              </a:rPr>
              <a:t>SPRINT 1 HAD THE HIGHEST WORKLOAD, FOLLOWED BY A DROP IN SPRINT 2 AND A SLIGHT INCREASE IN SPRINT 3, SHOWING STABILIZED PROGRESS</a:t>
            </a:r>
          </a:p>
        </p:txBody>
      </p:sp>
      <p:sp>
        <p:nvSpPr>
          <p:cNvPr id="14" name="TextBox 14"/>
          <p:cNvSpPr txBox="1"/>
          <p:nvPr/>
        </p:nvSpPr>
        <p:spPr>
          <a:xfrm>
            <a:off x="7304693" y="6830395"/>
            <a:ext cx="1964632" cy="1699533"/>
          </a:xfrm>
          <a:prstGeom prst="rect">
            <a:avLst/>
          </a:prstGeom>
        </p:spPr>
        <p:txBody>
          <a:bodyPr lIns="0" tIns="0" rIns="0" bIns="0" rtlCol="0" anchor="t">
            <a:spAutoFit/>
          </a:bodyPr>
          <a:lstStyle/>
          <a:p>
            <a:pPr algn="l">
              <a:lnSpc>
                <a:spcPts val="1939"/>
              </a:lnSpc>
            </a:pPr>
            <a:r>
              <a:rPr lang="en-US" sz="1616">
                <a:solidFill>
                  <a:srgbClr val="794897"/>
                </a:solidFill>
                <a:latin typeface="Open Sans"/>
                <a:ea typeface="Open Sans"/>
                <a:cs typeface="Open Sans"/>
                <a:sym typeface="Open Sans"/>
              </a:rPr>
              <a:t>ALL PLANNED TASKS WERE SUCCESSFULLY COMPLETED, REFLECTING A 100% SPRINT COMPLETION RATE.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AEEF0"/>
        </a:solidFill>
        <a:effectLst/>
      </p:bgPr>
    </p:bg>
    <p:spTree>
      <p:nvGrpSpPr>
        <p:cNvPr id="1" name=""/>
        <p:cNvGrpSpPr/>
        <p:nvPr/>
      </p:nvGrpSpPr>
      <p:grpSpPr>
        <a:xfrm>
          <a:off x="0" y="0"/>
          <a:ext cx="0" cy="0"/>
          <a:chOff x="0" y="0"/>
          <a:chExt cx="0" cy="0"/>
        </a:xfrm>
      </p:grpSpPr>
      <p:sp>
        <p:nvSpPr>
          <p:cNvPr id="2" name="Freeform 2"/>
          <p:cNvSpPr/>
          <p:nvPr/>
        </p:nvSpPr>
        <p:spPr>
          <a:xfrm rot="-5400000" flipH="1">
            <a:off x="12148198" y="4147198"/>
            <a:ext cx="10807132" cy="1472472"/>
          </a:xfrm>
          <a:custGeom>
            <a:avLst/>
            <a:gdLst/>
            <a:ahLst/>
            <a:cxnLst/>
            <a:rect l="l" t="t" r="r" b="b"/>
            <a:pathLst>
              <a:path w="10807132" h="1472472">
                <a:moveTo>
                  <a:pt x="10807132" y="0"/>
                </a:moveTo>
                <a:lnTo>
                  <a:pt x="0" y="0"/>
                </a:lnTo>
                <a:lnTo>
                  <a:pt x="0" y="1472472"/>
                </a:lnTo>
                <a:lnTo>
                  <a:pt x="10807132" y="1472472"/>
                </a:lnTo>
                <a:lnTo>
                  <a:pt x="10807132"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357130" y="9258300"/>
            <a:ext cx="17293580" cy="866600"/>
            <a:chOff x="0" y="0"/>
            <a:chExt cx="4244348" cy="212689"/>
          </a:xfrm>
        </p:grpSpPr>
        <p:sp>
          <p:nvSpPr>
            <p:cNvPr id="4" name="Freeform 4"/>
            <p:cNvSpPr/>
            <p:nvPr/>
          </p:nvSpPr>
          <p:spPr>
            <a:xfrm>
              <a:off x="0" y="0"/>
              <a:ext cx="4244348" cy="212689"/>
            </a:xfrm>
            <a:custGeom>
              <a:avLst/>
              <a:gdLst/>
              <a:ahLst/>
              <a:cxnLst/>
              <a:rect l="l" t="t" r="r" b="b"/>
              <a:pathLst>
                <a:path w="4244348" h="212689">
                  <a:moveTo>
                    <a:pt x="4041148" y="0"/>
                  </a:moveTo>
                  <a:lnTo>
                    <a:pt x="0" y="0"/>
                  </a:lnTo>
                  <a:lnTo>
                    <a:pt x="203200" y="212689"/>
                  </a:lnTo>
                  <a:lnTo>
                    <a:pt x="4244348" y="212689"/>
                  </a:lnTo>
                  <a:lnTo>
                    <a:pt x="4041148" y="0"/>
                  </a:lnTo>
                  <a:close/>
                </a:path>
              </a:pathLst>
            </a:custGeom>
            <a:ln w="76200" cap="sq">
              <a:solidFill>
                <a:srgbClr val="76ADE5"/>
              </a:solidFill>
              <a:prstDash val="solid"/>
              <a:miter/>
            </a:ln>
          </p:spPr>
        </p:sp>
        <p:sp>
          <p:nvSpPr>
            <p:cNvPr id="5" name="TextBox 5"/>
            <p:cNvSpPr txBox="1"/>
            <p:nvPr/>
          </p:nvSpPr>
          <p:spPr>
            <a:xfrm>
              <a:off x="101600" y="-38100"/>
              <a:ext cx="4041148" cy="250789"/>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10800000" flipH="1" flipV="1">
            <a:off x="-1029420" y="7270520"/>
            <a:ext cx="3101779" cy="3016480"/>
          </a:xfrm>
          <a:custGeom>
            <a:avLst/>
            <a:gdLst/>
            <a:ahLst/>
            <a:cxnLst/>
            <a:rect l="l" t="t" r="r" b="b"/>
            <a:pathLst>
              <a:path w="3101779" h="3016480">
                <a:moveTo>
                  <a:pt x="3101779" y="3016480"/>
                </a:moveTo>
                <a:lnTo>
                  <a:pt x="0" y="3016480"/>
                </a:lnTo>
                <a:lnTo>
                  <a:pt x="0" y="0"/>
                </a:lnTo>
                <a:lnTo>
                  <a:pt x="3101779" y="0"/>
                </a:lnTo>
                <a:lnTo>
                  <a:pt x="3101779" y="30164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838583" y="4756227"/>
            <a:ext cx="7708876" cy="1883153"/>
            <a:chOff x="0" y="0"/>
            <a:chExt cx="10278502" cy="2510870"/>
          </a:xfrm>
        </p:grpSpPr>
        <p:sp>
          <p:nvSpPr>
            <p:cNvPr id="8" name="TextBox 8"/>
            <p:cNvSpPr txBox="1"/>
            <p:nvPr/>
          </p:nvSpPr>
          <p:spPr>
            <a:xfrm>
              <a:off x="308" y="57150"/>
              <a:ext cx="664407" cy="583327"/>
            </a:xfrm>
            <a:prstGeom prst="rect">
              <a:avLst/>
            </a:prstGeom>
          </p:spPr>
          <p:txBody>
            <a:bodyPr lIns="0" tIns="0" rIns="0" bIns="0" rtlCol="0" anchor="t">
              <a:spAutoFit/>
            </a:bodyPr>
            <a:lstStyle/>
            <a:p>
              <a:pPr algn="l">
                <a:lnSpc>
                  <a:spcPts val="3162"/>
                </a:lnSpc>
              </a:pPr>
              <a:r>
                <a:rPr lang="en-US" sz="3162">
                  <a:solidFill>
                    <a:srgbClr val="76ADE5"/>
                  </a:solidFill>
                  <a:latin typeface="Anton"/>
                  <a:ea typeface="Anton"/>
                  <a:cs typeface="Anton"/>
                  <a:sym typeface="Anton"/>
                </a:rPr>
                <a:t>01</a:t>
              </a:r>
            </a:p>
          </p:txBody>
        </p:sp>
        <p:sp>
          <p:nvSpPr>
            <p:cNvPr id="9" name="TextBox 9"/>
            <p:cNvSpPr txBox="1"/>
            <p:nvPr/>
          </p:nvSpPr>
          <p:spPr>
            <a:xfrm>
              <a:off x="1383642" y="1325135"/>
              <a:ext cx="664407" cy="583327"/>
            </a:xfrm>
            <a:prstGeom prst="rect">
              <a:avLst/>
            </a:prstGeom>
          </p:spPr>
          <p:txBody>
            <a:bodyPr lIns="0" tIns="0" rIns="0" bIns="0" rtlCol="0" anchor="t">
              <a:spAutoFit/>
            </a:bodyPr>
            <a:lstStyle/>
            <a:p>
              <a:pPr algn="l">
                <a:lnSpc>
                  <a:spcPts val="3162"/>
                </a:lnSpc>
              </a:pPr>
              <a:r>
                <a:rPr lang="en-US" sz="3162">
                  <a:solidFill>
                    <a:srgbClr val="76ADE5"/>
                  </a:solidFill>
                  <a:latin typeface="Anton"/>
                  <a:ea typeface="Anton"/>
                  <a:cs typeface="Anton"/>
                  <a:sym typeface="Anton"/>
                </a:rPr>
                <a:t>02</a:t>
              </a:r>
            </a:p>
          </p:txBody>
        </p:sp>
        <p:sp>
          <p:nvSpPr>
            <p:cNvPr id="10" name="TextBox 10"/>
            <p:cNvSpPr txBox="1"/>
            <p:nvPr/>
          </p:nvSpPr>
          <p:spPr>
            <a:xfrm>
              <a:off x="2766976" y="57150"/>
              <a:ext cx="664407" cy="583327"/>
            </a:xfrm>
            <a:prstGeom prst="rect">
              <a:avLst/>
            </a:prstGeom>
          </p:spPr>
          <p:txBody>
            <a:bodyPr lIns="0" tIns="0" rIns="0" bIns="0" rtlCol="0" anchor="t">
              <a:spAutoFit/>
            </a:bodyPr>
            <a:lstStyle/>
            <a:p>
              <a:pPr algn="l">
                <a:lnSpc>
                  <a:spcPts val="3162"/>
                </a:lnSpc>
              </a:pPr>
              <a:r>
                <a:rPr lang="en-US" sz="3162">
                  <a:solidFill>
                    <a:srgbClr val="76ADE5"/>
                  </a:solidFill>
                  <a:latin typeface="Anton"/>
                  <a:ea typeface="Anton"/>
                  <a:cs typeface="Anton"/>
                  <a:sym typeface="Anton"/>
                </a:rPr>
                <a:t>03</a:t>
              </a:r>
            </a:p>
          </p:txBody>
        </p:sp>
        <p:sp>
          <p:nvSpPr>
            <p:cNvPr id="11" name="TextBox 11"/>
            <p:cNvSpPr txBox="1"/>
            <p:nvPr/>
          </p:nvSpPr>
          <p:spPr>
            <a:xfrm>
              <a:off x="4150310" y="1325135"/>
              <a:ext cx="664407" cy="583327"/>
            </a:xfrm>
            <a:prstGeom prst="rect">
              <a:avLst/>
            </a:prstGeom>
          </p:spPr>
          <p:txBody>
            <a:bodyPr lIns="0" tIns="0" rIns="0" bIns="0" rtlCol="0" anchor="t">
              <a:spAutoFit/>
            </a:bodyPr>
            <a:lstStyle/>
            <a:p>
              <a:pPr algn="l">
                <a:lnSpc>
                  <a:spcPts val="3162"/>
                </a:lnSpc>
              </a:pPr>
              <a:r>
                <a:rPr lang="en-US" sz="3162">
                  <a:solidFill>
                    <a:srgbClr val="76ADE5"/>
                  </a:solidFill>
                  <a:latin typeface="Anton"/>
                  <a:ea typeface="Anton"/>
                  <a:cs typeface="Anton"/>
                  <a:sym typeface="Anton"/>
                </a:rPr>
                <a:t>04</a:t>
              </a:r>
            </a:p>
          </p:txBody>
        </p:sp>
        <p:sp>
          <p:nvSpPr>
            <p:cNvPr id="12" name="TextBox 12"/>
            <p:cNvSpPr txBox="1"/>
            <p:nvPr/>
          </p:nvSpPr>
          <p:spPr>
            <a:xfrm>
              <a:off x="5533644" y="57150"/>
              <a:ext cx="664407" cy="583327"/>
            </a:xfrm>
            <a:prstGeom prst="rect">
              <a:avLst/>
            </a:prstGeom>
          </p:spPr>
          <p:txBody>
            <a:bodyPr lIns="0" tIns="0" rIns="0" bIns="0" rtlCol="0" anchor="t">
              <a:spAutoFit/>
            </a:bodyPr>
            <a:lstStyle/>
            <a:p>
              <a:pPr algn="l">
                <a:lnSpc>
                  <a:spcPts val="3162"/>
                </a:lnSpc>
              </a:pPr>
              <a:r>
                <a:rPr lang="en-US" sz="3162">
                  <a:solidFill>
                    <a:srgbClr val="76ADE5"/>
                  </a:solidFill>
                  <a:latin typeface="Anton"/>
                  <a:ea typeface="Anton"/>
                  <a:cs typeface="Anton"/>
                  <a:sym typeface="Anton"/>
                </a:rPr>
                <a:t>05</a:t>
              </a:r>
            </a:p>
          </p:txBody>
        </p:sp>
        <p:sp>
          <p:nvSpPr>
            <p:cNvPr id="13" name="TextBox 13"/>
            <p:cNvSpPr txBox="1"/>
            <p:nvPr/>
          </p:nvSpPr>
          <p:spPr>
            <a:xfrm>
              <a:off x="6916978" y="1325135"/>
              <a:ext cx="664407" cy="583327"/>
            </a:xfrm>
            <a:prstGeom prst="rect">
              <a:avLst/>
            </a:prstGeom>
          </p:spPr>
          <p:txBody>
            <a:bodyPr lIns="0" tIns="0" rIns="0" bIns="0" rtlCol="0" anchor="t">
              <a:spAutoFit/>
            </a:bodyPr>
            <a:lstStyle/>
            <a:p>
              <a:pPr algn="l">
                <a:lnSpc>
                  <a:spcPts val="3162"/>
                </a:lnSpc>
              </a:pPr>
              <a:r>
                <a:rPr lang="en-US" sz="3162">
                  <a:solidFill>
                    <a:srgbClr val="76ADE5"/>
                  </a:solidFill>
                  <a:latin typeface="Anton"/>
                  <a:ea typeface="Anton"/>
                  <a:cs typeface="Anton"/>
                  <a:sym typeface="Anton"/>
                </a:rPr>
                <a:t>06</a:t>
              </a:r>
            </a:p>
          </p:txBody>
        </p:sp>
        <p:sp>
          <p:nvSpPr>
            <p:cNvPr id="14" name="TextBox 14"/>
            <p:cNvSpPr txBox="1"/>
            <p:nvPr/>
          </p:nvSpPr>
          <p:spPr>
            <a:xfrm>
              <a:off x="8300312" y="57150"/>
              <a:ext cx="664407" cy="583327"/>
            </a:xfrm>
            <a:prstGeom prst="rect">
              <a:avLst/>
            </a:prstGeom>
          </p:spPr>
          <p:txBody>
            <a:bodyPr lIns="0" tIns="0" rIns="0" bIns="0" rtlCol="0" anchor="t">
              <a:spAutoFit/>
            </a:bodyPr>
            <a:lstStyle/>
            <a:p>
              <a:pPr algn="l">
                <a:lnSpc>
                  <a:spcPts val="3162"/>
                </a:lnSpc>
              </a:pPr>
              <a:r>
                <a:rPr lang="en-US" sz="3162">
                  <a:solidFill>
                    <a:srgbClr val="76ADE5"/>
                  </a:solidFill>
                  <a:latin typeface="Anton"/>
                  <a:ea typeface="Anton"/>
                  <a:cs typeface="Anton"/>
                  <a:sym typeface="Anton"/>
                </a:rPr>
                <a:t>07</a:t>
              </a:r>
            </a:p>
          </p:txBody>
        </p:sp>
        <p:sp>
          <p:nvSpPr>
            <p:cNvPr id="15" name="TextBox 15"/>
            <p:cNvSpPr txBox="1"/>
            <p:nvPr/>
          </p:nvSpPr>
          <p:spPr>
            <a:xfrm>
              <a:off x="308" y="671852"/>
              <a:ext cx="2216912" cy="602408"/>
            </a:xfrm>
            <a:prstGeom prst="rect">
              <a:avLst/>
            </a:prstGeom>
          </p:spPr>
          <p:txBody>
            <a:bodyPr lIns="0" tIns="0" rIns="0" bIns="0" rtlCol="0" anchor="t">
              <a:spAutoFit/>
            </a:bodyPr>
            <a:lstStyle/>
            <a:p>
              <a:pPr algn="l">
                <a:lnSpc>
                  <a:spcPts val="1778"/>
                </a:lnSpc>
              </a:pPr>
              <a:r>
                <a:rPr lang="en-US" sz="1482" b="1">
                  <a:solidFill>
                    <a:srgbClr val="5E50A0"/>
                  </a:solidFill>
                  <a:latin typeface="Open Sans Bold"/>
                  <a:ea typeface="Open Sans Bold"/>
                  <a:cs typeface="Open Sans Bold"/>
                  <a:sym typeface="Open Sans Bold"/>
                </a:rPr>
                <a:t>REQUIREMENT</a:t>
              </a:r>
            </a:p>
            <a:p>
              <a:pPr algn="l">
                <a:lnSpc>
                  <a:spcPts val="1778"/>
                </a:lnSpc>
              </a:pPr>
              <a:r>
                <a:rPr lang="en-US" sz="1482" b="1">
                  <a:solidFill>
                    <a:srgbClr val="5E50A0"/>
                  </a:solidFill>
                  <a:latin typeface="Open Sans Bold"/>
                  <a:ea typeface="Open Sans Bold"/>
                  <a:cs typeface="Open Sans Bold"/>
                  <a:sym typeface="Open Sans Bold"/>
                </a:rPr>
                <a:t>GATHERING</a:t>
              </a:r>
            </a:p>
          </p:txBody>
        </p:sp>
        <p:sp>
          <p:nvSpPr>
            <p:cNvPr id="16" name="TextBox 16"/>
            <p:cNvSpPr txBox="1"/>
            <p:nvPr/>
          </p:nvSpPr>
          <p:spPr>
            <a:xfrm>
              <a:off x="2766976" y="671852"/>
              <a:ext cx="2216912" cy="301204"/>
            </a:xfrm>
            <a:prstGeom prst="rect">
              <a:avLst/>
            </a:prstGeom>
          </p:spPr>
          <p:txBody>
            <a:bodyPr lIns="0" tIns="0" rIns="0" bIns="0" rtlCol="0" anchor="t">
              <a:spAutoFit/>
            </a:bodyPr>
            <a:lstStyle/>
            <a:p>
              <a:pPr algn="l">
                <a:lnSpc>
                  <a:spcPts val="1778"/>
                </a:lnSpc>
              </a:pPr>
              <a:r>
                <a:rPr lang="en-US" sz="1482" b="1">
                  <a:solidFill>
                    <a:srgbClr val="5E50A0"/>
                  </a:solidFill>
                  <a:latin typeface="Open Sans Bold"/>
                  <a:ea typeface="Open Sans Bold"/>
                  <a:cs typeface="Open Sans Bold"/>
                  <a:sym typeface="Open Sans Bold"/>
                </a:rPr>
                <a:t>SYSTEM DESIGN</a:t>
              </a:r>
            </a:p>
          </p:txBody>
        </p:sp>
        <p:sp>
          <p:nvSpPr>
            <p:cNvPr id="17" name="TextBox 17"/>
            <p:cNvSpPr txBox="1"/>
            <p:nvPr/>
          </p:nvSpPr>
          <p:spPr>
            <a:xfrm>
              <a:off x="1383642" y="1908462"/>
              <a:ext cx="2216912" cy="602408"/>
            </a:xfrm>
            <a:prstGeom prst="rect">
              <a:avLst/>
            </a:prstGeom>
          </p:spPr>
          <p:txBody>
            <a:bodyPr lIns="0" tIns="0" rIns="0" bIns="0" rtlCol="0" anchor="t">
              <a:spAutoFit/>
            </a:bodyPr>
            <a:lstStyle/>
            <a:p>
              <a:pPr algn="l">
                <a:lnSpc>
                  <a:spcPts val="1778"/>
                </a:lnSpc>
              </a:pPr>
              <a:r>
                <a:rPr lang="en-US" sz="1482" b="1">
                  <a:solidFill>
                    <a:srgbClr val="5E50A0"/>
                  </a:solidFill>
                  <a:latin typeface="Open Sans Bold"/>
                  <a:ea typeface="Open Sans Bold"/>
                  <a:cs typeface="Open Sans Bold"/>
                  <a:sym typeface="Open Sans Bold"/>
                </a:rPr>
                <a:t>SPRINT PLANNING</a:t>
              </a:r>
            </a:p>
          </p:txBody>
        </p:sp>
        <p:sp>
          <p:nvSpPr>
            <p:cNvPr id="18" name="TextBox 18"/>
            <p:cNvSpPr txBox="1"/>
            <p:nvPr/>
          </p:nvSpPr>
          <p:spPr>
            <a:xfrm>
              <a:off x="4150310" y="1908462"/>
              <a:ext cx="2216912" cy="301204"/>
            </a:xfrm>
            <a:prstGeom prst="rect">
              <a:avLst/>
            </a:prstGeom>
          </p:spPr>
          <p:txBody>
            <a:bodyPr lIns="0" tIns="0" rIns="0" bIns="0" rtlCol="0" anchor="t">
              <a:spAutoFit/>
            </a:bodyPr>
            <a:lstStyle/>
            <a:p>
              <a:pPr algn="l">
                <a:lnSpc>
                  <a:spcPts val="1778"/>
                </a:lnSpc>
              </a:pPr>
              <a:r>
                <a:rPr lang="en-US" sz="1482" b="1">
                  <a:solidFill>
                    <a:srgbClr val="5E50A0"/>
                  </a:solidFill>
                  <a:latin typeface="Open Sans Bold"/>
                  <a:ea typeface="Open Sans Bold"/>
                  <a:cs typeface="Open Sans Bold"/>
                  <a:sym typeface="Open Sans Bold"/>
                </a:rPr>
                <a:t>DEVELOPMENT</a:t>
              </a:r>
            </a:p>
          </p:txBody>
        </p:sp>
        <p:sp>
          <p:nvSpPr>
            <p:cNvPr id="19" name="TextBox 19"/>
            <p:cNvSpPr txBox="1"/>
            <p:nvPr/>
          </p:nvSpPr>
          <p:spPr>
            <a:xfrm>
              <a:off x="6916978" y="1908462"/>
              <a:ext cx="2216912" cy="602408"/>
            </a:xfrm>
            <a:prstGeom prst="rect">
              <a:avLst/>
            </a:prstGeom>
          </p:spPr>
          <p:txBody>
            <a:bodyPr lIns="0" tIns="0" rIns="0" bIns="0" rtlCol="0" anchor="t">
              <a:spAutoFit/>
            </a:bodyPr>
            <a:lstStyle/>
            <a:p>
              <a:pPr algn="l">
                <a:lnSpc>
                  <a:spcPts val="1778"/>
                </a:lnSpc>
              </a:pPr>
              <a:r>
                <a:rPr lang="en-US" sz="1482" b="1">
                  <a:solidFill>
                    <a:srgbClr val="5E50A0"/>
                  </a:solidFill>
                  <a:latin typeface="Open Sans Bold"/>
                  <a:ea typeface="Open Sans Bold"/>
                  <a:cs typeface="Open Sans Bold"/>
                  <a:sym typeface="Open Sans Bold"/>
                </a:rPr>
                <a:t>CONTINUOUS</a:t>
              </a:r>
            </a:p>
            <a:p>
              <a:pPr algn="l">
                <a:lnSpc>
                  <a:spcPts val="1778"/>
                </a:lnSpc>
              </a:pPr>
              <a:r>
                <a:rPr lang="en-US" sz="1482" b="1">
                  <a:solidFill>
                    <a:srgbClr val="5E50A0"/>
                  </a:solidFill>
                  <a:latin typeface="Open Sans Bold"/>
                  <a:ea typeface="Open Sans Bold"/>
                  <a:cs typeface="Open Sans Bold"/>
                  <a:sym typeface="Open Sans Bold"/>
                </a:rPr>
                <a:t>INTEGRATION</a:t>
              </a:r>
            </a:p>
          </p:txBody>
        </p:sp>
        <p:sp>
          <p:nvSpPr>
            <p:cNvPr id="20" name="TextBox 20"/>
            <p:cNvSpPr txBox="1"/>
            <p:nvPr/>
          </p:nvSpPr>
          <p:spPr>
            <a:xfrm>
              <a:off x="5533644" y="671852"/>
              <a:ext cx="2216912" cy="301204"/>
            </a:xfrm>
            <a:prstGeom prst="rect">
              <a:avLst/>
            </a:prstGeom>
          </p:spPr>
          <p:txBody>
            <a:bodyPr lIns="0" tIns="0" rIns="0" bIns="0" rtlCol="0" anchor="t">
              <a:spAutoFit/>
            </a:bodyPr>
            <a:lstStyle/>
            <a:p>
              <a:pPr algn="l">
                <a:lnSpc>
                  <a:spcPts val="1778"/>
                </a:lnSpc>
              </a:pPr>
              <a:r>
                <a:rPr lang="en-US" sz="1482" b="1">
                  <a:solidFill>
                    <a:srgbClr val="5E50A0"/>
                  </a:solidFill>
                  <a:latin typeface="Open Sans Bold"/>
                  <a:ea typeface="Open Sans Bold"/>
                  <a:cs typeface="Open Sans Bold"/>
                  <a:sym typeface="Open Sans Bold"/>
                </a:rPr>
                <a:t>TESTING</a:t>
              </a:r>
            </a:p>
          </p:txBody>
        </p:sp>
        <p:sp>
          <p:nvSpPr>
            <p:cNvPr id="21" name="TextBox 21"/>
            <p:cNvSpPr txBox="1"/>
            <p:nvPr/>
          </p:nvSpPr>
          <p:spPr>
            <a:xfrm>
              <a:off x="8300312" y="671852"/>
              <a:ext cx="1978189" cy="602408"/>
            </a:xfrm>
            <a:prstGeom prst="rect">
              <a:avLst/>
            </a:prstGeom>
          </p:spPr>
          <p:txBody>
            <a:bodyPr lIns="0" tIns="0" rIns="0" bIns="0" rtlCol="0" anchor="t">
              <a:spAutoFit/>
            </a:bodyPr>
            <a:lstStyle/>
            <a:p>
              <a:pPr algn="l">
                <a:lnSpc>
                  <a:spcPts val="1778"/>
                </a:lnSpc>
              </a:pPr>
              <a:r>
                <a:rPr lang="en-US" sz="1482" b="1">
                  <a:solidFill>
                    <a:srgbClr val="5E50A0"/>
                  </a:solidFill>
                  <a:latin typeface="Open Sans Bold"/>
                  <a:ea typeface="Open Sans Bold"/>
                  <a:cs typeface="Open Sans Bold"/>
                  <a:sym typeface="Open Sans Bold"/>
                </a:rPr>
                <a:t>REVIEW &amp;</a:t>
              </a:r>
            </a:p>
            <a:p>
              <a:pPr algn="l">
                <a:lnSpc>
                  <a:spcPts val="1778"/>
                </a:lnSpc>
              </a:pPr>
              <a:r>
                <a:rPr lang="en-US" sz="1482" b="1">
                  <a:solidFill>
                    <a:srgbClr val="5E50A0"/>
                  </a:solidFill>
                  <a:latin typeface="Open Sans Bold"/>
                  <a:ea typeface="Open Sans Bold"/>
                  <a:cs typeface="Open Sans Bold"/>
                  <a:sym typeface="Open Sans Bold"/>
                </a:rPr>
                <a:t>RETROSPECTIVE</a:t>
              </a:r>
            </a:p>
          </p:txBody>
        </p:sp>
        <p:sp>
          <p:nvSpPr>
            <p:cNvPr id="22" name="AutoShape 22"/>
            <p:cNvSpPr/>
            <p:nvPr/>
          </p:nvSpPr>
          <p:spPr>
            <a:xfrm>
              <a:off x="148456" y="1328772"/>
              <a:ext cx="823542" cy="804212"/>
            </a:xfrm>
            <a:prstGeom prst="line">
              <a:avLst/>
            </a:prstGeom>
            <a:ln w="25680" cap="flat">
              <a:solidFill>
                <a:srgbClr val="2C1F36"/>
              </a:solidFill>
              <a:prstDash val="solid"/>
              <a:headEnd type="none" w="sm" len="sm"/>
              <a:tailEnd type="triangle" w="lg" len="med"/>
            </a:ln>
          </p:spPr>
        </p:sp>
        <p:sp>
          <p:nvSpPr>
            <p:cNvPr id="23" name="AutoShape 23"/>
            <p:cNvSpPr/>
            <p:nvPr/>
          </p:nvSpPr>
          <p:spPr>
            <a:xfrm flipV="1">
              <a:off x="2048049" y="320238"/>
              <a:ext cx="444049" cy="1267985"/>
            </a:xfrm>
            <a:prstGeom prst="line">
              <a:avLst/>
            </a:prstGeom>
            <a:ln w="25680" cap="flat">
              <a:solidFill>
                <a:srgbClr val="2C1F36"/>
              </a:solidFill>
              <a:prstDash val="solid"/>
              <a:headEnd type="none" w="sm" len="sm"/>
              <a:tailEnd type="triangle" w="lg" len="med"/>
            </a:ln>
          </p:spPr>
        </p:sp>
        <p:sp>
          <p:nvSpPr>
            <p:cNvPr id="24" name="AutoShape 24"/>
            <p:cNvSpPr/>
            <p:nvPr/>
          </p:nvSpPr>
          <p:spPr>
            <a:xfrm flipV="1">
              <a:off x="4814717" y="320238"/>
              <a:ext cx="444049" cy="1267985"/>
            </a:xfrm>
            <a:prstGeom prst="line">
              <a:avLst/>
            </a:prstGeom>
            <a:ln w="25680" cap="flat">
              <a:solidFill>
                <a:srgbClr val="2C1F36"/>
              </a:solidFill>
              <a:prstDash val="solid"/>
              <a:headEnd type="none" w="sm" len="sm"/>
              <a:tailEnd type="triangle" w="lg" len="med"/>
            </a:ln>
          </p:spPr>
        </p:sp>
        <p:sp>
          <p:nvSpPr>
            <p:cNvPr id="25" name="AutoShape 25"/>
            <p:cNvSpPr/>
            <p:nvPr/>
          </p:nvSpPr>
          <p:spPr>
            <a:xfrm>
              <a:off x="2915124" y="1104250"/>
              <a:ext cx="823542" cy="804212"/>
            </a:xfrm>
            <a:prstGeom prst="line">
              <a:avLst/>
            </a:prstGeom>
            <a:ln w="25680" cap="flat">
              <a:solidFill>
                <a:srgbClr val="2C1F36"/>
              </a:solidFill>
              <a:prstDash val="solid"/>
              <a:headEnd type="none" w="sm" len="sm"/>
              <a:tailEnd type="triangle" w="lg" len="med"/>
            </a:ln>
          </p:spPr>
        </p:sp>
        <p:sp>
          <p:nvSpPr>
            <p:cNvPr id="26" name="AutoShape 26"/>
            <p:cNvSpPr/>
            <p:nvPr/>
          </p:nvSpPr>
          <p:spPr>
            <a:xfrm>
              <a:off x="5829941" y="1104250"/>
              <a:ext cx="823542" cy="804212"/>
            </a:xfrm>
            <a:prstGeom prst="line">
              <a:avLst/>
            </a:prstGeom>
            <a:ln w="25680" cap="flat">
              <a:solidFill>
                <a:srgbClr val="2C1F36"/>
              </a:solidFill>
              <a:prstDash val="solid"/>
              <a:headEnd type="none" w="sm" len="sm"/>
              <a:tailEnd type="triangle" w="lg" len="med"/>
            </a:ln>
          </p:spPr>
        </p:sp>
        <p:sp>
          <p:nvSpPr>
            <p:cNvPr id="27" name="AutoShape 27"/>
            <p:cNvSpPr/>
            <p:nvPr/>
          </p:nvSpPr>
          <p:spPr>
            <a:xfrm flipV="1">
              <a:off x="7581385" y="320238"/>
              <a:ext cx="444049" cy="1267985"/>
            </a:xfrm>
            <a:prstGeom prst="line">
              <a:avLst/>
            </a:prstGeom>
            <a:ln w="25680" cap="flat">
              <a:solidFill>
                <a:srgbClr val="2C1F36"/>
              </a:solidFill>
              <a:prstDash val="solid"/>
              <a:headEnd type="none" w="sm" len="sm"/>
              <a:tailEnd type="triangle" w="lg" len="med"/>
            </a:ln>
          </p:spPr>
        </p:sp>
      </p:grpSp>
      <p:sp>
        <p:nvSpPr>
          <p:cNvPr id="28" name="Freeform 28"/>
          <p:cNvSpPr/>
          <p:nvPr/>
        </p:nvSpPr>
        <p:spPr>
          <a:xfrm>
            <a:off x="9315791" y="3981852"/>
            <a:ext cx="7545137" cy="4796908"/>
          </a:xfrm>
          <a:custGeom>
            <a:avLst/>
            <a:gdLst/>
            <a:ahLst/>
            <a:cxnLst/>
            <a:rect l="l" t="t" r="r" b="b"/>
            <a:pathLst>
              <a:path w="7545137" h="4796908">
                <a:moveTo>
                  <a:pt x="0" y="0"/>
                </a:moveTo>
                <a:lnTo>
                  <a:pt x="7545138" y="0"/>
                </a:lnTo>
                <a:lnTo>
                  <a:pt x="7545138" y="4796908"/>
                </a:lnTo>
                <a:lnTo>
                  <a:pt x="0" y="4796908"/>
                </a:lnTo>
                <a:lnTo>
                  <a:pt x="0" y="0"/>
                </a:lnTo>
                <a:close/>
              </a:path>
            </a:pathLst>
          </a:custGeom>
          <a:blipFill>
            <a:blip r:embed="rId6"/>
            <a:stretch>
              <a:fillRect/>
            </a:stretch>
          </a:blipFill>
        </p:spPr>
      </p:sp>
      <p:sp>
        <p:nvSpPr>
          <p:cNvPr id="29" name="TextBox 29"/>
          <p:cNvSpPr txBox="1"/>
          <p:nvPr/>
        </p:nvSpPr>
        <p:spPr>
          <a:xfrm>
            <a:off x="933642" y="1190625"/>
            <a:ext cx="8115300" cy="2352675"/>
          </a:xfrm>
          <a:prstGeom prst="rect">
            <a:avLst/>
          </a:prstGeom>
        </p:spPr>
        <p:txBody>
          <a:bodyPr lIns="0" tIns="0" rIns="0" bIns="0" rtlCol="0" anchor="t">
            <a:spAutoFit/>
          </a:bodyPr>
          <a:lstStyle/>
          <a:p>
            <a:pPr algn="l">
              <a:lnSpc>
                <a:spcPts val="9000"/>
              </a:lnSpc>
            </a:pPr>
            <a:r>
              <a:rPr lang="en-US" sz="9000">
                <a:solidFill>
                  <a:srgbClr val="5E50A0"/>
                </a:solidFill>
                <a:latin typeface="Anton"/>
                <a:ea typeface="Anton"/>
                <a:cs typeface="Anton"/>
                <a:sym typeface="Anton"/>
              </a:rPr>
              <a:t>OUR DEVELOPMENT </a:t>
            </a:r>
            <a:r>
              <a:rPr lang="en-US" sz="9000">
                <a:solidFill>
                  <a:srgbClr val="794897"/>
                </a:solidFill>
                <a:latin typeface="Anton"/>
                <a:ea typeface="Anton"/>
                <a:cs typeface="Anton"/>
                <a:sym typeface="Anton"/>
              </a:rPr>
              <a:t>PROCESS</a:t>
            </a:r>
          </a:p>
        </p:txBody>
      </p:sp>
      <p:sp>
        <p:nvSpPr>
          <p:cNvPr id="30" name="TextBox 30"/>
          <p:cNvSpPr txBox="1"/>
          <p:nvPr/>
        </p:nvSpPr>
        <p:spPr>
          <a:xfrm>
            <a:off x="838583" y="3559577"/>
            <a:ext cx="7966915" cy="422275"/>
          </a:xfrm>
          <a:prstGeom prst="rect">
            <a:avLst/>
          </a:prstGeom>
        </p:spPr>
        <p:txBody>
          <a:bodyPr lIns="0" tIns="0" rIns="0" bIns="0" rtlCol="0" anchor="t">
            <a:spAutoFit/>
          </a:bodyPr>
          <a:lstStyle/>
          <a:p>
            <a:pPr algn="l">
              <a:lnSpc>
                <a:spcPts val="3499"/>
              </a:lnSpc>
            </a:pPr>
            <a:r>
              <a:rPr lang="en-US" sz="2499">
                <a:solidFill>
                  <a:srgbClr val="2C1F36"/>
                </a:solidFill>
                <a:latin typeface="Open Sans"/>
                <a:ea typeface="Open Sans"/>
                <a:cs typeface="Open Sans"/>
                <a:sym typeface="Open Sans"/>
              </a:rPr>
              <a:t>Agile-Based Development Lifecycle</a:t>
            </a:r>
          </a:p>
        </p:txBody>
      </p:sp>
      <p:sp>
        <p:nvSpPr>
          <p:cNvPr id="31" name="TextBox 31"/>
          <p:cNvSpPr txBox="1"/>
          <p:nvPr/>
        </p:nvSpPr>
        <p:spPr>
          <a:xfrm>
            <a:off x="10376892" y="1190625"/>
            <a:ext cx="8115300" cy="2352675"/>
          </a:xfrm>
          <a:prstGeom prst="rect">
            <a:avLst/>
          </a:prstGeom>
        </p:spPr>
        <p:txBody>
          <a:bodyPr lIns="0" tIns="0" rIns="0" bIns="0" rtlCol="0" anchor="t">
            <a:spAutoFit/>
          </a:bodyPr>
          <a:lstStyle/>
          <a:p>
            <a:pPr algn="l">
              <a:lnSpc>
                <a:spcPts val="9000"/>
              </a:lnSpc>
            </a:pPr>
            <a:r>
              <a:rPr lang="en-US" sz="9000">
                <a:solidFill>
                  <a:srgbClr val="5E50A0"/>
                </a:solidFill>
                <a:latin typeface="Anton"/>
                <a:ea typeface="Anton"/>
                <a:cs typeface="Anton"/>
                <a:sym typeface="Anton"/>
              </a:rPr>
              <a:t>BURNDOWN </a:t>
            </a:r>
          </a:p>
          <a:p>
            <a:pPr algn="l">
              <a:lnSpc>
                <a:spcPts val="9000"/>
              </a:lnSpc>
            </a:pPr>
            <a:r>
              <a:rPr lang="en-US" sz="9000">
                <a:solidFill>
                  <a:srgbClr val="794897"/>
                </a:solidFill>
                <a:latin typeface="Anton"/>
                <a:ea typeface="Anton"/>
                <a:cs typeface="Anton"/>
                <a:sym typeface="Anton"/>
              </a:rPr>
              <a:t>CHART</a:t>
            </a:r>
          </a:p>
        </p:txBody>
      </p:sp>
      <p:sp>
        <p:nvSpPr>
          <p:cNvPr id="32" name="TextBox 32"/>
          <p:cNvSpPr txBox="1"/>
          <p:nvPr/>
        </p:nvSpPr>
        <p:spPr>
          <a:xfrm>
            <a:off x="2875913" y="7434807"/>
            <a:ext cx="6268087" cy="989965"/>
          </a:xfrm>
          <a:prstGeom prst="rect">
            <a:avLst/>
          </a:prstGeom>
        </p:spPr>
        <p:txBody>
          <a:bodyPr lIns="0" tIns="0" rIns="0" bIns="0" rtlCol="0" anchor="t">
            <a:spAutoFit/>
          </a:bodyPr>
          <a:lstStyle/>
          <a:p>
            <a:pPr algn="l">
              <a:lnSpc>
                <a:spcPts val="2659"/>
              </a:lnSpc>
              <a:spcBef>
                <a:spcPct val="0"/>
              </a:spcBef>
            </a:pPr>
            <a:r>
              <a:rPr lang="en-US" sz="1899">
                <a:solidFill>
                  <a:srgbClr val="794897"/>
                </a:solidFill>
                <a:latin typeface="Open Sans"/>
                <a:ea typeface="Open Sans"/>
                <a:cs typeface="Open Sans"/>
                <a:sym typeface="Open Sans"/>
              </a:rPr>
              <a:t>The burndown chart shows steady progress across sprints, with a scope increase in Sprint 3 that was successfully completed within the release.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AEEF0"/>
        </a:solidFill>
        <a:effectLst/>
      </p:bgPr>
    </p:bg>
    <p:spTree>
      <p:nvGrpSpPr>
        <p:cNvPr id="1" name=""/>
        <p:cNvGrpSpPr/>
        <p:nvPr/>
      </p:nvGrpSpPr>
      <p:grpSpPr>
        <a:xfrm>
          <a:off x="0" y="0"/>
          <a:ext cx="0" cy="0"/>
          <a:chOff x="0" y="0"/>
          <a:chExt cx="0" cy="0"/>
        </a:xfrm>
      </p:grpSpPr>
      <p:grpSp>
        <p:nvGrpSpPr>
          <p:cNvPr id="2" name="Group 2"/>
          <p:cNvGrpSpPr/>
          <p:nvPr/>
        </p:nvGrpSpPr>
        <p:grpSpPr>
          <a:xfrm>
            <a:off x="-679044" y="3814965"/>
            <a:ext cx="20976790" cy="1328535"/>
            <a:chOff x="0" y="0"/>
            <a:chExt cx="5524751" cy="349902"/>
          </a:xfrm>
        </p:grpSpPr>
        <p:sp>
          <p:nvSpPr>
            <p:cNvPr id="3" name="Freeform 3"/>
            <p:cNvSpPr/>
            <p:nvPr/>
          </p:nvSpPr>
          <p:spPr>
            <a:xfrm>
              <a:off x="0" y="0"/>
              <a:ext cx="5524751" cy="349902"/>
            </a:xfrm>
            <a:custGeom>
              <a:avLst/>
              <a:gdLst/>
              <a:ahLst/>
              <a:cxnLst/>
              <a:rect l="l" t="t" r="r" b="b"/>
              <a:pathLst>
                <a:path w="5524751" h="349902">
                  <a:moveTo>
                    <a:pt x="0" y="0"/>
                  </a:moveTo>
                  <a:lnTo>
                    <a:pt x="5524751" y="0"/>
                  </a:lnTo>
                  <a:lnTo>
                    <a:pt x="5524751" y="349902"/>
                  </a:lnTo>
                  <a:lnTo>
                    <a:pt x="0" y="349902"/>
                  </a:lnTo>
                  <a:close/>
                </a:path>
              </a:pathLst>
            </a:custGeom>
            <a:solidFill>
              <a:srgbClr val="794897"/>
            </a:solidFill>
          </p:spPr>
        </p:sp>
        <p:sp>
          <p:nvSpPr>
            <p:cNvPr id="4" name="TextBox 4"/>
            <p:cNvSpPr txBox="1"/>
            <p:nvPr/>
          </p:nvSpPr>
          <p:spPr>
            <a:xfrm>
              <a:off x="0" y="-38100"/>
              <a:ext cx="5524751" cy="38800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5400000">
            <a:off x="12148198" y="4147198"/>
            <a:ext cx="10807132" cy="1472472"/>
          </a:xfrm>
          <a:custGeom>
            <a:avLst/>
            <a:gdLst/>
            <a:ahLst/>
            <a:cxnLst/>
            <a:rect l="l" t="t" r="r" b="b"/>
            <a:pathLst>
              <a:path w="10807132" h="1472472">
                <a:moveTo>
                  <a:pt x="0" y="0"/>
                </a:moveTo>
                <a:lnTo>
                  <a:pt x="10807132" y="0"/>
                </a:lnTo>
                <a:lnTo>
                  <a:pt x="10807132" y="1472472"/>
                </a:lnTo>
                <a:lnTo>
                  <a:pt x="0" y="14724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4873969" y="1303713"/>
            <a:ext cx="1934312" cy="761636"/>
          </a:xfrm>
          <a:custGeom>
            <a:avLst/>
            <a:gdLst/>
            <a:ahLst/>
            <a:cxnLst/>
            <a:rect l="l" t="t" r="r" b="b"/>
            <a:pathLst>
              <a:path w="1934312" h="761636">
                <a:moveTo>
                  <a:pt x="0" y="0"/>
                </a:moveTo>
                <a:lnTo>
                  <a:pt x="1934312" y="0"/>
                </a:lnTo>
                <a:lnTo>
                  <a:pt x="1934312" y="761636"/>
                </a:lnTo>
                <a:lnTo>
                  <a:pt x="0" y="7616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1028700" y="1104900"/>
            <a:ext cx="13263330" cy="1295400"/>
          </a:xfrm>
          <a:prstGeom prst="rect">
            <a:avLst/>
          </a:prstGeom>
        </p:spPr>
        <p:txBody>
          <a:bodyPr lIns="0" tIns="0" rIns="0" bIns="0" rtlCol="0" anchor="t">
            <a:spAutoFit/>
          </a:bodyPr>
          <a:lstStyle/>
          <a:p>
            <a:pPr algn="l">
              <a:lnSpc>
                <a:spcPts val="9900"/>
              </a:lnSpc>
            </a:pPr>
            <a:r>
              <a:rPr lang="en-US" sz="9000">
                <a:solidFill>
                  <a:srgbClr val="5E50A0"/>
                </a:solidFill>
                <a:latin typeface="Anton"/>
                <a:ea typeface="Anton"/>
                <a:cs typeface="Anton"/>
                <a:sym typeface="Anton"/>
              </a:rPr>
              <a:t>KEY </a:t>
            </a:r>
            <a:r>
              <a:rPr lang="en-US" sz="9000">
                <a:solidFill>
                  <a:srgbClr val="794897"/>
                </a:solidFill>
                <a:latin typeface="Anton"/>
                <a:ea typeface="Anton"/>
                <a:cs typeface="Anton"/>
                <a:sym typeface="Anton"/>
              </a:rPr>
              <a:t>METRICS - ALL SPRINTS</a:t>
            </a:r>
          </a:p>
        </p:txBody>
      </p:sp>
      <p:sp>
        <p:nvSpPr>
          <p:cNvPr id="8" name="TextBox 8"/>
          <p:cNvSpPr txBox="1"/>
          <p:nvPr/>
        </p:nvSpPr>
        <p:spPr>
          <a:xfrm>
            <a:off x="1028700" y="5523335"/>
            <a:ext cx="3730547" cy="2816225"/>
          </a:xfrm>
          <a:prstGeom prst="rect">
            <a:avLst/>
          </a:prstGeom>
        </p:spPr>
        <p:txBody>
          <a:bodyPr lIns="0" tIns="0" rIns="0" bIns="0" rtlCol="0" anchor="t">
            <a:spAutoFit/>
          </a:bodyPr>
          <a:lstStyle/>
          <a:p>
            <a:pPr algn="l">
              <a:lnSpc>
                <a:spcPts val="2800"/>
              </a:lnSpc>
            </a:pPr>
            <a:r>
              <a:rPr lang="en-US" sz="2000">
                <a:solidFill>
                  <a:srgbClr val="794897"/>
                </a:solidFill>
                <a:latin typeface="Open Sans"/>
                <a:ea typeface="Open Sans"/>
                <a:cs typeface="Open Sans"/>
                <a:sym typeface="Open Sans"/>
              </a:rPr>
              <a:t>•Planned Velocity: 37 points</a:t>
            </a:r>
          </a:p>
          <a:p>
            <a:pPr algn="l">
              <a:lnSpc>
                <a:spcPts val="2800"/>
              </a:lnSpc>
            </a:pPr>
            <a:r>
              <a:rPr lang="en-US" sz="2000">
                <a:solidFill>
                  <a:srgbClr val="794897"/>
                </a:solidFill>
                <a:latin typeface="Open Sans"/>
                <a:ea typeface="Open Sans"/>
                <a:cs typeface="Open Sans"/>
                <a:sym typeface="Open Sans"/>
              </a:rPr>
              <a:t>•Actual Velocity: 37 points</a:t>
            </a:r>
          </a:p>
          <a:p>
            <a:pPr algn="l">
              <a:lnSpc>
                <a:spcPts val="2800"/>
              </a:lnSpc>
            </a:pPr>
            <a:r>
              <a:rPr lang="en-US" sz="2000">
                <a:solidFill>
                  <a:srgbClr val="794897"/>
                </a:solidFill>
                <a:latin typeface="Open Sans"/>
                <a:ea typeface="Open Sans"/>
                <a:cs typeface="Open Sans"/>
                <a:sym typeface="Open Sans"/>
              </a:rPr>
              <a:t>•Sprint Predictability Rate: 100%</a:t>
            </a:r>
          </a:p>
          <a:p>
            <a:pPr algn="l">
              <a:lnSpc>
                <a:spcPts val="2800"/>
              </a:lnSpc>
            </a:pPr>
            <a:r>
              <a:rPr lang="en-US" sz="2000">
                <a:solidFill>
                  <a:srgbClr val="794897"/>
                </a:solidFill>
                <a:latin typeface="Open Sans"/>
                <a:ea typeface="Open Sans"/>
                <a:cs typeface="Open Sans"/>
                <a:sym typeface="Open Sans"/>
              </a:rPr>
              <a:t>•Sprint Addition Rate: 0%</a:t>
            </a:r>
          </a:p>
          <a:p>
            <a:pPr algn="l">
              <a:lnSpc>
                <a:spcPts val="2800"/>
              </a:lnSpc>
            </a:pPr>
            <a:r>
              <a:rPr lang="en-US" sz="2000">
                <a:solidFill>
                  <a:srgbClr val="794897"/>
                </a:solidFill>
                <a:latin typeface="Open Sans"/>
                <a:ea typeface="Open Sans"/>
                <a:cs typeface="Open Sans"/>
                <a:sym typeface="Open Sans"/>
              </a:rPr>
              <a:t>•Sprint Completion Rate: 100%</a:t>
            </a:r>
          </a:p>
          <a:p>
            <a:pPr algn="l">
              <a:lnSpc>
                <a:spcPts val="2800"/>
              </a:lnSpc>
            </a:pPr>
            <a:r>
              <a:rPr lang="en-US" sz="2000">
                <a:solidFill>
                  <a:srgbClr val="794897"/>
                </a:solidFill>
                <a:latin typeface="Open Sans"/>
                <a:ea typeface="Open Sans"/>
                <a:cs typeface="Open Sans"/>
                <a:sym typeface="Open Sans"/>
              </a:rPr>
              <a:t>All actions were kept and evaluated</a:t>
            </a:r>
          </a:p>
        </p:txBody>
      </p:sp>
      <p:sp>
        <p:nvSpPr>
          <p:cNvPr id="9" name="TextBox 9"/>
          <p:cNvSpPr txBox="1"/>
          <p:nvPr/>
        </p:nvSpPr>
        <p:spPr>
          <a:xfrm>
            <a:off x="1028700" y="4426234"/>
            <a:ext cx="2257224" cy="457200"/>
          </a:xfrm>
          <a:prstGeom prst="rect">
            <a:avLst/>
          </a:prstGeom>
        </p:spPr>
        <p:txBody>
          <a:bodyPr lIns="0" tIns="0" rIns="0" bIns="0" rtlCol="0" anchor="t">
            <a:spAutoFit/>
          </a:bodyPr>
          <a:lstStyle/>
          <a:p>
            <a:pPr algn="l">
              <a:lnSpc>
                <a:spcPts val="3600"/>
              </a:lnSpc>
            </a:pPr>
            <a:r>
              <a:rPr lang="en-US" sz="3000" b="1" dirty="0">
                <a:solidFill>
                  <a:srgbClr val="B8E1F0"/>
                </a:solidFill>
                <a:latin typeface="Open Sans Bold"/>
                <a:ea typeface="Open Sans Bold"/>
                <a:cs typeface="Open Sans Bold"/>
                <a:sym typeface="Open Sans Bold"/>
              </a:rPr>
              <a:t>SPRINT 1</a:t>
            </a:r>
          </a:p>
        </p:txBody>
      </p:sp>
      <p:sp>
        <p:nvSpPr>
          <p:cNvPr id="10" name="TextBox 10"/>
          <p:cNvSpPr txBox="1"/>
          <p:nvPr/>
        </p:nvSpPr>
        <p:spPr>
          <a:xfrm>
            <a:off x="7399786" y="4426234"/>
            <a:ext cx="2924971" cy="457200"/>
          </a:xfrm>
          <a:prstGeom prst="rect">
            <a:avLst/>
          </a:prstGeom>
        </p:spPr>
        <p:txBody>
          <a:bodyPr lIns="0" tIns="0" rIns="0" bIns="0" rtlCol="0" anchor="t">
            <a:spAutoFit/>
          </a:bodyPr>
          <a:lstStyle/>
          <a:p>
            <a:pPr algn="l">
              <a:lnSpc>
                <a:spcPts val="3600"/>
              </a:lnSpc>
            </a:pPr>
            <a:r>
              <a:rPr lang="en-US" sz="3000" b="1">
                <a:solidFill>
                  <a:srgbClr val="B8E1F0"/>
                </a:solidFill>
                <a:latin typeface="Open Sans Bold"/>
                <a:ea typeface="Open Sans Bold"/>
                <a:cs typeface="Open Sans Bold"/>
                <a:sym typeface="Open Sans Bold"/>
              </a:rPr>
              <a:t>SPRINT 2</a:t>
            </a:r>
          </a:p>
        </p:txBody>
      </p:sp>
      <p:sp>
        <p:nvSpPr>
          <p:cNvPr id="11" name="TextBox 11"/>
          <p:cNvSpPr txBox="1"/>
          <p:nvPr/>
        </p:nvSpPr>
        <p:spPr>
          <a:xfrm>
            <a:off x="12916154" y="4426234"/>
            <a:ext cx="2924971" cy="457200"/>
          </a:xfrm>
          <a:prstGeom prst="rect">
            <a:avLst/>
          </a:prstGeom>
        </p:spPr>
        <p:txBody>
          <a:bodyPr lIns="0" tIns="0" rIns="0" bIns="0" rtlCol="0" anchor="t">
            <a:spAutoFit/>
          </a:bodyPr>
          <a:lstStyle/>
          <a:p>
            <a:pPr algn="l">
              <a:lnSpc>
                <a:spcPts val="3600"/>
              </a:lnSpc>
            </a:pPr>
            <a:r>
              <a:rPr lang="en-US" sz="3000" b="1">
                <a:solidFill>
                  <a:srgbClr val="B8E1F0"/>
                </a:solidFill>
                <a:latin typeface="Open Sans Bold"/>
                <a:ea typeface="Open Sans Bold"/>
                <a:cs typeface="Open Sans Bold"/>
                <a:sym typeface="Open Sans Bold"/>
              </a:rPr>
              <a:t>SPRINT 3</a:t>
            </a:r>
          </a:p>
        </p:txBody>
      </p:sp>
      <p:sp>
        <p:nvSpPr>
          <p:cNvPr id="12" name="TextBox 12"/>
          <p:cNvSpPr txBox="1"/>
          <p:nvPr/>
        </p:nvSpPr>
        <p:spPr>
          <a:xfrm>
            <a:off x="7278726" y="5523335"/>
            <a:ext cx="3730547" cy="2816225"/>
          </a:xfrm>
          <a:prstGeom prst="rect">
            <a:avLst/>
          </a:prstGeom>
        </p:spPr>
        <p:txBody>
          <a:bodyPr lIns="0" tIns="0" rIns="0" bIns="0" rtlCol="0" anchor="t">
            <a:spAutoFit/>
          </a:bodyPr>
          <a:lstStyle/>
          <a:p>
            <a:pPr algn="l">
              <a:lnSpc>
                <a:spcPts val="2800"/>
              </a:lnSpc>
            </a:pPr>
            <a:r>
              <a:rPr lang="en-US" sz="2000">
                <a:solidFill>
                  <a:srgbClr val="794897"/>
                </a:solidFill>
                <a:latin typeface="Open Sans"/>
                <a:ea typeface="Open Sans"/>
                <a:cs typeface="Open Sans"/>
                <a:sym typeface="Open Sans"/>
              </a:rPr>
              <a:t>•Planned Velocity: 21points</a:t>
            </a:r>
          </a:p>
          <a:p>
            <a:pPr algn="l">
              <a:lnSpc>
                <a:spcPts val="2800"/>
              </a:lnSpc>
            </a:pPr>
            <a:r>
              <a:rPr lang="en-US" sz="2000">
                <a:solidFill>
                  <a:srgbClr val="794897"/>
                </a:solidFill>
                <a:latin typeface="Open Sans"/>
                <a:ea typeface="Open Sans"/>
                <a:cs typeface="Open Sans"/>
                <a:sym typeface="Open Sans"/>
              </a:rPr>
              <a:t>•Actual Velocity: 21 points</a:t>
            </a:r>
          </a:p>
          <a:p>
            <a:pPr algn="l">
              <a:lnSpc>
                <a:spcPts val="2800"/>
              </a:lnSpc>
            </a:pPr>
            <a:r>
              <a:rPr lang="en-US" sz="2000">
                <a:solidFill>
                  <a:srgbClr val="794897"/>
                </a:solidFill>
                <a:latin typeface="Open Sans"/>
                <a:ea typeface="Open Sans"/>
                <a:cs typeface="Open Sans"/>
                <a:sym typeface="Open Sans"/>
              </a:rPr>
              <a:t>•Sprint Predictability Rate: 100%</a:t>
            </a:r>
          </a:p>
          <a:p>
            <a:pPr algn="l">
              <a:lnSpc>
                <a:spcPts val="2800"/>
              </a:lnSpc>
            </a:pPr>
            <a:r>
              <a:rPr lang="en-US" sz="2000">
                <a:solidFill>
                  <a:srgbClr val="794897"/>
                </a:solidFill>
                <a:latin typeface="Open Sans"/>
                <a:ea typeface="Open Sans"/>
                <a:cs typeface="Open Sans"/>
                <a:sym typeface="Open Sans"/>
              </a:rPr>
              <a:t>•Sprint Addition Rate: 0%</a:t>
            </a:r>
          </a:p>
          <a:p>
            <a:pPr algn="l">
              <a:lnSpc>
                <a:spcPts val="2800"/>
              </a:lnSpc>
            </a:pPr>
            <a:r>
              <a:rPr lang="en-US" sz="2000">
                <a:solidFill>
                  <a:srgbClr val="794897"/>
                </a:solidFill>
                <a:latin typeface="Open Sans"/>
                <a:ea typeface="Open Sans"/>
                <a:cs typeface="Open Sans"/>
                <a:sym typeface="Open Sans"/>
              </a:rPr>
              <a:t>•Sprint Completion Rate: 100%</a:t>
            </a:r>
          </a:p>
          <a:p>
            <a:pPr algn="l">
              <a:lnSpc>
                <a:spcPts val="2800"/>
              </a:lnSpc>
            </a:pPr>
            <a:r>
              <a:rPr lang="en-US" sz="2000">
                <a:solidFill>
                  <a:srgbClr val="794897"/>
                </a:solidFill>
                <a:latin typeface="Open Sans"/>
                <a:ea typeface="Open Sans"/>
                <a:cs typeface="Open Sans"/>
                <a:sym typeface="Open Sans"/>
              </a:rPr>
              <a:t>All actions were kept and evaluated</a:t>
            </a:r>
          </a:p>
        </p:txBody>
      </p:sp>
      <p:sp>
        <p:nvSpPr>
          <p:cNvPr id="13" name="TextBox 13"/>
          <p:cNvSpPr txBox="1"/>
          <p:nvPr/>
        </p:nvSpPr>
        <p:spPr>
          <a:xfrm>
            <a:off x="12916154" y="5523335"/>
            <a:ext cx="3730547" cy="2463800"/>
          </a:xfrm>
          <a:prstGeom prst="rect">
            <a:avLst/>
          </a:prstGeom>
        </p:spPr>
        <p:txBody>
          <a:bodyPr lIns="0" tIns="0" rIns="0" bIns="0" rtlCol="0" anchor="t">
            <a:spAutoFit/>
          </a:bodyPr>
          <a:lstStyle/>
          <a:p>
            <a:pPr algn="l">
              <a:lnSpc>
                <a:spcPts val="2800"/>
              </a:lnSpc>
            </a:pPr>
            <a:r>
              <a:rPr lang="en-US" sz="2000">
                <a:solidFill>
                  <a:srgbClr val="794897"/>
                </a:solidFill>
                <a:latin typeface="Open Sans"/>
                <a:ea typeface="Open Sans"/>
                <a:cs typeface="Open Sans"/>
                <a:sym typeface="Open Sans"/>
              </a:rPr>
              <a:t>•Planned Velocity: 21 points</a:t>
            </a:r>
          </a:p>
          <a:p>
            <a:pPr algn="l">
              <a:lnSpc>
                <a:spcPts val="2800"/>
              </a:lnSpc>
            </a:pPr>
            <a:r>
              <a:rPr lang="en-US" sz="2000">
                <a:solidFill>
                  <a:srgbClr val="794897"/>
                </a:solidFill>
                <a:latin typeface="Open Sans"/>
                <a:ea typeface="Open Sans"/>
                <a:cs typeface="Open Sans"/>
                <a:sym typeface="Open Sans"/>
              </a:rPr>
              <a:t>•Actual Velocity: 26 points</a:t>
            </a:r>
          </a:p>
          <a:p>
            <a:pPr algn="l">
              <a:lnSpc>
                <a:spcPts val="2800"/>
              </a:lnSpc>
            </a:pPr>
            <a:r>
              <a:rPr lang="en-US" sz="2000">
                <a:solidFill>
                  <a:srgbClr val="794897"/>
                </a:solidFill>
                <a:latin typeface="Open Sans"/>
                <a:ea typeface="Open Sans"/>
                <a:cs typeface="Open Sans"/>
                <a:sym typeface="Open Sans"/>
              </a:rPr>
              <a:t>•Sprint Predictability Rate: 81%</a:t>
            </a:r>
          </a:p>
          <a:p>
            <a:pPr algn="l">
              <a:lnSpc>
                <a:spcPts val="2800"/>
              </a:lnSpc>
            </a:pPr>
            <a:r>
              <a:rPr lang="en-US" sz="2000">
                <a:solidFill>
                  <a:srgbClr val="794897"/>
                </a:solidFill>
                <a:latin typeface="Open Sans"/>
                <a:ea typeface="Open Sans"/>
                <a:cs typeface="Open Sans"/>
                <a:sym typeface="Open Sans"/>
              </a:rPr>
              <a:t>•Sprint Addition Rate: 24%</a:t>
            </a:r>
          </a:p>
          <a:p>
            <a:pPr algn="l">
              <a:lnSpc>
                <a:spcPts val="2800"/>
              </a:lnSpc>
            </a:pPr>
            <a:r>
              <a:rPr lang="en-US" sz="2000">
                <a:solidFill>
                  <a:srgbClr val="794897"/>
                </a:solidFill>
                <a:latin typeface="Open Sans"/>
                <a:ea typeface="Open Sans"/>
                <a:cs typeface="Open Sans"/>
                <a:sym typeface="Open Sans"/>
              </a:rPr>
              <a:t>•Sprint Completion Rate: 100%</a:t>
            </a:r>
          </a:p>
          <a:p>
            <a:pPr algn="l">
              <a:lnSpc>
                <a:spcPts val="2800"/>
              </a:lnSpc>
            </a:pPr>
            <a:r>
              <a:rPr lang="en-US" sz="2000">
                <a:solidFill>
                  <a:srgbClr val="794897"/>
                </a:solidFill>
                <a:latin typeface="Open Sans"/>
                <a:ea typeface="Open Sans"/>
                <a:cs typeface="Open Sans"/>
                <a:sym typeface="Open Sans"/>
              </a:rPr>
              <a:t>One additional action was added and evaluated</a:t>
            </a:r>
          </a:p>
        </p:txBody>
      </p:sp>
      <p:sp>
        <p:nvSpPr>
          <p:cNvPr id="14" name="TextBox 14"/>
          <p:cNvSpPr txBox="1"/>
          <p:nvPr/>
        </p:nvSpPr>
        <p:spPr>
          <a:xfrm>
            <a:off x="1028700" y="8686800"/>
            <a:ext cx="15358974" cy="1143000"/>
          </a:xfrm>
          <a:prstGeom prst="rect">
            <a:avLst/>
          </a:prstGeom>
        </p:spPr>
        <p:txBody>
          <a:bodyPr lIns="0" tIns="0" rIns="0" bIns="0" rtlCol="0" anchor="t">
            <a:spAutoFit/>
          </a:bodyPr>
          <a:lstStyle/>
          <a:p>
            <a:pPr algn="l">
              <a:lnSpc>
                <a:spcPts val="2280"/>
              </a:lnSpc>
              <a:spcBef>
                <a:spcPct val="0"/>
              </a:spcBef>
            </a:pPr>
            <a:r>
              <a:rPr lang="en-US" sz="1900" b="1">
                <a:solidFill>
                  <a:srgbClr val="794897"/>
                </a:solidFill>
                <a:latin typeface="Open Sans Bold"/>
                <a:ea typeface="Open Sans Bold"/>
                <a:cs typeface="Open Sans Bold"/>
                <a:sym typeface="Open Sans Bold"/>
              </a:rPr>
              <a:t>Overall, Sprint 1 and Sprint 2 demonstrated strong planning accuracy with 100% predictability and completion. In Sprint 3, although predictability decreased due to the addition of a new feature, the team successfully adapted and delivered all planned and additional work. This highlights our ability to balance planning discipline with flexibility, ensuring both consistency and value delivery throughout the project.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AEEF0"/>
        </a:solidFill>
        <a:effectLst/>
      </p:bgPr>
    </p:bg>
    <p:spTree>
      <p:nvGrpSpPr>
        <p:cNvPr id="1" name=""/>
        <p:cNvGrpSpPr/>
        <p:nvPr/>
      </p:nvGrpSpPr>
      <p:grpSpPr>
        <a:xfrm>
          <a:off x="0" y="0"/>
          <a:ext cx="0" cy="0"/>
          <a:chOff x="0" y="0"/>
          <a:chExt cx="0" cy="0"/>
        </a:xfrm>
      </p:grpSpPr>
      <p:sp>
        <p:nvSpPr>
          <p:cNvPr id="2" name="Freeform 2"/>
          <p:cNvSpPr/>
          <p:nvPr/>
        </p:nvSpPr>
        <p:spPr>
          <a:xfrm rot="-5400000">
            <a:off x="12148198" y="4147198"/>
            <a:ext cx="10807132" cy="1472472"/>
          </a:xfrm>
          <a:custGeom>
            <a:avLst/>
            <a:gdLst/>
            <a:ahLst/>
            <a:cxnLst/>
            <a:rect l="l" t="t" r="r" b="b"/>
            <a:pathLst>
              <a:path w="10807132" h="1472472">
                <a:moveTo>
                  <a:pt x="0" y="0"/>
                </a:moveTo>
                <a:lnTo>
                  <a:pt x="10807132" y="0"/>
                </a:lnTo>
                <a:lnTo>
                  <a:pt x="10807132" y="1472472"/>
                </a:lnTo>
                <a:lnTo>
                  <a:pt x="0" y="14724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873969" y="1303713"/>
            <a:ext cx="1934312" cy="761636"/>
          </a:xfrm>
          <a:custGeom>
            <a:avLst/>
            <a:gdLst/>
            <a:ahLst/>
            <a:cxnLst/>
            <a:rect l="l" t="t" r="r" b="b"/>
            <a:pathLst>
              <a:path w="1934312" h="761636">
                <a:moveTo>
                  <a:pt x="0" y="0"/>
                </a:moveTo>
                <a:lnTo>
                  <a:pt x="1934312" y="0"/>
                </a:lnTo>
                <a:lnTo>
                  <a:pt x="1934312" y="761636"/>
                </a:lnTo>
                <a:lnTo>
                  <a:pt x="0" y="7616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545672" y="8454365"/>
            <a:ext cx="14831749" cy="803935"/>
            <a:chOff x="0" y="0"/>
            <a:chExt cx="3906304" cy="211736"/>
          </a:xfrm>
        </p:grpSpPr>
        <p:sp>
          <p:nvSpPr>
            <p:cNvPr id="5" name="Freeform 5"/>
            <p:cNvSpPr/>
            <p:nvPr/>
          </p:nvSpPr>
          <p:spPr>
            <a:xfrm>
              <a:off x="0" y="0"/>
              <a:ext cx="3906304" cy="211736"/>
            </a:xfrm>
            <a:custGeom>
              <a:avLst/>
              <a:gdLst/>
              <a:ahLst/>
              <a:cxnLst/>
              <a:rect l="l" t="t" r="r" b="b"/>
              <a:pathLst>
                <a:path w="3906304" h="211736">
                  <a:moveTo>
                    <a:pt x="0" y="0"/>
                  </a:moveTo>
                  <a:lnTo>
                    <a:pt x="3906304" y="0"/>
                  </a:lnTo>
                  <a:lnTo>
                    <a:pt x="3906304" y="211736"/>
                  </a:lnTo>
                  <a:lnTo>
                    <a:pt x="0" y="211736"/>
                  </a:lnTo>
                  <a:close/>
                </a:path>
              </a:pathLst>
            </a:custGeom>
            <a:solidFill>
              <a:srgbClr val="76ADE5"/>
            </a:solidFill>
          </p:spPr>
        </p:sp>
        <p:sp>
          <p:nvSpPr>
            <p:cNvPr id="6" name="TextBox 6"/>
            <p:cNvSpPr txBox="1"/>
            <p:nvPr/>
          </p:nvSpPr>
          <p:spPr>
            <a:xfrm>
              <a:off x="0" y="-38100"/>
              <a:ext cx="3906304" cy="249836"/>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0" y="8454365"/>
            <a:ext cx="16050413" cy="803935"/>
            <a:chOff x="0" y="0"/>
            <a:chExt cx="4227269" cy="211736"/>
          </a:xfrm>
        </p:grpSpPr>
        <p:sp>
          <p:nvSpPr>
            <p:cNvPr id="8" name="Freeform 8"/>
            <p:cNvSpPr/>
            <p:nvPr/>
          </p:nvSpPr>
          <p:spPr>
            <a:xfrm>
              <a:off x="0" y="0"/>
              <a:ext cx="4227269" cy="211736"/>
            </a:xfrm>
            <a:custGeom>
              <a:avLst/>
              <a:gdLst/>
              <a:ahLst/>
              <a:cxnLst/>
              <a:rect l="l" t="t" r="r" b="b"/>
              <a:pathLst>
                <a:path w="4227269" h="211736">
                  <a:moveTo>
                    <a:pt x="0" y="0"/>
                  </a:moveTo>
                  <a:lnTo>
                    <a:pt x="4227269" y="0"/>
                  </a:lnTo>
                  <a:lnTo>
                    <a:pt x="4227269" y="211736"/>
                  </a:lnTo>
                  <a:lnTo>
                    <a:pt x="0" y="211736"/>
                  </a:lnTo>
                  <a:close/>
                </a:path>
              </a:pathLst>
            </a:custGeom>
            <a:solidFill>
              <a:srgbClr val="5E50A0"/>
            </a:solidFill>
          </p:spPr>
        </p:sp>
        <p:sp>
          <p:nvSpPr>
            <p:cNvPr id="9" name="TextBox 9"/>
            <p:cNvSpPr txBox="1"/>
            <p:nvPr/>
          </p:nvSpPr>
          <p:spPr>
            <a:xfrm>
              <a:off x="0" y="-38100"/>
              <a:ext cx="4227269" cy="249836"/>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622149" y="8454365"/>
            <a:ext cx="1475840" cy="803935"/>
            <a:chOff x="0" y="0"/>
            <a:chExt cx="388699" cy="211736"/>
          </a:xfrm>
        </p:grpSpPr>
        <p:sp>
          <p:nvSpPr>
            <p:cNvPr id="11" name="Freeform 11"/>
            <p:cNvSpPr/>
            <p:nvPr/>
          </p:nvSpPr>
          <p:spPr>
            <a:xfrm>
              <a:off x="0" y="0"/>
              <a:ext cx="388699" cy="211736"/>
            </a:xfrm>
            <a:custGeom>
              <a:avLst/>
              <a:gdLst/>
              <a:ahLst/>
              <a:cxnLst/>
              <a:rect l="l" t="t" r="r" b="b"/>
              <a:pathLst>
                <a:path w="388699" h="211736">
                  <a:moveTo>
                    <a:pt x="0" y="0"/>
                  </a:moveTo>
                  <a:lnTo>
                    <a:pt x="388699" y="0"/>
                  </a:lnTo>
                  <a:lnTo>
                    <a:pt x="388699" y="211736"/>
                  </a:lnTo>
                  <a:lnTo>
                    <a:pt x="0" y="211736"/>
                  </a:lnTo>
                  <a:close/>
                </a:path>
              </a:pathLst>
            </a:custGeom>
            <a:solidFill>
              <a:srgbClr val="794897"/>
            </a:solidFill>
          </p:spPr>
        </p:sp>
        <p:sp>
          <p:nvSpPr>
            <p:cNvPr id="12" name="TextBox 12"/>
            <p:cNvSpPr txBox="1"/>
            <p:nvPr/>
          </p:nvSpPr>
          <p:spPr>
            <a:xfrm>
              <a:off x="0" y="-38100"/>
              <a:ext cx="388699" cy="249836"/>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48471" y="2422809"/>
            <a:ext cx="4752975" cy="5591175"/>
            <a:chOff x="0" y="0"/>
            <a:chExt cx="1251812" cy="1472573"/>
          </a:xfrm>
        </p:grpSpPr>
        <p:sp>
          <p:nvSpPr>
            <p:cNvPr id="14" name="Freeform 14"/>
            <p:cNvSpPr/>
            <p:nvPr/>
          </p:nvSpPr>
          <p:spPr>
            <a:xfrm>
              <a:off x="0" y="0"/>
              <a:ext cx="1251812" cy="1472573"/>
            </a:xfrm>
            <a:custGeom>
              <a:avLst/>
              <a:gdLst/>
              <a:ahLst/>
              <a:cxnLst/>
              <a:rect l="l" t="t" r="r" b="b"/>
              <a:pathLst>
                <a:path w="1251812" h="1472573">
                  <a:moveTo>
                    <a:pt x="83072" y="0"/>
                  </a:moveTo>
                  <a:lnTo>
                    <a:pt x="1168741" y="0"/>
                  </a:lnTo>
                  <a:cubicBezTo>
                    <a:pt x="1190773" y="0"/>
                    <a:pt x="1211902" y="8752"/>
                    <a:pt x="1227481" y="24331"/>
                  </a:cubicBezTo>
                  <a:cubicBezTo>
                    <a:pt x="1243060" y="39910"/>
                    <a:pt x="1251812" y="61040"/>
                    <a:pt x="1251812" y="83072"/>
                  </a:cubicBezTo>
                  <a:lnTo>
                    <a:pt x="1251812" y="1389501"/>
                  </a:lnTo>
                  <a:cubicBezTo>
                    <a:pt x="1251812" y="1411533"/>
                    <a:pt x="1243060" y="1432663"/>
                    <a:pt x="1227481" y="1448242"/>
                  </a:cubicBezTo>
                  <a:cubicBezTo>
                    <a:pt x="1211902" y="1463821"/>
                    <a:pt x="1190773" y="1472573"/>
                    <a:pt x="1168741" y="1472573"/>
                  </a:cubicBezTo>
                  <a:lnTo>
                    <a:pt x="83072" y="1472573"/>
                  </a:lnTo>
                  <a:cubicBezTo>
                    <a:pt x="61040" y="1472573"/>
                    <a:pt x="39910" y="1463821"/>
                    <a:pt x="24331" y="1448242"/>
                  </a:cubicBezTo>
                  <a:cubicBezTo>
                    <a:pt x="8752" y="1432663"/>
                    <a:pt x="0" y="1411533"/>
                    <a:pt x="0" y="1389501"/>
                  </a:cubicBezTo>
                  <a:lnTo>
                    <a:pt x="0" y="83072"/>
                  </a:lnTo>
                  <a:cubicBezTo>
                    <a:pt x="0" y="61040"/>
                    <a:pt x="8752" y="39910"/>
                    <a:pt x="24331" y="24331"/>
                  </a:cubicBezTo>
                  <a:cubicBezTo>
                    <a:pt x="39910" y="8752"/>
                    <a:pt x="61040" y="0"/>
                    <a:pt x="83072" y="0"/>
                  </a:cubicBezTo>
                  <a:close/>
                </a:path>
              </a:pathLst>
            </a:custGeom>
            <a:solidFill>
              <a:srgbClr val="EAEEF0"/>
            </a:solidFill>
            <a:ln w="38100" cap="rnd">
              <a:solidFill>
                <a:srgbClr val="FF3131"/>
              </a:solidFill>
              <a:prstDash val="solid"/>
              <a:round/>
            </a:ln>
          </p:spPr>
        </p:sp>
        <p:sp>
          <p:nvSpPr>
            <p:cNvPr id="15" name="TextBox 15"/>
            <p:cNvSpPr txBox="1"/>
            <p:nvPr/>
          </p:nvSpPr>
          <p:spPr>
            <a:xfrm>
              <a:off x="0" y="-38100"/>
              <a:ext cx="1251812" cy="151067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a:t>
              </a:r>
            </a:p>
          </p:txBody>
        </p:sp>
      </p:grpSp>
      <p:sp>
        <p:nvSpPr>
          <p:cNvPr id="16" name="TextBox 16"/>
          <p:cNvSpPr txBox="1"/>
          <p:nvPr/>
        </p:nvSpPr>
        <p:spPr>
          <a:xfrm>
            <a:off x="1028700" y="689259"/>
            <a:ext cx="13263330" cy="1295400"/>
          </a:xfrm>
          <a:prstGeom prst="rect">
            <a:avLst/>
          </a:prstGeom>
        </p:spPr>
        <p:txBody>
          <a:bodyPr lIns="0" tIns="0" rIns="0" bIns="0" rtlCol="0" anchor="t">
            <a:spAutoFit/>
          </a:bodyPr>
          <a:lstStyle/>
          <a:p>
            <a:pPr algn="l">
              <a:lnSpc>
                <a:spcPts val="9900"/>
              </a:lnSpc>
            </a:pPr>
            <a:r>
              <a:rPr lang="en-US" sz="9000">
                <a:solidFill>
                  <a:srgbClr val="5E50A0"/>
                </a:solidFill>
                <a:latin typeface="Anton"/>
                <a:ea typeface="Anton"/>
                <a:cs typeface="Anton"/>
                <a:sym typeface="Anton"/>
              </a:rPr>
              <a:t>SPRINT 3 - </a:t>
            </a:r>
            <a:r>
              <a:rPr lang="en-US" sz="9000">
                <a:solidFill>
                  <a:srgbClr val="794897"/>
                </a:solidFill>
                <a:latin typeface="Anton"/>
                <a:ea typeface="Anton"/>
                <a:cs typeface="Anton"/>
                <a:sym typeface="Anton"/>
              </a:rPr>
              <a:t>RETROSPECTIVE</a:t>
            </a:r>
          </a:p>
        </p:txBody>
      </p:sp>
      <p:sp>
        <p:nvSpPr>
          <p:cNvPr id="17" name="TextBox 17"/>
          <p:cNvSpPr txBox="1"/>
          <p:nvPr/>
        </p:nvSpPr>
        <p:spPr>
          <a:xfrm>
            <a:off x="1028700" y="3373758"/>
            <a:ext cx="3779119" cy="436562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2C1F36"/>
                </a:solidFill>
                <a:latin typeface="Open Sans"/>
                <a:ea typeface="Open Sans"/>
                <a:cs typeface="Open Sans"/>
                <a:sym typeface="Open Sans"/>
              </a:rPr>
              <a:t>Adding new features mid-sprint without buffer planning</a:t>
            </a:r>
          </a:p>
          <a:p>
            <a:pPr marL="539749" lvl="1" indent="-269875" algn="l">
              <a:lnSpc>
                <a:spcPts val="3499"/>
              </a:lnSpc>
              <a:buFont typeface="Arial"/>
              <a:buChar char="•"/>
            </a:pPr>
            <a:r>
              <a:rPr lang="en-US" sz="2499">
                <a:solidFill>
                  <a:srgbClr val="2C1F36"/>
                </a:solidFill>
                <a:latin typeface="Open Sans"/>
                <a:ea typeface="Open Sans"/>
                <a:cs typeface="Open Sans"/>
                <a:sym typeface="Open Sans"/>
              </a:rPr>
              <a:t>Slight deviation from initial sprint commitment</a:t>
            </a:r>
          </a:p>
          <a:p>
            <a:pPr marL="539749" lvl="1" indent="-269875" algn="l">
              <a:lnSpc>
                <a:spcPts val="3499"/>
              </a:lnSpc>
              <a:buFont typeface="Arial"/>
              <a:buChar char="•"/>
            </a:pPr>
            <a:r>
              <a:rPr lang="en-US" sz="2499">
                <a:solidFill>
                  <a:srgbClr val="2C1F36"/>
                </a:solidFill>
                <a:latin typeface="Open Sans"/>
                <a:ea typeface="Open Sans"/>
                <a:cs typeface="Open Sans"/>
                <a:sym typeface="Open Sans"/>
              </a:rPr>
              <a:t>Relying more on manual coordination instead of structured tracking</a:t>
            </a:r>
          </a:p>
        </p:txBody>
      </p:sp>
      <p:sp>
        <p:nvSpPr>
          <p:cNvPr id="18" name="TextBox 18"/>
          <p:cNvSpPr txBox="1"/>
          <p:nvPr/>
        </p:nvSpPr>
        <p:spPr>
          <a:xfrm>
            <a:off x="1028700" y="2742226"/>
            <a:ext cx="1248868" cy="457200"/>
          </a:xfrm>
          <a:prstGeom prst="rect">
            <a:avLst/>
          </a:prstGeom>
        </p:spPr>
        <p:txBody>
          <a:bodyPr lIns="0" tIns="0" rIns="0" bIns="0" rtlCol="0" anchor="t">
            <a:spAutoFit/>
          </a:bodyPr>
          <a:lstStyle/>
          <a:p>
            <a:pPr algn="l">
              <a:lnSpc>
                <a:spcPts val="3600"/>
              </a:lnSpc>
            </a:pPr>
            <a:r>
              <a:rPr lang="en-US" sz="3000" b="1">
                <a:solidFill>
                  <a:srgbClr val="5E50A0"/>
                </a:solidFill>
                <a:latin typeface="Open Sans Bold"/>
                <a:ea typeface="Open Sans Bold"/>
                <a:cs typeface="Open Sans Bold"/>
                <a:sym typeface="Open Sans Bold"/>
              </a:rPr>
              <a:t>STOP</a:t>
            </a:r>
          </a:p>
        </p:txBody>
      </p:sp>
      <p:grpSp>
        <p:nvGrpSpPr>
          <p:cNvPr id="19" name="Group 19"/>
          <p:cNvGrpSpPr/>
          <p:nvPr/>
        </p:nvGrpSpPr>
        <p:grpSpPr>
          <a:xfrm>
            <a:off x="6479782" y="2422809"/>
            <a:ext cx="4752975" cy="5591175"/>
            <a:chOff x="0" y="0"/>
            <a:chExt cx="1251812" cy="1472573"/>
          </a:xfrm>
        </p:grpSpPr>
        <p:sp>
          <p:nvSpPr>
            <p:cNvPr id="20" name="Freeform 20"/>
            <p:cNvSpPr/>
            <p:nvPr/>
          </p:nvSpPr>
          <p:spPr>
            <a:xfrm>
              <a:off x="0" y="0"/>
              <a:ext cx="1251812" cy="1472573"/>
            </a:xfrm>
            <a:custGeom>
              <a:avLst/>
              <a:gdLst/>
              <a:ahLst/>
              <a:cxnLst/>
              <a:rect l="l" t="t" r="r" b="b"/>
              <a:pathLst>
                <a:path w="1251812" h="1472573">
                  <a:moveTo>
                    <a:pt x="83072" y="0"/>
                  </a:moveTo>
                  <a:lnTo>
                    <a:pt x="1168741" y="0"/>
                  </a:lnTo>
                  <a:cubicBezTo>
                    <a:pt x="1190773" y="0"/>
                    <a:pt x="1211902" y="8752"/>
                    <a:pt x="1227481" y="24331"/>
                  </a:cubicBezTo>
                  <a:cubicBezTo>
                    <a:pt x="1243060" y="39910"/>
                    <a:pt x="1251812" y="61040"/>
                    <a:pt x="1251812" y="83072"/>
                  </a:cubicBezTo>
                  <a:lnTo>
                    <a:pt x="1251812" y="1389501"/>
                  </a:lnTo>
                  <a:cubicBezTo>
                    <a:pt x="1251812" y="1411533"/>
                    <a:pt x="1243060" y="1432663"/>
                    <a:pt x="1227481" y="1448242"/>
                  </a:cubicBezTo>
                  <a:cubicBezTo>
                    <a:pt x="1211902" y="1463821"/>
                    <a:pt x="1190773" y="1472573"/>
                    <a:pt x="1168741" y="1472573"/>
                  </a:cubicBezTo>
                  <a:lnTo>
                    <a:pt x="83072" y="1472573"/>
                  </a:lnTo>
                  <a:cubicBezTo>
                    <a:pt x="61040" y="1472573"/>
                    <a:pt x="39910" y="1463821"/>
                    <a:pt x="24331" y="1448242"/>
                  </a:cubicBezTo>
                  <a:cubicBezTo>
                    <a:pt x="8752" y="1432663"/>
                    <a:pt x="0" y="1411533"/>
                    <a:pt x="0" y="1389501"/>
                  </a:cubicBezTo>
                  <a:lnTo>
                    <a:pt x="0" y="83072"/>
                  </a:lnTo>
                  <a:cubicBezTo>
                    <a:pt x="0" y="61040"/>
                    <a:pt x="8752" y="39910"/>
                    <a:pt x="24331" y="24331"/>
                  </a:cubicBezTo>
                  <a:cubicBezTo>
                    <a:pt x="39910" y="8752"/>
                    <a:pt x="61040" y="0"/>
                    <a:pt x="83072" y="0"/>
                  </a:cubicBezTo>
                  <a:close/>
                </a:path>
              </a:pathLst>
            </a:custGeom>
            <a:solidFill>
              <a:srgbClr val="EAEEF0"/>
            </a:solidFill>
            <a:ln w="38100" cap="rnd">
              <a:solidFill>
                <a:srgbClr val="00BF63"/>
              </a:solidFill>
              <a:prstDash val="solid"/>
              <a:round/>
            </a:ln>
          </p:spPr>
        </p:sp>
        <p:sp>
          <p:nvSpPr>
            <p:cNvPr id="21" name="TextBox 21"/>
            <p:cNvSpPr txBox="1"/>
            <p:nvPr/>
          </p:nvSpPr>
          <p:spPr>
            <a:xfrm>
              <a:off x="0" y="-38100"/>
              <a:ext cx="1251812" cy="151067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a:t>
              </a:r>
            </a:p>
          </p:txBody>
        </p:sp>
      </p:grpSp>
      <p:sp>
        <p:nvSpPr>
          <p:cNvPr id="22" name="TextBox 22"/>
          <p:cNvSpPr txBox="1"/>
          <p:nvPr/>
        </p:nvSpPr>
        <p:spPr>
          <a:xfrm>
            <a:off x="6753979" y="2742226"/>
            <a:ext cx="1271228" cy="457200"/>
          </a:xfrm>
          <a:prstGeom prst="rect">
            <a:avLst/>
          </a:prstGeom>
        </p:spPr>
        <p:txBody>
          <a:bodyPr lIns="0" tIns="0" rIns="0" bIns="0" rtlCol="0" anchor="t">
            <a:spAutoFit/>
          </a:bodyPr>
          <a:lstStyle/>
          <a:p>
            <a:pPr algn="l">
              <a:lnSpc>
                <a:spcPts val="3600"/>
              </a:lnSpc>
            </a:pPr>
            <a:r>
              <a:rPr lang="en-US" sz="3000" b="1">
                <a:solidFill>
                  <a:srgbClr val="5E50A0"/>
                </a:solidFill>
                <a:latin typeface="Open Sans Bold"/>
                <a:ea typeface="Open Sans Bold"/>
                <a:cs typeface="Open Sans Bold"/>
                <a:sym typeface="Open Sans Bold"/>
              </a:rPr>
              <a:t>START</a:t>
            </a:r>
          </a:p>
        </p:txBody>
      </p:sp>
      <p:grpSp>
        <p:nvGrpSpPr>
          <p:cNvPr id="23" name="Group 23"/>
          <p:cNvGrpSpPr/>
          <p:nvPr/>
        </p:nvGrpSpPr>
        <p:grpSpPr>
          <a:xfrm>
            <a:off x="11685361" y="2422809"/>
            <a:ext cx="4752975" cy="5591175"/>
            <a:chOff x="0" y="0"/>
            <a:chExt cx="1251812" cy="1472573"/>
          </a:xfrm>
        </p:grpSpPr>
        <p:sp>
          <p:nvSpPr>
            <p:cNvPr id="24" name="Freeform 24"/>
            <p:cNvSpPr/>
            <p:nvPr/>
          </p:nvSpPr>
          <p:spPr>
            <a:xfrm>
              <a:off x="0" y="0"/>
              <a:ext cx="1251812" cy="1472573"/>
            </a:xfrm>
            <a:custGeom>
              <a:avLst/>
              <a:gdLst/>
              <a:ahLst/>
              <a:cxnLst/>
              <a:rect l="l" t="t" r="r" b="b"/>
              <a:pathLst>
                <a:path w="1251812" h="1472573">
                  <a:moveTo>
                    <a:pt x="83072" y="0"/>
                  </a:moveTo>
                  <a:lnTo>
                    <a:pt x="1168741" y="0"/>
                  </a:lnTo>
                  <a:cubicBezTo>
                    <a:pt x="1190773" y="0"/>
                    <a:pt x="1211902" y="8752"/>
                    <a:pt x="1227481" y="24331"/>
                  </a:cubicBezTo>
                  <a:cubicBezTo>
                    <a:pt x="1243060" y="39910"/>
                    <a:pt x="1251812" y="61040"/>
                    <a:pt x="1251812" y="83072"/>
                  </a:cubicBezTo>
                  <a:lnTo>
                    <a:pt x="1251812" y="1389501"/>
                  </a:lnTo>
                  <a:cubicBezTo>
                    <a:pt x="1251812" y="1411533"/>
                    <a:pt x="1243060" y="1432663"/>
                    <a:pt x="1227481" y="1448242"/>
                  </a:cubicBezTo>
                  <a:cubicBezTo>
                    <a:pt x="1211902" y="1463821"/>
                    <a:pt x="1190773" y="1472573"/>
                    <a:pt x="1168741" y="1472573"/>
                  </a:cubicBezTo>
                  <a:lnTo>
                    <a:pt x="83072" y="1472573"/>
                  </a:lnTo>
                  <a:cubicBezTo>
                    <a:pt x="61040" y="1472573"/>
                    <a:pt x="39910" y="1463821"/>
                    <a:pt x="24331" y="1448242"/>
                  </a:cubicBezTo>
                  <a:cubicBezTo>
                    <a:pt x="8752" y="1432663"/>
                    <a:pt x="0" y="1411533"/>
                    <a:pt x="0" y="1389501"/>
                  </a:cubicBezTo>
                  <a:lnTo>
                    <a:pt x="0" y="83072"/>
                  </a:lnTo>
                  <a:cubicBezTo>
                    <a:pt x="0" y="61040"/>
                    <a:pt x="8752" y="39910"/>
                    <a:pt x="24331" y="24331"/>
                  </a:cubicBezTo>
                  <a:cubicBezTo>
                    <a:pt x="39910" y="8752"/>
                    <a:pt x="61040" y="0"/>
                    <a:pt x="83072" y="0"/>
                  </a:cubicBezTo>
                  <a:close/>
                </a:path>
              </a:pathLst>
            </a:custGeom>
            <a:solidFill>
              <a:srgbClr val="EAEEF0"/>
            </a:solidFill>
            <a:ln w="38100" cap="rnd">
              <a:solidFill>
                <a:srgbClr val="1800AD"/>
              </a:solidFill>
              <a:prstDash val="solid"/>
              <a:round/>
            </a:ln>
          </p:spPr>
        </p:sp>
        <p:sp>
          <p:nvSpPr>
            <p:cNvPr id="25" name="TextBox 25"/>
            <p:cNvSpPr txBox="1"/>
            <p:nvPr/>
          </p:nvSpPr>
          <p:spPr>
            <a:xfrm>
              <a:off x="0" y="-38100"/>
              <a:ext cx="1251812" cy="151067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a:t>
              </a:r>
            </a:p>
          </p:txBody>
        </p:sp>
      </p:grpSp>
      <p:sp>
        <p:nvSpPr>
          <p:cNvPr id="26" name="TextBox 26"/>
          <p:cNvSpPr txBox="1"/>
          <p:nvPr/>
        </p:nvSpPr>
        <p:spPr>
          <a:xfrm>
            <a:off x="12126380" y="2742226"/>
            <a:ext cx="2165650" cy="457200"/>
          </a:xfrm>
          <a:prstGeom prst="rect">
            <a:avLst/>
          </a:prstGeom>
        </p:spPr>
        <p:txBody>
          <a:bodyPr lIns="0" tIns="0" rIns="0" bIns="0" rtlCol="0" anchor="t">
            <a:spAutoFit/>
          </a:bodyPr>
          <a:lstStyle/>
          <a:p>
            <a:pPr algn="l">
              <a:lnSpc>
                <a:spcPts val="3600"/>
              </a:lnSpc>
            </a:pPr>
            <a:r>
              <a:rPr lang="en-US" sz="3000" b="1">
                <a:solidFill>
                  <a:srgbClr val="5E50A0"/>
                </a:solidFill>
                <a:latin typeface="Open Sans Bold"/>
                <a:ea typeface="Open Sans Bold"/>
                <a:cs typeface="Open Sans Bold"/>
                <a:sym typeface="Open Sans Bold"/>
              </a:rPr>
              <a:t>CONTINUE</a:t>
            </a:r>
          </a:p>
        </p:txBody>
      </p:sp>
      <p:sp>
        <p:nvSpPr>
          <p:cNvPr id="27" name="TextBox 27"/>
          <p:cNvSpPr txBox="1"/>
          <p:nvPr/>
        </p:nvSpPr>
        <p:spPr>
          <a:xfrm>
            <a:off x="6753979" y="3373758"/>
            <a:ext cx="3779119" cy="436562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2C1F36"/>
                </a:solidFill>
                <a:latin typeface="Open Sans"/>
                <a:ea typeface="Open Sans"/>
                <a:cs typeface="Open Sans"/>
                <a:sym typeface="Open Sans"/>
              </a:rPr>
              <a:t>Early discussion before introducing scope changes</a:t>
            </a:r>
          </a:p>
          <a:p>
            <a:pPr marL="539749" lvl="1" indent="-269875" algn="l">
              <a:lnSpc>
                <a:spcPts val="3499"/>
              </a:lnSpc>
              <a:buFont typeface="Arial"/>
              <a:buChar char="•"/>
            </a:pPr>
            <a:r>
              <a:rPr lang="en-US" sz="2499">
                <a:solidFill>
                  <a:srgbClr val="2C1F36"/>
                </a:solidFill>
                <a:latin typeface="Open Sans"/>
                <a:ea typeface="Open Sans"/>
                <a:cs typeface="Open Sans"/>
                <a:sym typeface="Open Sans"/>
              </a:rPr>
              <a:t>Improving estimation accuracy for dynamic features</a:t>
            </a:r>
          </a:p>
          <a:p>
            <a:pPr marL="539749" lvl="1" indent="-269875" algn="l">
              <a:lnSpc>
                <a:spcPts val="3499"/>
              </a:lnSpc>
              <a:buFont typeface="Arial"/>
              <a:buChar char="•"/>
            </a:pPr>
            <a:r>
              <a:rPr lang="en-US" sz="2499">
                <a:solidFill>
                  <a:srgbClr val="2C1F36"/>
                </a:solidFill>
                <a:latin typeface="Open Sans"/>
                <a:ea typeface="Open Sans"/>
                <a:cs typeface="Open Sans"/>
                <a:sym typeface="Open Sans"/>
              </a:rPr>
              <a:t>Strengthening communication between frontend &amp; backend</a:t>
            </a:r>
          </a:p>
        </p:txBody>
      </p:sp>
      <p:sp>
        <p:nvSpPr>
          <p:cNvPr id="28" name="TextBox 28"/>
          <p:cNvSpPr txBox="1"/>
          <p:nvPr/>
        </p:nvSpPr>
        <p:spPr>
          <a:xfrm>
            <a:off x="12062006" y="3373758"/>
            <a:ext cx="3779119" cy="392747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2C1F36"/>
                </a:solidFill>
                <a:latin typeface="Open Sans"/>
                <a:ea typeface="Open Sans"/>
                <a:cs typeface="Open Sans"/>
                <a:sym typeface="Open Sans"/>
              </a:rPr>
              <a:t>Completing all committed and additional tasks</a:t>
            </a:r>
          </a:p>
          <a:p>
            <a:pPr marL="539749" lvl="1" indent="-269875" algn="l">
              <a:lnSpc>
                <a:spcPts val="3499"/>
              </a:lnSpc>
              <a:buFont typeface="Arial"/>
              <a:buChar char="•"/>
            </a:pPr>
            <a:r>
              <a:rPr lang="en-US" sz="2499">
                <a:solidFill>
                  <a:srgbClr val="2C1F36"/>
                </a:solidFill>
                <a:latin typeface="Open Sans"/>
                <a:ea typeface="Open Sans"/>
                <a:cs typeface="Open Sans"/>
                <a:sym typeface="Open Sans"/>
              </a:rPr>
              <a:t>Using CI/CD tools (GitHub Actions, testing pipelines)</a:t>
            </a:r>
          </a:p>
          <a:p>
            <a:pPr marL="539749" lvl="1" indent="-269875" algn="l">
              <a:lnSpc>
                <a:spcPts val="3499"/>
              </a:lnSpc>
              <a:buFont typeface="Arial"/>
              <a:buChar char="•"/>
            </a:pPr>
            <a:r>
              <a:rPr lang="en-US" sz="2499">
                <a:solidFill>
                  <a:srgbClr val="2C1F36"/>
                </a:solidFill>
                <a:latin typeface="Open Sans"/>
                <a:ea typeface="Open Sans"/>
                <a:cs typeface="Open Sans"/>
                <a:sym typeface="Open Sans"/>
              </a:rPr>
              <a:t>Maintaining transparency through regular updates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AEEF0"/>
        </a:solidFill>
        <a:effectLst/>
      </p:bgPr>
    </p:bg>
    <p:spTree>
      <p:nvGrpSpPr>
        <p:cNvPr id="1" name=""/>
        <p:cNvGrpSpPr/>
        <p:nvPr/>
      </p:nvGrpSpPr>
      <p:grpSpPr>
        <a:xfrm>
          <a:off x="0" y="0"/>
          <a:ext cx="0" cy="0"/>
          <a:chOff x="0" y="0"/>
          <a:chExt cx="0" cy="0"/>
        </a:xfrm>
      </p:grpSpPr>
      <p:sp>
        <p:nvSpPr>
          <p:cNvPr id="2" name="Freeform 2"/>
          <p:cNvSpPr/>
          <p:nvPr/>
        </p:nvSpPr>
        <p:spPr>
          <a:xfrm rot="-10800000">
            <a:off x="12372099" y="0"/>
            <a:ext cx="5915901" cy="5753214"/>
          </a:xfrm>
          <a:custGeom>
            <a:avLst/>
            <a:gdLst/>
            <a:ahLst/>
            <a:cxnLst/>
            <a:rect l="l" t="t" r="r" b="b"/>
            <a:pathLst>
              <a:path w="5915901" h="5753214">
                <a:moveTo>
                  <a:pt x="0" y="0"/>
                </a:moveTo>
                <a:lnTo>
                  <a:pt x="5915901" y="0"/>
                </a:lnTo>
                <a:lnTo>
                  <a:pt x="5915901" y="5753214"/>
                </a:lnTo>
                <a:lnTo>
                  <a:pt x="0" y="57532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flipH="1" flipV="1">
            <a:off x="0" y="4533786"/>
            <a:ext cx="5915901" cy="5753214"/>
          </a:xfrm>
          <a:custGeom>
            <a:avLst/>
            <a:gdLst/>
            <a:ahLst/>
            <a:cxnLst/>
            <a:rect l="l" t="t" r="r" b="b"/>
            <a:pathLst>
              <a:path w="5915901" h="5753214">
                <a:moveTo>
                  <a:pt x="5915901" y="5753214"/>
                </a:moveTo>
                <a:lnTo>
                  <a:pt x="0" y="5753214"/>
                </a:lnTo>
                <a:lnTo>
                  <a:pt x="0" y="0"/>
                </a:lnTo>
                <a:lnTo>
                  <a:pt x="5915901" y="0"/>
                </a:lnTo>
                <a:lnTo>
                  <a:pt x="5915901" y="5753214"/>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28700" y="-820386"/>
            <a:ext cx="11894548" cy="2217578"/>
            <a:chOff x="0" y="0"/>
            <a:chExt cx="1140811" cy="212689"/>
          </a:xfrm>
        </p:grpSpPr>
        <p:sp>
          <p:nvSpPr>
            <p:cNvPr id="5" name="Freeform 5"/>
            <p:cNvSpPr/>
            <p:nvPr/>
          </p:nvSpPr>
          <p:spPr>
            <a:xfrm>
              <a:off x="0" y="0"/>
              <a:ext cx="1140811" cy="212689"/>
            </a:xfrm>
            <a:custGeom>
              <a:avLst/>
              <a:gdLst/>
              <a:ahLst/>
              <a:cxnLst/>
              <a:rect l="l" t="t" r="r" b="b"/>
              <a:pathLst>
                <a:path w="1140811" h="212689">
                  <a:moveTo>
                    <a:pt x="937611" y="0"/>
                  </a:moveTo>
                  <a:lnTo>
                    <a:pt x="0" y="0"/>
                  </a:lnTo>
                  <a:lnTo>
                    <a:pt x="203200" y="212689"/>
                  </a:lnTo>
                  <a:lnTo>
                    <a:pt x="1140811" y="212689"/>
                  </a:lnTo>
                  <a:lnTo>
                    <a:pt x="937611" y="0"/>
                  </a:lnTo>
                  <a:close/>
                </a:path>
              </a:pathLst>
            </a:custGeom>
            <a:ln w="76200" cap="sq">
              <a:solidFill>
                <a:srgbClr val="76ADE5"/>
              </a:solidFill>
              <a:prstDash val="solid"/>
              <a:miter/>
            </a:ln>
          </p:spPr>
        </p:sp>
        <p:sp>
          <p:nvSpPr>
            <p:cNvPr id="6" name="TextBox 6"/>
            <p:cNvSpPr txBox="1"/>
            <p:nvPr/>
          </p:nvSpPr>
          <p:spPr>
            <a:xfrm>
              <a:off x="101600" y="-38100"/>
              <a:ext cx="937611" cy="250789"/>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142886" y="8808101"/>
            <a:ext cx="11894548" cy="2217578"/>
            <a:chOff x="0" y="0"/>
            <a:chExt cx="1140811" cy="212689"/>
          </a:xfrm>
        </p:grpSpPr>
        <p:sp>
          <p:nvSpPr>
            <p:cNvPr id="8" name="Freeform 8"/>
            <p:cNvSpPr/>
            <p:nvPr/>
          </p:nvSpPr>
          <p:spPr>
            <a:xfrm>
              <a:off x="0" y="0"/>
              <a:ext cx="1140811" cy="212689"/>
            </a:xfrm>
            <a:custGeom>
              <a:avLst/>
              <a:gdLst/>
              <a:ahLst/>
              <a:cxnLst/>
              <a:rect l="l" t="t" r="r" b="b"/>
              <a:pathLst>
                <a:path w="1140811" h="212689">
                  <a:moveTo>
                    <a:pt x="937611" y="0"/>
                  </a:moveTo>
                  <a:lnTo>
                    <a:pt x="0" y="0"/>
                  </a:lnTo>
                  <a:lnTo>
                    <a:pt x="203200" y="212689"/>
                  </a:lnTo>
                  <a:lnTo>
                    <a:pt x="1140811" y="212689"/>
                  </a:lnTo>
                  <a:lnTo>
                    <a:pt x="937611" y="0"/>
                  </a:lnTo>
                  <a:close/>
                </a:path>
              </a:pathLst>
            </a:custGeom>
            <a:ln w="76200" cap="sq">
              <a:solidFill>
                <a:srgbClr val="76ADE5"/>
              </a:solidFill>
              <a:prstDash val="solid"/>
              <a:miter/>
            </a:ln>
          </p:spPr>
        </p:sp>
        <p:sp>
          <p:nvSpPr>
            <p:cNvPr id="9" name="TextBox 9"/>
            <p:cNvSpPr txBox="1"/>
            <p:nvPr/>
          </p:nvSpPr>
          <p:spPr>
            <a:xfrm>
              <a:off x="101600" y="-38100"/>
              <a:ext cx="937611" cy="250789"/>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8965971" y="-388655"/>
            <a:ext cx="11894548" cy="2217578"/>
            <a:chOff x="0" y="0"/>
            <a:chExt cx="1140811" cy="212689"/>
          </a:xfrm>
        </p:grpSpPr>
        <p:sp>
          <p:nvSpPr>
            <p:cNvPr id="11" name="Freeform 11"/>
            <p:cNvSpPr/>
            <p:nvPr/>
          </p:nvSpPr>
          <p:spPr>
            <a:xfrm>
              <a:off x="0" y="0"/>
              <a:ext cx="1140811" cy="212689"/>
            </a:xfrm>
            <a:custGeom>
              <a:avLst/>
              <a:gdLst/>
              <a:ahLst/>
              <a:cxnLst/>
              <a:rect l="l" t="t" r="r" b="b"/>
              <a:pathLst>
                <a:path w="1140811" h="212689">
                  <a:moveTo>
                    <a:pt x="937611" y="0"/>
                  </a:moveTo>
                  <a:lnTo>
                    <a:pt x="0" y="0"/>
                  </a:lnTo>
                  <a:lnTo>
                    <a:pt x="203200" y="212689"/>
                  </a:lnTo>
                  <a:lnTo>
                    <a:pt x="1140811" y="212689"/>
                  </a:lnTo>
                  <a:lnTo>
                    <a:pt x="937611" y="0"/>
                  </a:lnTo>
                  <a:close/>
                </a:path>
              </a:pathLst>
            </a:custGeom>
            <a:solidFill>
              <a:srgbClr val="5E50A0"/>
            </a:solidFill>
            <a:ln cap="sq">
              <a:noFill/>
              <a:prstDash val="solid"/>
              <a:miter/>
            </a:ln>
          </p:spPr>
        </p:sp>
        <p:sp>
          <p:nvSpPr>
            <p:cNvPr id="12" name="TextBox 12"/>
            <p:cNvSpPr txBox="1"/>
            <p:nvPr/>
          </p:nvSpPr>
          <p:spPr>
            <a:xfrm>
              <a:off x="101600" y="-38100"/>
              <a:ext cx="937611" cy="250789"/>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15632982" y="8808101"/>
            <a:ext cx="11894548" cy="2217578"/>
            <a:chOff x="0" y="0"/>
            <a:chExt cx="1140811" cy="212689"/>
          </a:xfrm>
        </p:grpSpPr>
        <p:sp>
          <p:nvSpPr>
            <p:cNvPr id="14" name="Freeform 14"/>
            <p:cNvSpPr/>
            <p:nvPr/>
          </p:nvSpPr>
          <p:spPr>
            <a:xfrm>
              <a:off x="0" y="0"/>
              <a:ext cx="1140811" cy="212689"/>
            </a:xfrm>
            <a:custGeom>
              <a:avLst/>
              <a:gdLst/>
              <a:ahLst/>
              <a:cxnLst/>
              <a:rect l="l" t="t" r="r" b="b"/>
              <a:pathLst>
                <a:path w="1140811" h="212689">
                  <a:moveTo>
                    <a:pt x="937611" y="0"/>
                  </a:moveTo>
                  <a:lnTo>
                    <a:pt x="0" y="0"/>
                  </a:lnTo>
                  <a:lnTo>
                    <a:pt x="203200" y="212689"/>
                  </a:lnTo>
                  <a:lnTo>
                    <a:pt x="1140811" y="212689"/>
                  </a:lnTo>
                  <a:lnTo>
                    <a:pt x="937611" y="0"/>
                  </a:lnTo>
                  <a:close/>
                </a:path>
              </a:pathLst>
            </a:custGeom>
            <a:solidFill>
              <a:srgbClr val="5E50A0"/>
            </a:solidFill>
            <a:ln cap="sq">
              <a:noFill/>
              <a:prstDash val="solid"/>
              <a:miter/>
            </a:ln>
          </p:spPr>
        </p:sp>
        <p:sp>
          <p:nvSpPr>
            <p:cNvPr id="15" name="TextBox 15"/>
            <p:cNvSpPr txBox="1"/>
            <p:nvPr/>
          </p:nvSpPr>
          <p:spPr>
            <a:xfrm>
              <a:off x="101600" y="-38100"/>
              <a:ext cx="937611" cy="250789"/>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5668889" y="2668245"/>
            <a:ext cx="6950223" cy="3362079"/>
          </a:xfrm>
          <a:prstGeom prst="rect">
            <a:avLst/>
          </a:prstGeom>
        </p:spPr>
        <p:txBody>
          <a:bodyPr lIns="0" tIns="0" rIns="0" bIns="0" rtlCol="0" anchor="t">
            <a:spAutoFit/>
          </a:bodyPr>
          <a:lstStyle/>
          <a:p>
            <a:pPr algn="ctr">
              <a:lnSpc>
                <a:spcPts val="13178"/>
              </a:lnSpc>
            </a:pPr>
            <a:r>
              <a:rPr lang="en-US" sz="11980">
                <a:solidFill>
                  <a:srgbClr val="5E50A0"/>
                </a:solidFill>
                <a:latin typeface="Anton"/>
                <a:ea typeface="Anton"/>
                <a:cs typeface="Anton"/>
                <a:sym typeface="Anton"/>
              </a:rPr>
              <a:t>THANK</a:t>
            </a:r>
          </a:p>
          <a:p>
            <a:pPr algn="ctr">
              <a:lnSpc>
                <a:spcPts val="13178"/>
              </a:lnSpc>
            </a:pPr>
            <a:r>
              <a:rPr lang="en-US" sz="11980">
                <a:solidFill>
                  <a:srgbClr val="794897"/>
                </a:solidFill>
                <a:latin typeface="Anton"/>
                <a:ea typeface="Anton"/>
                <a:cs typeface="Anton"/>
                <a:sym typeface="Anton"/>
              </a:rPr>
              <a:t>YOU</a:t>
            </a:r>
          </a:p>
        </p:txBody>
      </p:sp>
      <p:sp>
        <p:nvSpPr>
          <p:cNvPr id="22" name="TextBox 21">
            <a:extLst>
              <a:ext uri="{FF2B5EF4-FFF2-40B4-BE49-F238E27FC236}">
                <a16:creationId xmlns:a16="http://schemas.microsoft.com/office/drawing/2014/main" id="{E28FB385-1813-2248-85EE-B05E01BF0A1F}"/>
              </a:ext>
            </a:extLst>
          </p:cNvPr>
          <p:cNvSpPr txBox="1"/>
          <p:nvPr/>
        </p:nvSpPr>
        <p:spPr>
          <a:xfrm>
            <a:off x="5668889" y="7939478"/>
            <a:ext cx="18245666" cy="531299"/>
          </a:xfrm>
          <a:prstGeom prst="rect">
            <a:avLst/>
          </a:prstGeom>
          <a:noFill/>
        </p:spPr>
        <p:txBody>
          <a:bodyPr wrap="square">
            <a:spAutoFit/>
          </a:bodyPr>
          <a:lstStyle/>
          <a:p>
            <a:pPr>
              <a:lnSpc>
                <a:spcPts val="3600"/>
              </a:lnSpc>
            </a:pPr>
            <a:r>
              <a:rPr lang="en-US" sz="2800" b="1" dirty="0">
                <a:solidFill>
                  <a:srgbClr val="7030A0"/>
                </a:solidFill>
                <a:latin typeface="Open Sans Bold"/>
                <a:ea typeface="Open Sans Bold"/>
                <a:cs typeface="Open Sans Bold"/>
                <a:sym typeface="Open Sans Bold"/>
              </a:rPr>
              <a:t>DEMONSTRATION: </a:t>
            </a:r>
            <a:r>
              <a:rPr lang="en-US" sz="2800" b="1" dirty="0">
                <a:solidFill>
                  <a:srgbClr val="7030A0"/>
                </a:solidFill>
                <a:latin typeface="Open Sans Bold"/>
                <a:ea typeface="Open Sans Bold"/>
                <a:cs typeface="Open Sans Bold"/>
                <a:sym typeface="Open Sans Bold"/>
                <a:hlinkClick r:id="rId4"/>
              </a:rPr>
              <a:t>https://youtu.be</a:t>
            </a:r>
            <a:r>
              <a:rPr lang="en-US" sz="2800" b="1">
                <a:solidFill>
                  <a:srgbClr val="7030A0"/>
                </a:solidFill>
                <a:latin typeface="Open Sans Bold"/>
                <a:ea typeface="Open Sans Bold"/>
                <a:cs typeface="Open Sans Bold"/>
                <a:sym typeface="Open Sans Bold"/>
                <a:hlinkClick r:id="rId4"/>
              </a:rPr>
              <a:t>/GIe5kEu0w4Q</a:t>
            </a:r>
            <a:r>
              <a:rPr lang="en-US" sz="2800" b="1">
                <a:solidFill>
                  <a:srgbClr val="7030A0"/>
                </a:solidFill>
                <a:latin typeface="Open Sans Bold"/>
                <a:ea typeface="Open Sans Bold"/>
                <a:cs typeface="Open Sans Bold"/>
                <a:sym typeface="Open Sans Bold"/>
              </a:rPr>
              <a:t> </a:t>
            </a:r>
            <a:endParaRPr lang="en-US" sz="2800" b="1" dirty="0">
              <a:solidFill>
                <a:srgbClr val="7030A0"/>
              </a:solidFill>
              <a:latin typeface="Open Sans Bold"/>
              <a:ea typeface="Open Sans Bold"/>
              <a:cs typeface="Open Sans Bold"/>
              <a:sym typeface="Open Sans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871</Words>
  <Application>Microsoft Office PowerPoint</Application>
  <PresentationFormat>Custom</PresentationFormat>
  <Paragraphs>160</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Open Sans</vt:lpstr>
      <vt:lpstr>Brittany</vt:lpstr>
      <vt:lpstr>Canva Sans</vt:lpstr>
      <vt:lpstr>Anton</vt:lpstr>
      <vt:lpstr>Open Sans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SPRINT 3</dc:title>
  <cp:lastModifiedBy>KHUSHI SHAH</cp:lastModifiedBy>
  <cp:revision>4</cp:revision>
  <dcterms:created xsi:type="dcterms:W3CDTF">2006-08-16T00:00:00Z</dcterms:created>
  <dcterms:modified xsi:type="dcterms:W3CDTF">2026-03-19T00:51:53Z</dcterms:modified>
  <dc:identifier>DAHEPOAeFGQ</dc:identifier>
</cp:coreProperties>
</file>