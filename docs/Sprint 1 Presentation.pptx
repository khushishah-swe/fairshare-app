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</p:sldIdLst>
  <p:sldSz cx="18288000" cy="10287000"/>
  <p:notesSz cx="6858000" cy="9144000"/>
  <p:embeddedFontLst>
    <p:embeddedFont>
      <p:font typeface="Cerebri" panose="020B0604020202020204" charset="0"/>
      <p:regular r:id="rId13"/>
    </p:embeddedFont>
    <p:embeddedFont>
      <p:font typeface="Cerebri Bold" panose="020B0604020202020204" charset="0"/>
      <p:regular r:id="rId14"/>
    </p:embeddedFont>
    <p:embeddedFont>
      <p:font typeface="Norwes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V-iAE6gtn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67989" y="1284762"/>
            <a:ext cx="13952022" cy="7717477"/>
            <a:chOff x="0" y="0"/>
            <a:chExt cx="3674607" cy="2032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74607" cy="2032586"/>
            </a:xfrm>
            <a:custGeom>
              <a:avLst/>
              <a:gdLst/>
              <a:ahLst/>
              <a:cxnLst/>
              <a:rect l="l" t="t" r="r" b="b"/>
              <a:pathLst>
                <a:path w="3674607" h="2032586">
                  <a:moveTo>
                    <a:pt x="28300" y="0"/>
                  </a:moveTo>
                  <a:lnTo>
                    <a:pt x="3646307" y="0"/>
                  </a:lnTo>
                  <a:cubicBezTo>
                    <a:pt x="3653813" y="0"/>
                    <a:pt x="3661011" y="2982"/>
                    <a:pt x="3666318" y="8289"/>
                  </a:cubicBezTo>
                  <a:cubicBezTo>
                    <a:pt x="3671625" y="13596"/>
                    <a:pt x="3674607" y="20794"/>
                    <a:pt x="3674607" y="28300"/>
                  </a:cubicBezTo>
                  <a:lnTo>
                    <a:pt x="3674607" y="2004287"/>
                  </a:lnTo>
                  <a:cubicBezTo>
                    <a:pt x="3674607" y="2011792"/>
                    <a:pt x="3671625" y="2018990"/>
                    <a:pt x="3666318" y="2024298"/>
                  </a:cubicBezTo>
                  <a:cubicBezTo>
                    <a:pt x="3661011" y="2029605"/>
                    <a:pt x="3653813" y="2032586"/>
                    <a:pt x="3646307" y="2032586"/>
                  </a:cubicBezTo>
                  <a:lnTo>
                    <a:pt x="28300" y="2032586"/>
                  </a:lnTo>
                  <a:cubicBezTo>
                    <a:pt x="20794" y="2032586"/>
                    <a:pt x="13596" y="2029605"/>
                    <a:pt x="8289" y="2024298"/>
                  </a:cubicBezTo>
                  <a:cubicBezTo>
                    <a:pt x="2982" y="2018990"/>
                    <a:pt x="0" y="2011792"/>
                    <a:pt x="0" y="2004287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FEF8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74607" cy="2070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340294" y="1948204"/>
            <a:ext cx="2682398" cy="1891434"/>
          </a:xfrm>
          <a:custGeom>
            <a:avLst/>
            <a:gdLst/>
            <a:ahLst/>
            <a:cxnLst/>
            <a:rect l="l" t="t" r="r" b="b"/>
            <a:pathLst>
              <a:path w="2682398" h="1891434">
                <a:moveTo>
                  <a:pt x="0" y="0"/>
                </a:moveTo>
                <a:lnTo>
                  <a:pt x="2682398" y="0"/>
                </a:lnTo>
                <a:lnTo>
                  <a:pt x="2682398" y="1891435"/>
                </a:lnTo>
                <a:lnTo>
                  <a:pt x="0" y="189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845955" y="4814838"/>
            <a:ext cx="6298045" cy="1543050"/>
            <a:chOff x="0" y="0"/>
            <a:chExt cx="1658744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8744" cy="406400"/>
            </a:xfrm>
            <a:custGeom>
              <a:avLst/>
              <a:gdLst/>
              <a:ahLst/>
              <a:cxnLst/>
              <a:rect l="l" t="t" r="r" b="b"/>
              <a:pathLst>
                <a:path w="1658744" h="406400">
                  <a:moveTo>
                    <a:pt x="62692" y="0"/>
                  </a:moveTo>
                  <a:lnTo>
                    <a:pt x="1596052" y="0"/>
                  </a:lnTo>
                  <a:cubicBezTo>
                    <a:pt x="1630676" y="0"/>
                    <a:pt x="1658744" y="28068"/>
                    <a:pt x="1658744" y="62692"/>
                  </a:cubicBezTo>
                  <a:lnTo>
                    <a:pt x="1658744" y="343708"/>
                  </a:lnTo>
                  <a:cubicBezTo>
                    <a:pt x="1658744" y="378332"/>
                    <a:pt x="1630676" y="406400"/>
                    <a:pt x="1596052" y="406400"/>
                  </a:cubicBezTo>
                  <a:lnTo>
                    <a:pt x="62692" y="406400"/>
                  </a:lnTo>
                  <a:cubicBezTo>
                    <a:pt x="28068" y="406400"/>
                    <a:pt x="0" y="378332"/>
                    <a:pt x="0" y="343708"/>
                  </a:cubicBezTo>
                  <a:lnTo>
                    <a:pt x="0" y="62692"/>
                  </a:lnTo>
                  <a:cubicBezTo>
                    <a:pt x="0" y="28068"/>
                    <a:pt x="28068" y="0"/>
                    <a:pt x="62692" y="0"/>
                  </a:cubicBezTo>
                  <a:close/>
                </a:path>
              </a:pathLst>
            </a:custGeom>
            <a:solidFill>
              <a:srgbClr val="00463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1658744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119"/>
                </a:lnSpc>
              </a:pPr>
              <a:r>
                <a:rPr lang="en-US" sz="5799" b="1">
                  <a:solidFill>
                    <a:srgbClr val="FEF8DD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SPRINT 1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45955" y="1861161"/>
            <a:ext cx="9494339" cy="2378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04"/>
              </a:lnSpc>
            </a:pPr>
            <a:r>
              <a:rPr lang="en-US" sz="17804" spc="-890">
                <a:solidFill>
                  <a:srgbClr val="004632"/>
                </a:solidFill>
                <a:latin typeface="Norwester"/>
                <a:ea typeface="Norwester"/>
                <a:cs typeface="Norwester"/>
                <a:sym typeface="Norwester"/>
              </a:rPr>
              <a:t>FAIRSHARE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9901" y="7223393"/>
            <a:ext cx="4330110" cy="46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dirty="0">
                <a:solidFill>
                  <a:srgbClr val="004632"/>
                </a:solidFill>
                <a:latin typeface="Cerebri Bold"/>
                <a:ea typeface="Cerebri Bold"/>
                <a:cs typeface="Cerebri Bold"/>
                <a:sym typeface="Cerebri Bold"/>
              </a:rPr>
              <a:t>KHUSHI SHAH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45955" y="4021320"/>
            <a:ext cx="683834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Transparent Expenses, Hassle-Free Settlements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8327" y="3080622"/>
            <a:ext cx="18665877" cy="7442179"/>
            <a:chOff x="0" y="0"/>
            <a:chExt cx="4916116" cy="196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16116" cy="1960080"/>
            </a:xfrm>
            <a:custGeom>
              <a:avLst/>
              <a:gdLst/>
              <a:ahLst/>
              <a:cxnLst/>
              <a:rect l="l" t="t" r="r" b="b"/>
              <a:pathLst>
                <a:path w="4916116" h="1960080">
                  <a:moveTo>
                    <a:pt x="0" y="0"/>
                  </a:moveTo>
                  <a:lnTo>
                    <a:pt x="4916116" y="0"/>
                  </a:lnTo>
                  <a:lnTo>
                    <a:pt x="4916116" y="1960080"/>
                  </a:lnTo>
                  <a:lnTo>
                    <a:pt x="0" y="1960080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16116" cy="1998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12882" y="597511"/>
            <a:ext cx="15746418" cy="221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0"/>
              </a:lnSpc>
            </a:pPr>
            <a:r>
              <a:rPr lang="en-US" sz="7900" spc="-395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BACKLOG MANAGEMENT - PRIORITY STORIES</a:t>
            </a:r>
          </a:p>
          <a:p>
            <a:pPr algn="ctr">
              <a:lnSpc>
                <a:spcPts val="8690"/>
              </a:lnSpc>
            </a:pPr>
            <a:r>
              <a:rPr lang="en-US" sz="7900" spc="-395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SPRINT 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2015CD-1797-4DA4-3E4F-FC6B3577F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8112"/>
              </p:ext>
            </p:extLst>
          </p:nvPr>
        </p:nvGraphicFramePr>
        <p:xfrm>
          <a:off x="1651567" y="3847746"/>
          <a:ext cx="14883835" cy="6304436"/>
        </p:xfrm>
        <a:graphic>
          <a:graphicData uri="http://schemas.openxmlformats.org/drawingml/2006/table">
            <a:tbl>
              <a:tblPr/>
              <a:tblGrid>
                <a:gridCol w="2976767">
                  <a:extLst>
                    <a:ext uri="{9D8B030D-6E8A-4147-A177-3AD203B41FA5}">
                      <a16:colId xmlns:a16="http://schemas.microsoft.com/office/drawing/2014/main" val="4089139819"/>
                    </a:ext>
                  </a:extLst>
                </a:gridCol>
                <a:gridCol w="2976767">
                  <a:extLst>
                    <a:ext uri="{9D8B030D-6E8A-4147-A177-3AD203B41FA5}">
                      <a16:colId xmlns:a16="http://schemas.microsoft.com/office/drawing/2014/main" val="828182155"/>
                    </a:ext>
                  </a:extLst>
                </a:gridCol>
                <a:gridCol w="2976767">
                  <a:extLst>
                    <a:ext uri="{9D8B030D-6E8A-4147-A177-3AD203B41FA5}">
                      <a16:colId xmlns:a16="http://schemas.microsoft.com/office/drawing/2014/main" val="3614151600"/>
                    </a:ext>
                  </a:extLst>
                </a:gridCol>
                <a:gridCol w="2976767">
                  <a:extLst>
                    <a:ext uri="{9D8B030D-6E8A-4147-A177-3AD203B41FA5}">
                      <a16:colId xmlns:a16="http://schemas.microsoft.com/office/drawing/2014/main" val="4275836613"/>
                    </a:ext>
                  </a:extLst>
                </a:gridCol>
                <a:gridCol w="2976767">
                  <a:extLst>
                    <a:ext uri="{9D8B030D-6E8A-4147-A177-3AD203B41FA5}">
                      <a16:colId xmlns:a16="http://schemas.microsoft.com/office/drawing/2014/main" val="4127489667"/>
                    </a:ext>
                  </a:extLst>
                </a:gridCol>
              </a:tblGrid>
              <a:tr h="255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EF8DD"/>
                          </a:solidFill>
                          <a:effectLst/>
                        </a:rPr>
                        <a:t>Story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EF8DD"/>
                          </a:solidFill>
                          <a:effectLst/>
                        </a:rPr>
                        <a:t>Points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FEF8DD"/>
                          </a:solidFill>
                          <a:effectLst/>
                        </a:rPr>
                        <a:t>Role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FEF8DD"/>
                          </a:solidFill>
                          <a:effectLst/>
                        </a:rPr>
                        <a:t>Benefit 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FEF8DD"/>
                          </a:solidFill>
                          <a:effectLst/>
                        </a:rPr>
                        <a:t>Value 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054905"/>
                  </a:ext>
                </a:extLst>
              </a:tr>
              <a:tr h="629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4632"/>
                          </a:solidFill>
                          <a:effectLst/>
                        </a:rPr>
                        <a:t>User Signup &amp; Login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4632"/>
                          </a:solidFill>
                          <a:effectLst/>
                        </a:rPr>
                        <a:t>5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User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004632"/>
                          </a:solidFill>
                          <a:effectLst/>
                        </a:rPr>
                        <a:t>Access to a private dashboard.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>
                          <a:solidFill>
                            <a:srgbClr val="004632"/>
                          </a:solidFill>
                          <a:effectLst/>
                        </a:rPr>
                        <a:t>Security &amp; Privacy:</a:t>
                      </a:r>
                      <a:r>
                        <a:rPr lang="en-US" sz="1800" b="0" i="0">
                          <a:solidFill>
                            <a:srgbClr val="004632"/>
                          </a:solidFill>
                          <a:effectLst/>
                        </a:rPr>
                        <a:t> Ensures user financial data is protected.</a:t>
                      </a:r>
                      <a:endParaRPr lang="en-US" sz="180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99839"/>
                  </a:ext>
                </a:extLst>
              </a:tr>
              <a:tr h="747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Create Group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3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Group Admin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004632"/>
                          </a:solidFill>
                          <a:effectLst/>
                        </a:rPr>
                        <a:t>Organizes shared costs by categories.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>
                          <a:solidFill>
                            <a:srgbClr val="004632"/>
                          </a:solidFill>
                          <a:effectLst/>
                        </a:rPr>
                        <a:t>Scalability:</a:t>
                      </a:r>
                      <a:r>
                        <a:rPr lang="en-US" sz="1800" b="0" i="0">
                          <a:solidFill>
                            <a:srgbClr val="004632"/>
                          </a:solidFill>
                          <a:effectLst/>
                        </a:rPr>
                        <a:t> Allows users to manage multiple social circles simultaneously.</a:t>
                      </a:r>
                      <a:endParaRPr lang="en-US" sz="180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952323"/>
                  </a:ext>
                </a:extLst>
              </a:tr>
              <a:tr h="747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b="1">
                          <a:solidFill>
                            <a:srgbClr val="004632"/>
                          </a:solidFill>
                          <a:effectLst/>
                        </a:rPr>
                        <a:t>Join Group via Invite Code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3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Invited Member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Join a group in seconds via code.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>
                          <a:solidFill>
                            <a:srgbClr val="004632"/>
                          </a:solidFill>
                          <a:effectLst/>
                        </a:rPr>
                        <a:t>User Acquisition: </a:t>
                      </a:r>
                      <a:r>
                        <a:rPr lang="en-US" sz="1800" b="0" i="0">
                          <a:solidFill>
                            <a:srgbClr val="004632"/>
                          </a:solidFill>
                          <a:effectLst/>
                        </a:rPr>
                        <a:t>Reduces friction for new users to start using the app.</a:t>
                      </a:r>
                      <a:endParaRPr lang="en-US" sz="180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09259"/>
                  </a:ext>
                </a:extLst>
              </a:tr>
              <a:tr h="747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Add Expense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8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Admin/Member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4632"/>
                          </a:solidFill>
                          <a:effectLst/>
                        </a:rPr>
                        <a:t>Digitally logs a transaction.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 dirty="0">
                          <a:solidFill>
                            <a:srgbClr val="004632"/>
                          </a:solidFill>
                          <a:effectLst/>
                        </a:rPr>
                        <a:t>Data Integrity: </a:t>
                      </a:r>
                      <a:r>
                        <a:rPr lang="en-US" sz="1800" b="0" i="0" dirty="0">
                          <a:solidFill>
                            <a:srgbClr val="004632"/>
                          </a:solidFill>
                          <a:effectLst/>
                        </a:rPr>
                        <a:t>Creates a "source of truth" for all group spending.</a:t>
                      </a:r>
                      <a:endParaRPr lang="en-US" sz="1800" dirty="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362705"/>
                  </a:ext>
                </a:extLst>
              </a:tr>
              <a:tr h="747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Edit/Delete expense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5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Admin/Member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004632"/>
                          </a:solidFill>
                          <a:effectLst/>
                        </a:rPr>
                        <a:t>Fixes typos or removes errors.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>
                          <a:solidFill>
                            <a:srgbClr val="004632"/>
                          </a:solidFill>
                          <a:effectLst/>
                        </a:rPr>
                        <a:t>System Trust:</a:t>
                      </a:r>
                      <a:r>
                        <a:rPr lang="en-US" sz="1800" b="0" i="0">
                          <a:solidFill>
                            <a:srgbClr val="004632"/>
                          </a:solidFill>
                          <a:effectLst/>
                        </a:rPr>
                        <a:t> Users feel confident that accidental mistakes won't ruin the math.</a:t>
                      </a:r>
                      <a:endParaRPr lang="en-US" sz="180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757827"/>
                  </a:ext>
                </a:extLst>
              </a:tr>
              <a:tr h="747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Equal Expense Split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5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Members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Auto-calculates individual shares.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>
                          <a:solidFill>
                            <a:srgbClr val="004632"/>
                          </a:solidFill>
                          <a:effectLst/>
                        </a:rPr>
                        <a:t>Efficiency:</a:t>
                      </a:r>
                      <a:r>
                        <a:rPr lang="en-US" sz="1800" b="0" i="0">
                          <a:solidFill>
                            <a:srgbClr val="004632"/>
                          </a:solidFill>
                          <a:effectLst/>
                        </a:rPr>
                        <a:t> Saves time and eliminates "calculator fatigue" during settlements.</a:t>
                      </a:r>
                      <a:endParaRPr lang="en-US" sz="180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553398"/>
                  </a:ext>
                </a:extLst>
              </a:tr>
              <a:tr h="865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Basic Balance Dashboard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4632"/>
                          </a:solidFill>
                          <a:effectLst/>
                        </a:rPr>
                        <a:t>8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4632"/>
                          </a:solidFill>
                          <a:effectLst/>
                        </a:rPr>
                        <a:t>Admin/Member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004632"/>
                          </a:solidFill>
                          <a:effectLst/>
                        </a:rPr>
                        <a:t>Sees "Net Balance" (Who owes whom).</a:t>
                      </a: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 dirty="0">
                          <a:solidFill>
                            <a:srgbClr val="004632"/>
                          </a:solidFill>
                          <a:effectLst/>
                        </a:rPr>
                        <a:t>Financial Transparency: </a:t>
                      </a:r>
                      <a:r>
                        <a:rPr lang="en-US" sz="1800" b="0" i="0" dirty="0">
                          <a:solidFill>
                            <a:srgbClr val="004632"/>
                          </a:solidFill>
                          <a:effectLst/>
                        </a:rPr>
                        <a:t>Prevents disputes by showing clear, data-backed debt status.</a:t>
                      </a:r>
                      <a:endParaRPr lang="en-US" sz="1800" dirty="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32443" marR="32443" marT="16221" marB="1622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2782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7A6AD978-9B1E-DE46-546F-CA01DF9C5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0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9932" y="-293904"/>
            <a:ext cx="9910737" cy="10811829"/>
            <a:chOff x="0" y="0"/>
            <a:chExt cx="2610235" cy="2847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235" cy="2847560"/>
            </a:xfrm>
            <a:custGeom>
              <a:avLst/>
              <a:gdLst/>
              <a:ahLst/>
              <a:cxnLst/>
              <a:rect l="l" t="t" r="r" b="b"/>
              <a:pathLst>
                <a:path w="2610235" h="2847560">
                  <a:moveTo>
                    <a:pt x="0" y="0"/>
                  </a:moveTo>
                  <a:lnTo>
                    <a:pt x="2610235" y="0"/>
                  </a:lnTo>
                  <a:lnTo>
                    <a:pt x="2610235" y="2847560"/>
                  </a:lnTo>
                  <a:lnTo>
                    <a:pt x="0" y="2847560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0235" cy="28856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78700" y="3971507"/>
            <a:ext cx="7034737" cy="325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SPRINT 1 - </a:t>
            </a:r>
          </a:p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KEY METRICS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0178" y="4651091"/>
            <a:ext cx="8376642" cy="32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2485" lvl="1" indent="-496243" algn="l">
              <a:lnSpc>
                <a:spcPts val="5056"/>
              </a:lnSpc>
              <a:buFont typeface="Arial"/>
              <a:buChar char="•"/>
            </a:pPr>
            <a:r>
              <a:rPr lang="en-US" sz="4596" spc="-229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Planned Velocity: 37 points</a:t>
            </a:r>
          </a:p>
          <a:p>
            <a:pPr marL="992485" lvl="1" indent="-496243" algn="l">
              <a:lnSpc>
                <a:spcPts val="5056"/>
              </a:lnSpc>
              <a:buFont typeface="Arial"/>
              <a:buChar char="•"/>
            </a:pPr>
            <a:r>
              <a:rPr lang="en-US" sz="4596" spc="-229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Actual Velocity: 37 points</a:t>
            </a:r>
          </a:p>
          <a:p>
            <a:pPr marL="992485" lvl="1" indent="-496243" algn="l">
              <a:lnSpc>
                <a:spcPts val="5056"/>
              </a:lnSpc>
              <a:buFont typeface="Arial"/>
              <a:buChar char="•"/>
            </a:pPr>
            <a:r>
              <a:rPr lang="en-US" sz="4596" spc="-229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Sprint Predictability Rate: 100%</a:t>
            </a:r>
          </a:p>
          <a:p>
            <a:pPr marL="992485" lvl="1" indent="-496243" algn="l">
              <a:lnSpc>
                <a:spcPts val="5056"/>
              </a:lnSpc>
              <a:buFont typeface="Arial"/>
              <a:buChar char="•"/>
            </a:pPr>
            <a:r>
              <a:rPr lang="en-US" sz="4596" spc="-229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Sprint Addition Rate: 0%</a:t>
            </a:r>
          </a:p>
          <a:p>
            <a:pPr marL="992485" lvl="1" indent="-496243" algn="l">
              <a:lnSpc>
                <a:spcPts val="5056"/>
              </a:lnSpc>
              <a:buFont typeface="Arial"/>
              <a:buChar char="•"/>
            </a:pPr>
            <a:r>
              <a:rPr lang="en-US" sz="4596" spc="-229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Sprint Completion Rate: 100%</a:t>
            </a: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0" y="4658931"/>
            <a:ext cx="6352688" cy="985379"/>
            <a:chOff x="0" y="0"/>
            <a:chExt cx="8470251" cy="131383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8470251" cy="1313839"/>
              <a:chOff x="0" y="0"/>
              <a:chExt cx="1673136" cy="2595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73136" cy="259524"/>
              </a:xfrm>
              <a:custGeom>
                <a:avLst/>
                <a:gdLst/>
                <a:ahLst/>
                <a:cxnLst/>
                <a:rect l="l" t="t" r="r" b="b"/>
                <a:pathLst>
                  <a:path w="1673136" h="259524">
                    <a:moveTo>
                      <a:pt x="0" y="0"/>
                    </a:moveTo>
                    <a:lnTo>
                      <a:pt x="1673136" y="0"/>
                    </a:lnTo>
                    <a:lnTo>
                      <a:pt x="1673136" y="259524"/>
                    </a:lnTo>
                    <a:lnTo>
                      <a:pt x="0" y="259524"/>
                    </a:lnTo>
                    <a:close/>
                  </a:path>
                </a:pathLst>
              </a:custGeom>
              <a:ln w="19050" cap="sq">
                <a:solidFill>
                  <a:srgbClr val="BDD0A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673136" cy="2976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218599" y="174319"/>
              <a:ext cx="5666264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spc="-100">
                  <a:solidFill>
                    <a:srgbClr val="BDD0A0"/>
                  </a:solidFill>
                  <a:latin typeface="Cerebri"/>
                  <a:ea typeface="Cerebri"/>
                  <a:cs typeface="Cerebri"/>
                  <a:sym typeface="Cerebri"/>
                </a:rPr>
                <a:t>SPLIT AMAONG SELECTED MEMBERS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0874" y="228802"/>
              <a:ext cx="1019729" cy="85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3999" b="1" spc="-155">
                  <a:solidFill>
                    <a:srgbClr val="BDD0A0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6250" y="6047745"/>
            <a:ext cx="6352688" cy="943850"/>
            <a:chOff x="0" y="0"/>
            <a:chExt cx="8470251" cy="125846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470251" cy="1258467"/>
              <a:chOff x="0" y="0"/>
              <a:chExt cx="1673136" cy="24858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673136" cy="248586"/>
              </a:xfrm>
              <a:custGeom>
                <a:avLst/>
                <a:gdLst/>
                <a:ahLst/>
                <a:cxnLst/>
                <a:rect l="l" t="t" r="r" b="b"/>
                <a:pathLst>
                  <a:path w="1673136" h="248586">
                    <a:moveTo>
                      <a:pt x="0" y="0"/>
                    </a:moveTo>
                    <a:lnTo>
                      <a:pt x="1673136" y="0"/>
                    </a:lnTo>
                    <a:lnTo>
                      <a:pt x="1673136" y="248586"/>
                    </a:lnTo>
                    <a:lnTo>
                      <a:pt x="0" y="248586"/>
                    </a:lnTo>
                    <a:close/>
                  </a:path>
                </a:pathLst>
              </a:custGeom>
              <a:ln w="19050" cap="sq">
                <a:solidFill>
                  <a:srgbClr val="BDD0A0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673136" cy="2866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104987" y="438987"/>
              <a:ext cx="5995549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spc="-100">
                  <a:solidFill>
                    <a:srgbClr val="BDD0A0"/>
                  </a:solidFill>
                  <a:latin typeface="Cerebri"/>
                  <a:ea typeface="Cerebri"/>
                  <a:cs typeface="Cerebri"/>
                  <a:sym typeface="Cerebri"/>
                </a:rPr>
                <a:t>PERCENTAGE SPLIT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0995" y="228802"/>
              <a:ext cx="1019729" cy="85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3999" b="1" spc="-155">
                  <a:solidFill>
                    <a:srgbClr val="BDD0A0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7436558"/>
            <a:ext cx="6352688" cy="943850"/>
            <a:chOff x="0" y="0"/>
            <a:chExt cx="8470251" cy="125846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8470251" cy="1258467"/>
              <a:chOff x="0" y="0"/>
              <a:chExt cx="1673136" cy="2485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673136" cy="248586"/>
              </a:xfrm>
              <a:custGeom>
                <a:avLst/>
                <a:gdLst/>
                <a:ahLst/>
                <a:cxnLst/>
                <a:rect l="l" t="t" r="r" b="b"/>
                <a:pathLst>
                  <a:path w="1673136" h="248586">
                    <a:moveTo>
                      <a:pt x="0" y="0"/>
                    </a:moveTo>
                    <a:lnTo>
                      <a:pt x="1673136" y="0"/>
                    </a:lnTo>
                    <a:lnTo>
                      <a:pt x="1673136" y="248586"/>
                    </a:lnTo>
                    <a:lnTo>
                      <a:pt x="0" y="248586"/>
                    </a:lnTo>
                    <a:close/>
                  </a:path>
                </a:pathLst>
              </a:custGeom>
              <a:ln w="19050" cap="sq">
                <a:solidFill>
                  <a:srgbClr val="BDD0A0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673136" cy="2866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186143" y="438987"/>
              <a:ext cx="54731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spc="-100">
                  <a:solidFill>
                    <a:srgbClr val="BDD0A0"/>
                  </a:solidFill>
                  <a:latin typeface="Cerebri"/>
                  <a:ea typeface="Cerebri"/>
                  <a:cs typeface="Cerebri"/>
                  <a:sym typeface="Cerebri"/>
                </a:rPr>
                <a:t>ATTACH RECEIPT TO EXPENSE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8418" y="228802"/>
              <a:ext cx="1019729" cy="85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3999" b="1" spc="-155">
                  <a:solidFill>
                    <a:srgbClr val="BDD0A0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03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07403" y="0"/>
            <a:ext cx="10180597" cy="10287000"/>
            <a:chOff x="0" y="0"/>
            <a:chExt cx="2681309" cy="27093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81309" cy="2709333"/>
            </a:xfrm>
            <a:custGeom>
              <a:avLst/>
              <a:gdLst/>
              <a:ahLst/>
              <a:cxnLst/>
              <a:rect l="l" t="t" r="r" b="b"/>
              <a:pathLst>
                <a:path w="2681309" h="2709333">
                  <a:moveTo>
                    <a:pt x="0" y="0"/>
                  </a:moveTo>
                  <a:lnTo>
                    <a:pt x="2681309" y="0"/>
                  </a:lnTo>
                  <a:lnTo>
                    <a:pt x="268130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68130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76250" y="1842089"/>
            <a:ext cx="7421517" cy="241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3"/>
              </a:lnSpc>
            </a:pPr>
            <a:r>
              <a:rPr lang="en-US" sz="8567" spc="-428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SPRINT 2 - </a:t>
            </a:r>
          </a:p>
          <a:p>
            <a:pPr algn="l">
              <a:lnSpc>
                <a:spcPts val="9423"/>
              </a:lnSpc>
            </a:pPr>
            <a:r>
              <a:rPr lang="en-US" sz="8567" spc="-428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TASKS PER STORY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158AD6F-178B-9AA0-816B-BCF2C5306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302007"/>
              </p:ext>
            </p:extLst>
          </p:nvPr>
        </p:nvGraphicFramePr>
        <p:xfrm>
          <a:off x="8915398" y="1342152"/>
          <a:ext cx="8228196" cy="8175070"/>
        </p:xfrm>
        <a:graphic>
          <a:graphicData uri="http://schemas.openxmlformats.org/drawingml/2006/table">
            <a:tbl>
              <a:tblPr/>
              <a:tblGrid>
                <a:gridCol w="2742732">
                  <a:extLst>
                    <a:ext uri="{9D8B030D-6E8A-4147-A177-3AD203B41FA5}">
                      <a16:colId xmlns:a16="http://schemas.microsoft.com/office/drawing/2014/main" val="1543293816"/>
                    </a:ext>
                  </a:extLst>
                </a:gridCol>
                <a:gridCol w="2742732">
                  <a:extLst>
                    <a:ext uri="{9D8B030D-6E8A-4147-A177-3AD203B41FA5}">
                      <a16:colId xmlns:a16="http://schemas.microsoft.com/office/drawing/2014/main" val="4193034184"/>
                    </a:ext>
                  </a:extLst>
                </a:gridCol>
                <a:gridCol w="2742732">
                  <a:extLst>
                    <a:ext uri="{9D8B030D-6E8A-4147-A177-3AD203B41FA5}">
                      <a16:colId xmlns:a16="http://schemas.microsoft.com/office/drawing/2014/main" val="2830216929"/>
                    </a:ext>
                  </a:extLst>
                </a:gridCol>
              </a:tblGrid>
              <a:tr h="1507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FEF8DD"/>
                          </a:solidFill>
                          <a:effectLst/>
                        </a:rPr>
                        <a:t>Epic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FEF8DD"/>
                          </a:solidFill>
                          <a:effectLst/>
                        </a:rPr>
                        <a:t>Story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FEF8DD"/>
                          </a:solidFill>
                          <a:effectLst/>
                        </a:rPr>
                        <a:t>Task Decomposition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764248"/>
                  </a:ext>
                </a:extLst>
              </a:tr>
              <a:tr h="1932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004632"/>
                          </a:solidFill>
                          <a:effectLst/>
                        </a:rPr>
                        <a:t>Expense Management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004632"/>
                          </a:solidFill>
                          <a:effectLst/>
                        </a:rPr>
                        <a:t>Receipt Attachments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b="0" i="0">
                          <a:solidFill>
                            <a:srgbClr val="004632"/>
                          </a:solidFill>
                          <a:effectLst/>
                        </a:rPr>
                        <a:t>•Implement file upload component in React</a:t>
                      </a:r>
                      <a:endParaRPr lang="en-US" sz="2000">
                        <a:solidFill>
                          <a:srgbClr val="004632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2000" b="0" i="0">
                          <a:solidFill>
                            <a:srgbClr val="004632"/>
                          </a:solidFill>
                          <a:effectLst/>
                        </a:rPr>
                        <a:t>•Create Cloud/Local storage service for files</a:t>
                      </a:r>
                      <a:endParaRPr lang="en-US" sz="2000">
                        <a:solidFill>
                          <a:srgbClr val="004632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2000" b="0" i="0">
                          <a:solidFill>
                            <a:srgbClr val="004632"/>
                          </a:solidFill>
                          <a:effectLst/>
                        </a:rPr>
                        <a:t>• Link File-ID to Expense Entity in DB</a:t>
                      </a:r>
                      <a:endParaRPr lang="en-US" sz="200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73097"/>
                  </a:ext>
                </a:extLst>
              </a:tr>
              <a:tr h="1932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rgbClr val="004632"/>
                          </a:solidFill>
                          <a:effectLst/>
                        </a:rPr>
                        <a:t>Smart Split Options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004632"/>
                          </a:solidFill>
                          <a:effectLst/>
                        </a:rPr>
                        <a:t>Custom Percentage Split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b="0" i="0">
                          <a:solidFill>
                            <a:srgbClr val="004632"/>
                          </a:solidFill>
                          <a:effectLst/>
                        </a:rPr>
                        <a:t>• Develop percentage-based calculation engine</a:t>
                      </a:r>
                      <a:endParaRPr lang="en-US" sz="2000">
                        <a:solidFill>
                          <a:srgbClr val="004632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2000" b="0" i="0">
                          <a:solidFill>
                            <a:srgbClr val="004632"/>
                          </a:solidFill>
                          <a:effectLst/>
                        </a:rPr>
                        <a:t>• Add "Percentage" input mode to UI</a:t>
                      </a:r>
                      <a:endParaRPr lang="en-US" sz="2000">
                        <a:solidFill>
                          <a:srgbClr val="004632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2000" b="0" i="0">
                          <a:solidFill>
                            <a:srgbClr val="004632"/>
                          </a:solidFill>
                          <a:effectLst/>
                        </a:rPr>
                        <a:t>• Validate that total percentages sum to 100%</a:t>
                      </a:r>
                      <a:endParaRPr lang="en-US" sz="200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71235"/>
                  </a:ext>
                </a:extLst>
              </a:tr>
              <a:tr h="2543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004632"/>
                          </a:solidFill>
                          <a:effectLst/>
                        </a:rPr>
                        <a:t>Smart Split Options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004632"/>
                          </a:solidFill>
                          <a:effectLst/>
                        </a:rPr>
                        <a:t>Selective Participant Split</a:t>
                      </a: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b="0" i="0" dirty="0">
                          <a:solidFill>
                            <a:srgbClr val="004632"/>
                          </a:solidFill>
                          <a:effectLst/>
                        </a:rPr>
                        <a:t>• Build participant selection toggle/checkboxes</a:t>
                      </a:r>
                      <a:endParaRPr lang="en-US" sz="2000" dirty="0">
                        <a:solidFill>
                          <a:srgbClr val="004632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2000" b="0" i="0" dirty="0">
                          <a:solidFill>
                            <a:srgbClr val="004632"/>
                          </a:solidFill>
                          <a:effectLst/>
                        </a:rPr>
                        <a:t>• Update "Split Logic" to filter out non-selected users</a:t>
                      </a:r>
                      <a:endParaRPr lang="en-US" sz="2000" dirty="0">
                        <a:solidFill>
                          <a:srgbClr val="004632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2000" b="0" i="0" dirty="0">
                          <a:solidFill>
                            <a:srgbClr val="004632"/>
                          </a:solidFill>
                          <a:effectLst/>
                        </a:rPr>
                        <a:t>• Recalculate balances based on active subset</a:t>
                      </a:r>
                      <a:endParaRPr lang="en-US" sz="2000" dirty="0">
                        <a:solidFill>
                          <a:srgbClr val="004632"/>
                        </a:solidFill>
                        <a:effectLst/>
                      </a:endParaRPr>
                    </a:p>
                  </a:txBody>
                  <a:tcPr marL="58162" marR="58162" marT="29081" marB="29081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865827"/>
                  </a:ext>
                </a:extLst>
              </a:tr>
            </a:tbl>
          </a:graphicData>
        </a:graphic>
      </p:graphicFrame>
      <p:sp>
        <p:nvSpPr>
          <p:cNvPr id="26" name="Rectangle 1">
            <a:extLst>
              <a:ext uri="{FF2B5EF4-FFF2-40B4-BE49-F238E27FC236}">
                <a16:creationId xmlns:a16="http://schemas.microsoft.com/office/drawing/2014/main" id="{EF5ACC6A-2B9B-CE45-A1DA-3468928E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4901" y="1342152"/>
            <a:ext cx="28746779" cy="5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8408" y="-293904"/>
            <a:ext cx="18724815" cy="7574132"/>
            <a:chOff x="0" y="0"/>
            <a:chExt cx="4931639" cy="1994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31639" cy="1994833"/>
            </a:xfrm>
            <a:custGeom>
              <a:avLst/>
              <a:gdLst/>
              <a:ahLst/>
              <a:cxnLst/>
              <a:rect l="l" t="t" r="r" b="b"/>
              <a:pathLst>
                <a:path w="4931639" h="1994833">
                  <a:moveTo>
                    <a:pt x="0" y="0"/>
                  </a:moveTo>
                  <a:lnTo>
                    <a:pt x="4931639" y="0"/>
                  </a:lnTo>
                  <a:lnTo>
                    <a:pt x="4931639" y="1994833"/>
                  </a:lnTo>
                  <a:lnTo>
                    <a:pt x="0" y="1994833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31639" cy="2032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2667" y="407062"/>
            <a:ext cx="5064385" cy="6767056"/>
            <a:chOff x="0" y="0"/>
            <a:chExt cx="1333830" cy="17822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3830" cy="1782270"/>
            </a:xfrm>
            <a:custGeom>
              <a:avLst/>
              <a:gdLst/>
              <a:ahLst/>
              <a:cxnLst/>
              <a:rect l="l" t="t" r="r" b="b"/>
              <a:pathLst>
                <a:path w="1333830" h="1782270">
                  <a:moveTo>
                    <a:pt x="77964" y="0"/>
                  </a:moveTo>
                  <a:lnTo>
                    <a:pt x="1255866" y="0"/>
                  </a:lnTo>
                  <a:cubicBezTo>
                    <a:pt x="1298924" y="0"/>
                    <a:pt x="1333830" y="34906"/>
                    <a:pt x="1333830" y="77964"/>
                  </a:cubicBezTo>
                  <a:lnTo>
                    <a:pt x="1333830" y="1704306"/>
                  </a:lnTo>
                  <a:cubicBezTo>
                    <a:pt x="1333830" y="1747364"/>
                    <a:pt x="1298924" y="1782270"/>
                    <a:pt x="1255866" y="1782270"/>
                  </a:cubicBezTo>
                  <a:lnTo>
                    <a:pt x="77964" y="1782270"/>
                  </a:lnTo>
                  <a:cubicBezTo>
                    <a:pt x="34906" y="1782270"/>
                    <a:pt x="0" y="1747364"/>
                    <a:pt x="0" y="1704306"/>
                  </a:cubicBezTo>
                  <a:lnTo>
                    <a:pt x="0" y="77964"/>
                  </a:lnTo>
                  <a:cubicBezTo>
                    <a:pt x="0" y="34906"/>
                    <a:pt x="34906" y="0"/>
                    <a:pt x="77964" y="0"/>
                  </a:cubicBezTo>
                  <a:close/>
                </a:path>
              </a:pathLst>
            </a:custGeom>
            <a:solidFill>
              <a:srgbClr val="00463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3830" cy="1820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STORY 1 - Custom Percentage Split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Priority: High | Estimate: 8 Story Points</a:t>
              </a:r>
            </a:p>
            <a:p>
              <a:pPr algn="ctr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User Story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"As a Member, I want to split an expense by custom percentages, so that participants can pay amounts proportional to their specific share rather than just an equal division." 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Acceptance Criteria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Variable Input: The UI provides an input field for each participant to enter a specific percentage.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Sum Validation: The system must prevent submission if the total sum of percentages is not exactly 100%.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Real-time Calculation: The system must display the equivalent dollar amount as the user types the percentage.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Precision: Calculated amounts must round to two decimal places (financial accuracy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7438760"/>
            <a:ext cx="16230600" cy="259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04"/>
              </a:lnSpc>
            </a:pPr>
            <a:r>
              <a:rPr lang="en-US" sz="9186" spc="-459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SPRINT 2 - USER STORIES, ESTIMATES AND ACCEPTANCE CRITERIA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11807" y="407062"/>
            <a:ext cx="5064385" cy="6767056"/>
            <a:chOff x="0" y="0"/>
            <a:chExt cx="1333830" cy="17822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33830" cy="1782270"/>
            </a:xfrm>
            <a:custGeom>
              <a:avLst/>
              <a:gdLst/>
              <a:ahLst/>
              <a:cxnLst/>
              <a:rect l="l" t="t" r="r" b="b"/>
              <a:pathLst>
                <a:path w="1333830" h="1782270">
                  <a:moveTo>
                    <a:pt x="77964" y="0"/>
                  </a:moveTo>
                  <a:lnTo>
                    <a:pt x="1255866" y="0"/>
                  </a:lnTo>
                  <a:cubicBezTo>
                    <a:pt x="1298924" y="0"/>
                    <a:pt x="1333830" y="34906"/>
                    <a:pt x="1333830" y="77964"/>
                  </a:cubicBezTo>
                  <a:lnTo>
                    <a:pt x="1333830" y="1704306"/>
                  </a:lnTo>
                  <a:cubicBezTo>
                    <a:pt x="1333830" y="1747364"/>
                    <a:pt x="1298924" y="1782270"/>
                    <a:pt x="1255866" y="1782270"/>
                  </a:cubicBezTo>
                  <a:lnTo>
                    <a:pt x="77964" y="1782270"/>
                  </a:lnTo>
                  <a:cubicBezTo>
                    <a:pt x="34906" y="1782270"/>
                    <a:pt x="0" y="1747364"/>
                    <a:pt x="0" y="1704306"/>
                  </a:cubicBezTo>
                  <a:lnTo>
                    <a:pt x="0" y="77964"/>
                  </a:lnTo>
                  <a:cubicBezTo>
                    <a:pt x="0" y="34906"/>
                    <a:pt x="34906" y="0"/>
                    <a:pt x="77964" y="0"/>
                  </a:cubicBezTo>
                  <a:close/>
                </a:path>
              </a:pathLst>
            </a:custGeom>
            <a:solidFill>
              <a:srgbClr val="00463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33830" cy="1820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STORY 2 - Selective Participant Split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Priority: Medium | Estimate: 8 Story Points</a:t>
              </a:r>
            </a:p>
            <a:p>
              <a:pPr algn="ctr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User Story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"As a User, I want to choose which members share a particular expense, so that only the people who actually participated in the cost are responsible for the debt."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Acceptance Criteria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Selection UI: The "Add Expense" form includes a checklist of all group members.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Default State: By default, all members are selected (Equal Split), but users can "uncheck" specific people.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Exclusion Logic: Unchecked members must have a $0.00$ balance recorded for that transaction.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Dashboard Update: The dashboard must reflect that only the selected members' net balances were impacted.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94915" y="407062"/>
            <a:ext cx="5064385" cy="6767056"/>
            <a:chOff x="0" y="0"/>
            <a:chExt cx="1333830" cy="17822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3830" cy="1782270"/>
            </a:xfrm>
            <a:custGeom>
              <a:avLst/>
              <a:gdLst/>
              <a:ahLst/>
              <a:cxnLst/>
              <a:rect l="l" t="t" r="r" b="b"/>
              <a:pathLst>
                <a:path w="1333830" h="1782270">
                  <a:moveTo>
                    <a:pt x="77964" y="0"/>
                  </a:moveTo>
                  <a:lnTo>
                    <a:pt x="1255866" y="0"/>
                  </a:lnTo>
                  <a:cubicBezTo>
                    <a:pt x="1298924" y="0"/>
                    <a:pt x="1333830" y="34906"/>
                    <a:pt x="1333830" y="77964"/>
                  </a:cubicBezTo>
                  <a:lnTo>
                    <a:pt x="1333830" y="1704306"/>
                  </a:lnTo>
                  <a:cubicBezTo>
                    <a:pt x="1333830" y="1747364"/>
                    <a:pt x="1298924" y="1782270"/>
                    <a:pt x="1255866" y="1782270"/>
                  </a:cubicBezTo>
                  <a:lnTo>
                    <a:pt x="77964" y="1782270"/>
                  </a:lnTo>
                  <a:cubicBezTo>
                    <a:pt x="34906" y="1782270"/>
                    <a:pt x="0" y="1747364"/>
                    <a:pt x="0" y="1704306"/>
                  </a:cubicBezTo>
                  <a:lnTo>
                    <a:pt x="0" y="77964"/>
                  </a:lnTo>
                  <a:cubicBezTo>
                    <a:pt x="0" y="34906"/>
                    <a:pt x="34906" y="0"/>
                    <a:pt x="77964" y="0"/>
                  </a:cubicBezTo>
                  <a:close/>
                </a:path>
              </a:pathLst>
            </a:custGeom>
            <a:solidFill>
              <a:srgbClr val="0046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33830" cy="1820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STORY 3 - Receipt Management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Priority: Medium | Estimate: 5 Story Points</a:t>
              </a:r>
            </a:p>
            <a:p>
              <a:pPr algn="ctr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User Story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"As a Member, I want to attach a receipt to an expense, so that I have digital proof of the transaction for group reference and verification."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Acceptance Criteria </a:t>
              </a:r>
            </a:p>
            <a:p>
              <a:pPr algn="l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File Support: Users can upload common image formats (JPG, PNG) or PDFs during the expense creation flow.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Association: Each uploaded file must be uniquely linked to its corresponding Expense ID in the database.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Visibility: Attached receipts must be accessible and viewable by all members within that specific group.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erebri"/>
                  <a:ea typeface="Cerebri"/>
                  <a:cs typeface="Cerebri"/>
                  <a:sym typeface="Cerebri"/>
                </a:rPr>
                <a:t>Validation: The system must enforce a 5MB file size limit to maintain optimal performance.</a:t>
              </a:r>
            </a:p>
            <a:p>
              <a:pPr algn="ctr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endParaRPr>
            </a:p>
          </p:txBody>
        </p:sp>
      </p:grp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19836" y="-314897"/>
            <a:ext cx="9197959" cy="11063747"/>
            <a:chOff x="0" y="0"/>
            <a:chExt cx="2422508" cy="29139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2508" cy="2913909"/>
            </a:xfrm>
            <a:custGeom>
              <a:avLst/>
              <a:gdLst/>
              <a:ahLst/>
              <a:cxnLst/>
              <a:rect l="l" t="t" r="r" b="b"/>
              <a:pathLst>
                <a:path w="2422508" h="2913909">
                  <a:moveTo>
                    <a:pt x="0" y="0"/>
                  </a:moveTo>
                  <a:lnTo>
                    <a:pt x="2422508" y="0"/>
                  </a:lnTo>
                  <a:lnTo>
                    <a:pt x="2422508" y="2913909"/>
                  </a:lnTo>
                  <a:lnTo>
                    <a:pt x="0" y="2913909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22508" cy="2952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6087" y="4183617"/>
            <a:ext cx="6860113" cy="1204274"/>
            <a:chOff x="0" y="0"/>
            <a:chExt cx="1806779" cy="3171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6779" cy="317175"/>
            </a:xfrm>
            <a:custGeom>
              <a:avLst/>
              <a:gdLst/>
              <a:ahLst/>
              <a:cxnLst/>
              <a:rect l="l" t="t" r="r" b="b"/>
              <a:pathLst>
                <a:path w="1806779" h="317175">
                  <a:moveTo>
                    <a:pt x="0" y="0"/>
                  </a:moveTo>
                  <a:lnTo>
                    <a:pt x="1806779" y="0"/>
                  </a:lnTo>
                  <a:lnTo>
                    <a:pt x="1806779" y="317175"/>
                  </a:lnTo>
                  <a:lnTo>
                    <a:pt x="0" y="317175"/>
                  </a:lnTo>
                  <a:close/>
                </a:path>
              </a:pathLst>
            </a:custGeom>
            <a:ln w="19050" cap="sq">
              <a:solidFill>
                <a:srgbClr val="FEF8DD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06779" cy="3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6250" y="389189"/>
            <a:ext cx="6368218" cy="325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SPRINT 3 - </a:t>
            </a:r>
          </a:p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STORIES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00229" y="4338079"/>
            <a:ext cx="474423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25">
                <a:solidFill>
                  <a:srgbClr val="FEF8DD"/>
                </a:solidFill>
                <a:latin typeface="Cerebri"/>
                <a:ea typeface="Cerebri"/>
                <a:cs typeface="Cerebri"/>
                <a:sym typeface="Cerebri"/>
              </a:rPr>
              <a:t>AUTOMATED DEBT SIMPLIFICATION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6087" y="5514112"/>
            <a:ext cx="6670589" cy="331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FEF8DD"/>
                </a:solidFill>
                <a:latin typeface="Cerebri"/>
                <a:ea typeface="Cerebri"/>
                <a:cs typeface="Cerebri"/>
                <a:sym typeface="Cerebri"/>
              </a:rPr>
              <a:t>PRIORITY - HIGH</a:t>
            </a:r>
          </a:p>
          <a:p>
            <a:pPr algn="l">
              <a:lnSpc>
                <a:spcPts val="3779"/>
              </a:lnSpc>
            </a:pPr>
            <a:endParaRPr lang="en-US" sz="2699" spc="-113">
              <a:solidFill>
                <a:srgbClr val="FEF8DD"/>
              </a:solidFill>
              <a:latin typeface="Cerebri"/>
              <a:ea typeface="Cerebri"/>
              <a:cs typeface="Cerebri"/>
              <a:sym typeface="Cerebri"/>
            </a:endParaRPr>
          </a:p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FEF8DD"/>
                </a:solidFill>
                <a:latin typeface="Cerebri"/>
                <a:ea typeface="Cerebri"/>
                <a:cs typeface="Cerebri"/>
                <a:sym typeface="Cerebri"/>
              </a:rPr>
              <a:t>User Story: </a:t>
            </a:r>
          </a:p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FEF8DD"/>
                </a:solidFill>
                <a:latin typeface="Cerebri"/>
                <a:ea typeface="Cerebri"/>
                <a:cs typeface="Cerebri"/>
                <a:sym typeface="Cerebri"/>
              </a:rPr>
              <a:t>As a Member, I want the system to automatically generate settlement instructions, so that debts are cleared with the minimum number of transactions possible.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640" y="4435234"/>
            <a:ext cx="764797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999" b="1" spc="-155">
                <a:solidFill>
                  <a:srgbClr val="FEF8DD"/>
                </a:solidFill>
                <a:latin typeface="Cerebri Bold"/>
                <a:ea typeface="Cerebri Bold"/>
                <a:cs typeface="Cerebri Bold"/>
                <a:sym typeface="Cerebri Bold"/>
              </a:rPr>
              <a:t>01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134449" y="1028700"/>
            <a:ext cx="6860113" cy="1204274"/>
            <a:chOff x="0" y="0"/>
            <a:chExt cx="1806779" cy="3171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6779" cy="317175"/>
            </a:xfrm>
            <a:custGeom>
              <a:avLst/>
              <a:gdLst/>
              <a:ahLst/>
              <a:cxnLst/>
              <a:rect l="l" t="t" r="r" b="b"/>
              <a:pathLst>
                <a:path w="1806779" h="317175">
                  <a:moveTo>
                    <a:pt x="0" y="0"/>
                  </a:moveTo>
                  <a:lnTo>
                    <a:pt x="1806779" y="0"/>
                  </a:lnTo>
                  <a:lnTo>
                    <a:pt x="1806779" y="317175"/>
                  </a:lnTo>
                  <a:lnTo>
                    <a:pt x="0" y="317175"/>
                  </a:lnTo>
                  <a:close/>
                </a:path>
              </a:pathLst>
            </a:custGeom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06779" cy="3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367001" y="1280317"/>
            <a:ext cx="764797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999" b="1" spc="-155">
                <a:solidFill>
                  <a:srgbClr val="004632"/>
                </a:solidFill>
                <a:latin typeface="Cerebri Bold"/>
                <a:ea typeface="Cerebri Bold"/>
                <a:cs typeface="Cerebri Bold"/>
                <a:sym typeface="Cerebri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6524" y="1183162"/>
            <a:ext cx="474423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25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FINAL SETTLEMENT &amp; BALANCE RESET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34449" y="2503406"/>
            <a:ext cx="7814005" cy="283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PRIORITY - HIGH</a:t>
            </a:r>
          </a:p>
          <a:p>
            <a:pPr algn="l">
              <a:lnSpc>
                <a:spcPts val="3779"/>
              </a:lnSpc>
            </a:pPr>
            <a:endParaRPr lang="en-US" sz="2699" spc="-113">
              <a:solidFill>
                <a:srgbClr val="004632"/>
              </a:solidFill>
              <a:latin typeface="Cerebri"/>
              <a:ea typeface="Cerebri"/>
              <a:cs typeface="Cerebri"/>
              <a:sym typeface="Cerebri"/>
            </a:endParaRPr>
          </a:p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User Story: </a:t>
            </a:r>
          </a:p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As a Member, I want to clear all debts after payment, so that my balance sheet reflects zero owed and we can begin a new expense cycle.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134449" y="5654277"/>
            <a:ext cx="6860113" cy="1204274"/>
            <a:chOff x="0" y="0"/>
            <a:chExt cx="1806779" cy="3171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06779" cy="317175"/>
            </a:xfrm>
            <a:custGeom>
              <a:avLst/>
              <a:gdLst/>
              <a:ahLst/>
              <a:cxnLst/>
              <a:rect l="l" t="t" r="r" b="b"/>
              <a:pathLst>
                <a:path w="1806779" h="317175">
                  <a:moveTo>
                    <a:pt x="0" y="0"/>
                  </a:moveTo>
                  <a:lnTo>
                    <a:pt x="1806779" y="0"/>
                  </a:lnTo>
                  <a:lnTo>
                    <a:pt x="1806779" y="317175"/>
                  </a:lnTo>
                  <a:lnTo>
                    <a:pt x="0" y="317175"/>
                  </a:lnTo>
                  <a:close/>
                </a:path>
              </a:pathLst>
            </a:custGeom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806779" cy="3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367001" y="5905894"/>
            <a:ext cx="764797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999" b="1" spc="-155">
                <a:solidFill>
                  <a:srgbClr val="004632"/>
                </a:solidFill>
                <a:latin typeface="Cerebri Bold"/>
                <a:ea typeface="Cerebri Bold"/>
                <a:cs typeface="Cerebri Bold"/>
                <a:sym typeface="Cerebri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76524" y="5808739"/>
            <a:ext cx="474423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25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EXPORT FULL BALANCE SHEET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34449" y="7125251"/>
            <a:ext cx="7814005" cy="283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PRIORITY - MEDIUM</a:t>
            </a:r>
          </a:p>
          <a:p>
            <a:pPr algn="l">
              <a:lnSpc>
                <a:spcPts val="3779"/>
              </a:lnSpc>
            </a:pPr>
            <a:endParaRPr lang="en-US" sz="2699" spc="-113">
              <a:solidFill>
                <a:srgbClr val="004632"/>
              </a:solidFill>
              <a:latin typeface="Cerebri"/>
              <a:ea typeface="Cerebri"/>
              <a:cs typeface="Cerebri"/>
              <a:sym typeface="Cerebri"/>
            </a:endParaRPr>
          </a:p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User Story: </a:t>
            </a:r>
          </a:p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As a Member, I want to export the full balance sheet, so that I can have a permanent record of all transactions and final settlements for my personal files.</a:t>
            </a: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29795" y="2615532"/>
            <a:ext cx="19547590" cy="8076668"/>
            <a:chOff x="0" y="0"/>
            <a:chExt cx="5148336" cy="21271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8337" cy="2127188"/>
            </a:xfrm>
            <a:custGeom>
              <a:avLst/>
              <a:gdLst/>
              <a:ahLst/>
              <a:cxnLst/>
              <a:rect l="l" t="t" r="r" b="b"/>
              <a:pathLst>
                <a:path w="5148337" h="2127188">
                  <a:moveTo>
                    <a:pt x="0" y="0"/>
                  </a:moveTo>
                  <a:lnTo>
                    <a:pt x="5148337" y="0"/>
                  </a:lnTo>
                  <a:lnTo>
                    <a:pt x="5148337" y="2127188"/>
                  </a:lnTo>
                  <a:lnTo>
                    <a:pt x="0" y="2127188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48336" cy="2165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6250" y="3229121"/>
            <a:ext cx="5563846" cy="783322"/>
            <a:chOff x="0" y="0"/>
            <a:chExt cx="1465375" cy="2063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5375" cy="206307"/>
            </a:xfrm>
            <a:custGeom>
              <a:avLst/>
              <a:gdLst/>
              <a:ahLst/>
              <a:cxnLst/>
              <a:rect l="l" t="t" r="r" b="b"/>
              <a:pathLst>
                <a:path w="1465375" h="206307">
                  <a:moveTo>
                    <a:pt x="0" y="0"/>
                  </a:moveTo>
                  <a:lnTo>
                    <a:pt x="1465375" y="0"/>
                  </a:lnTo>
                  <a:lnTo>
                    <a:pt x="1465375" y="206307"/>
                  </a:lnTo>
                  <a:lnTo>
                    <a:pt x="0" y="206307"/>
                  </a:lnTo>
                  <a:close/>
                </a:path>
              </a:pathLst>
            </a:custGeom>
            <a:solidFill>
              <a:srgbClr val="FEF8DD"/>
            </a:solidFill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65375" cy="244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6250" y="4118469"/>
            <a:ext cx="5563846" cy="783322"/>
            <a:chOff x="0" y="0"/>
            <a:chExt cx="1465375" cy="2063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5375" cy="206307"/>
            </a:xfrm>
            <a:custGeom>
              <a:avLst/>
              <a:gdLst/>
              <a:ahLst/>
              <a:cxnLst/>
              <a:rect l="l" t="t" r="r" b="b"/>
              <a:pathLst>
                <a:path w="1465375" h="206307">
                  <a:moveTo>
                    <a:pt x="0" y="0"/>
                  </a:moveTo>
                  <a:lnTo>
                    <a:pt x="1465375" y="0"/>
                  </a:lnTo>
                  <a:lnTo>
                    <a:pt x="1465375" y="206307"/>
                  </a:lnTo>
                  <a:lnTo>
                    <a:pt x="0" y="206307"/>
                  </a:lnTo>
                  <a:close/>
                </a:path>
              </a:pathLst>
            </a:custGeom>
            <a:solidFill>
              <a:srgbClr val="FEF8DD"/>
            </a:solidFill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5375" cy="244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6250" y="5006566"/>
            <a:ext cx="5563846" cy="783322"/>
            <a:chOff x="0" y="0"/>
            <a:chExt cx="1465375" cy="2063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5375" cy="206307"/>
            </a:xfrm>
            <a:custGeom>
              <a:avLst/>
              <a:gdLst/>
              <a:ahLst/>
              <a:cxnLst/>
              <a:rect l="l" t="t" r="r" b="b"/>
              <a:pathLst>
                <a:path w="1465375" h="206307">
                  <a:moveTo>
                    <a:pt x="0" y="0"/>
                  </a:moveTo>
                  <a:lnTo>
                    <a:pt x="1465375" y="0"/>
                  </a:lnTo>
                  <a:lnTo>
                    <a:pt x="1465375" y="206307"/>
                  </a:lnTo>
                  <a:lnTo>
                    <a:pt x="0" y="206307"/>
                  </a:lnTo>
                  <a:close/>
                </a:path>
              </a:pathLst>
            </a:custGeom>
            <a:solidFill>
              <a:srgbClr val="FEF8DD"/>
            </a:solidFill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65375" cy="244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37306" y="6577109"/>
            <a:ext cx="5026161" cy="3233641"/>
            <a:chOff x="0" y="0"/>
            <a:chExt cx="1323762" cy="8516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23762" cy="851658"/>
            </a:xfrm>
            <a:custGeom>
              <a:avLst/>
              <a:gdLst/>
              <a:ahLst/>
              <a:cxnLst/>
              <a:rect l="l" t="t" r="r" b="b"/>
              <a:pathLst>
                <a:path w="1323762" h="851658">
                  <a:moveTo>
                    <a:pt x="0" y="0"/>
                  </a:moveTo>
                  <a:lnTo>
                    <a:pt x="1323762" y="0"/>
                  </a:lnTo>
                  <a:lnTo>
                    <a:pt x="1323762" y="851658"/>
                  </a:lnTo>
                  <a:lnTo>
                    <a:pt x="0" y="851658"/>
                  </a:lnTo>
                  <a:close/>
                </a:path>
              </a:pathLst>
            </a:custGeom>
            <a:solidFill>
              <a:srgbClr val="FEF8DD"/>
            </a:solidFill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23762" cy="88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57869" y="6577109"/>
            <a:ext cx="3871758" cy="1489887"/>
            <a:chOff x="0" y="0"/>
            <a:chExt cx="1019722" cy="392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9722" cy="392398"/>
            </a:xfrm>
            <a:custGeom>
              <a:avLst/>
              <a:gdLst/>
              <a:ahLst/>
              <a:cxnLst/>
              <a:rect l="l" t="t" r="r" b="b"/>
              <a:pathLst>
                <a:path w="1019722" h="392398">
                  <a:moveTo>
                    <a:pt x="0" y="0"/>
                  </a:moveTo>
                  <a:lnTo>
                    <a:pt x="1019722" y="0"/>
                  </a:lnTo>
                  <a:lnTo>
                    <a:pt x="1019722" y="392398"/>
                  </a:lnTo>
                  <a:lnTo>
                    <a:pt x="0" y="392398"/>
                  </a:lnTo>
                  <a:close/>
                </a:path>
              </a:pathLst>
            </a:custGeom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19722" cy="430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498" y="6349664"/>
            <a:ext cx="3367776" cy="3572197"/>
          </a:xfrm>
          <a:prstGeom prst="rect">
            <a:avLst/>
          </a:prstGeom>
        </p:spPr>
      </p:pic>
      <p:graphicFrame>
        <p:nvGraphicFramePr>
          <p:cNvPr id="21" name="Object 21"/>
          <p:cNvGraphicFramePr/>
          <p:nvPr/>
        </p:nvGraphicFramePr>
        <p:xfrm>
          <a:off x="6500019" y="3129692"/>
          <a:ext cx="565785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781800" imgH="4267200" progId="Excel.Sheet.12">
                  <p:embed/>
                </p:oleObj>
              </mc:Choice>
              <mc:Fallback>
                <p:oleObj name="Worksheet" r:id="rId3" imgW="6781800" imgH="4267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00019" y="3129692"/>
                        <a:ext cx="565785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651633" y="657225"/>
            <a:ext cx="17005029" cy="129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10"/>
              </a:lnSpc>
            </a:pPr>
            <a:r>
              <a:rPr lang="en-US" sz="9100" spc="-455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ESTIMATED SPRINTS FOR FULL DELIVERY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57869" y="8165355"/>
            <a:ext cx="5539947" cy="212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5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 spc="-6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Projected Completion: Based on our actual median velocity, the project is scheduled for completion at the end of Sprint 3.</a:t>
            </a:r>
          </a:p>
          <a:p>
            <a:pPr marL="323855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 spc="-6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Confidence Rating: 90%.</a:t>
            </a:r>
          </a:p>
          <a:p>
            <a:pPr marL="323855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 spc="-63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Analysis: While our median is 21, our "Sprint 1 Burst" of 37 points provided a significant head start. This allows us to handle the complex "Settlement Engine" in Sprint 3 even if our velocity remains at the median level of 21.</a:t>
            </a:r>
          </a:p>
          <a:p>
            <a:pPr algn="l">
              <a:lnSpc>
                <a:spcPts val="2100"/>
              </a:lnSpc>
            </a:pPr>
            <a:endParaRPr lang="en-US" sz="1500" spc="-63">
              <a:solidFill>
                <a:srgbClr val="004632"/>
              </a:solidFill>
              <a:latin typeface="Cerebri"/>
              <a:ea typeface="Cerebri"/>
              <a:cs typeface="Cerebri"/>
              <a:sym typeface="Cerebri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303124" y="6615766"/>
            <a:ext cx="3581248" cy="145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</a:pPr>
            <a:r>
              <a:rPr lang="en-US" sz="2899" b="1" spc="-113">
                <a:solidFill>
                  <a:srgbClr val="004632"/>
                </a:solidFill>
                <a:latin typeface="Cerebri Bold"/>
                <a:ea typeface="Cerebri Bold"/>
                <a:cs typeface="Cerebri Bold"/>
                <a:sym typeface="Cerebri Bold"/>
              </a:rPr>
              <a:t>90% CONFIDENCE INTERVAL (CI)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8205" y="3397706"/>
            <a:ext cx="1572393" cy="41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600" spc="-101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SPRINT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78956" y="3334983"/>
            <a:ext cx="2292927" cy="54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6"/>
              </a:lnSpc>
            </a:pPr>
            <a:r>
              <a:rPr lang="en-US" sz="3300" spc="-128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37 points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8205" y="4283741"/>
            <a:ext cx="1572393" cy="41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600" spc="-101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SPRINT 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78956" y="4221017"/>
            <a:ext cx="1765242" cy="54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6"/>
              </a:lnSpc>
            </a:pPr>
            <a:r>
              <a:rPr lang="en-US" sz="3300" spc="-128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21 points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8205" y="5171435"/>
            <a:ext cx="1572393" cy="41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600" spc="-101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SPRINT 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78956" y="5108712"/>
            <a:ext cx="1765242" cy="54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6"/>
              </a:lnSpc>
            </a:pPr>
            <a:r>
              <a:rPr lang="en-US" sz="3300" spc="-128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21 points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4719" y="6980513"/>
            <a:ext cx="3871758" cy="1489887"/>
            <a:chOff x="0" y="0"/>
            <a:chExt cx="1019722" cy="3923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9722" cy="392398"/>
            </a:xfrm>
            <a:custGeom>
              <a:avLst/>
              <a:gdLst/>
              <a:ahLst/>
              <a:cxnLst/>
              <a:rect l="l" t="t" r="r" b="b"/>
              <a:pathLst>
                <a:path w="1019722" h="392398">
                  <a:moveTo>
                    <a:pt x="0" y="0"/>
                  </a:moveTo>
                  <a:lnTo>
                    <a:pt x="1019722" y="0"/>
                  </a:lnTo>
                  <a:lnTo>
                    <a:pt x="1019722" y="392398"/>
                  </a:lnTo>
                  <a:lnTo>
                    <a:pt x="0" y="392398"/>
                  </a:lnTo>
                  <a:close/>
                </a:path>
              </a:pathLst>
            </a:custGeom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19722" cy="430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69974" y="7228475"/>
            <a:ext cx="3581248" cy="96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</a:pPr>
            <a:r>
              <a:rPr lang="en-US" sz="2899" b="1" spc="-113">
                <a:solidFill>
                  <a:srgbClr val="004632"/>
                </a:solidFill>
                <a:latin typeface="Cerebri Bold"/>
                <a:ea typeface="Cerebri Bold"/>
                <a:cs typeface="Cerebri Bold"/>
                <a:sym typeface="Cerebri Bold"/>
              </a:rPr>
              <a:t>3 SPRINTS REQUIRED IN TOTAL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4719" y="8546600"/>
            <a:ext cx="3871758" cy="146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8"/>
              </a:lnSpc>
              <a:spcBef>
                <a:spcPct val="0"/>
              </a:spcBef>
            </a:pPr>
            <a:r>
              <a:rPr lang="en-US" sz="1677">
                <a:solidFill>
                  <a:srgbClr val="004632"/>
                </a:solidFill>
                <a:latin typeface="Cerebri"/>
                <a:ea typeface="Cerebri"/>
                <a:cs typeface="Cerebri"/>
                <a:sym typeface="Cerebri"/>
              </a:rPr>
              <a:t>The "Win": By the end of Sprint 2, we will have 58 points done (37 + 21), leaving only 21 points for the final sprint. It fits perfectly into a 3-sprint plan.</a:t>
            </a: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9932" y="-293904"/>
            <a:ext cx="9910737" cy="10811829"/>
            <a:chOff x="0" y="0"/>
            <a:chExt cx="2610235" cy="2847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235" cy="2847560"/>
            </a:xfrm>
            <a:custGeom>
              <a:avLst/>
              <a:gdLst/>
              <a:ahLst/>
              <a:cxnLst/>
              <a:rect l="l" t="t" r="r" b="b"/>
              <a:pathLst>
                <a:path w="2610235" h="2847560">
                  <a:moveTo>
                    <a:pt x="0" y="0"/>
                  </a:moveTo>
                  <a:lnTo>
                    <a:pt x="2610235" y="0"/>
                  </a:lnTo>
                  <a:lnTo>
                    <a:pt x="2610235" y="2847560"/>
                  </a:lnTo>
                  <a:lnTo>
                    <a:pt x="0" y="2847560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0235" cy="28856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6250" y="476250"/>
            <a:ext cx="7553986" cy="8229600"/>
            <a:chOff x="0" y="0"/>
            <a:chExt cx="2529905" cy="27561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9905" cy="2756175"/>
            </a:xfrm>
            <a:custGeom>
              <a:avLst/>
              <a:gdLst/>
              <a:ahLst/>
              <a:cxnLst/>
              <a:rect l="l" t="t" r="r" b="b"/>
              <a:pathLst>
                <a:path w="2529905" h="2756175">
                  <a:moveTo>
                    <a:pt x="0" y="0"/>
                  </a:moveTo>
                  <a:lnTo>
                    <a:pt x="2529905" y="0"/>
                  </a:lnTo>
                  <a:lnTo>
                    <a:pt x="2529905" y="2756175"/>
                  </a:lnTo>
                  <a:lnTo>
                    <a:pt x="0" y="2756175"/>
                  </a:lnTo>
                  <a:close/>
                </a:path>
              </a:pathLst>
            </a:custGeom>
            <a:solidFill>
              <a:srgbClr val="FEF8DD"/>
            </a:solidFill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529905" cy="2708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740112" y="9123688"/>
            <a:ext cx="1078584" cy="0"/>
          </a:xfrm>
          <a:prstGeom prst="line">
            <a:avLst/>
          </a:prstGeom>
          <a:ln w="66675" cap="flat">
            <a:solidFill>
              <a:srgbClr val="BDD0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821272" y="2476689"/>
            <a:ext cx="6657721" cy="4001715"/>
          </a:xfrm>
          <a:custGeom>
            <a:avLst/>
            <a:gdLst/>
            <a:ahLst/>
            <a:cxnLst/>
            <a:rect l="l" t="t" r="r" b="b"/>
            <a:pathLst>
              <a:path w="6657721" h="4001715">
                <a:moveTo>
                  <a:pt x="0" y="0"/>
                </a:moveTo>
                <a:lnTo>
                  <a:pt x="6657721" y="0"/>
                </a:lnTo>
                <a:lnTo>
                  <a:pt x="6657721" y="4001715"/>
                </a:lnTo>
                <a:lnTo>
                  <a:pt x="0" y="400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731501" y="1002788"/>
            <a:ext cx="7034737" cy="485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CURRENT</a:t>
            </a:r>
          </a:p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BURNDOWN </a:t>
            </a:r>
          </a:p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CHART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2388" y="6798318"/>
            <a:ext cx="6912963" cy="232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92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The gray line represents the actual burn from Sprint 1.</a:t>
            </a:r>
          </a:p>
          <a:p>
            <a:pPr algn="l">
              <a:lnSpc>
                <a:spcPts val="3080"/>
              </a:lnSpc>
            </a:pPr>
            <a:r>
              <a:rPr lang="en-US" sz="2200" spc="-92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We reduced the remaining work from 79 to 26 story points, which reflects strong progress in our first sprint.</a:t>
            </a:r>
          </a:p>
          <a:p>
            <a:pPr algn="l">
              <a:lnSpc>
                <a:spcPts val="3080"/>
              </a:lnSpc>
            </a:pPr>
            <a:endParaRPr lang="en-US" sz="2200" spc="-92">
              <a:solidFill>
                <a:srgbClr val="BDD0A0"/>
              </a:solidFill>
              <a:latin typeface="Cerebri"/>
              <a:ea typeface="Cerebri"/>
              <a:cs typeface="Cerebri"/>
              <a:sym typeface="Cerebri"/>
            </a:endParaRPr>
          </a:p>
          <a:p>
            <a:pPr algn="l">
              <a:lnSpc>
                <a:spcPts val="3080"/>
              </a:lnSpc>
            </a:pPr>
            <a:r>
              <a:rPr lang="en-US" sz="2200" spc="-92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The yellow line represents our estimated projected burn based on planned velocity for upcoming sprints.</a:t>
            </a: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BDD0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868926" y="486645"/>
            <a:ext cx="9187241" cy="4214647"/>
          </a:xfrm>
          <a:custGeom>
            <a:avLst/>
            <a:gdLst/>
            <a:ahLst/>
            <a:cxnLst/>
            <a:rect l="l" t="t" r="r" b="b"/>
            <a:pathLst>
              <a:path w="9187241" h="4214647">
                <a:moveTo>
                  <a:pt x="0" y="0"/>
                </a:moveTo>
                <a:lnTo>
                  <a:pt x="9187242" y="0"/>
                </a:lnTo>
                <a:lnTo>
                  <a:pt x="9187242" y="4214646"/>
                </a:lnTo>
                <a:lnTo>
                  <a:pt x="0" y="4214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6250" y="5801099"/>
            <a:ext cx="11301259" cy="3828301"/>
          </a:xfrm>
          <a:custGeom>
            <a:avLst/>
            <a:gdLst/>
            <a:ahLst/>
            <a:cxnLst/>
            <a:rect l="l" t="t" r="r" b="b"/>
            <a:pathLst>
              <a:path w="11301259" h="3828301">
                <a:moveTo>
                  <a:pt x="0" y="0"/>
                </a:moveTo>
                <a:lnTo>
                  <a:pt x="11301259" y="0"/>
                </a:lnTo>
                <a:lnTo>
                  <a:pt x="11301259" y="3828302"/>
                </a:lnTo>
                <a:lnTo>
                  <a:pt x="0" y="3828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6250" y="3829314"/>
            <a:ext cx="885387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Shows all the succcessful and failed builds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6250" y="338348"/>
            <a:ext cx="7034737" cy="325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GRADLE</a:t>
            </a:r>
          </a:p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BUILD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34760" y="6007100"/>
            <a:ext cx="7034737" cy="325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004632"/>
                </a:solidFill>
                <a:latin typeface="Norwester"/>
                <a:ea typeface="Norwester"/>
                <a:cs typeface="Norwester"/>
                <a:sym typeface="Norwester"/>
              </a:rPr>
              <a:t>PLANNING BOARD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57497"/>
            <a:ext cx="2852155" cy="1204274"/>
            <a:chOff x="0" y="0"/>
            <a:chExt cx="751185" cy="317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1185" cy="317175"/>
            </a:xfrm>
            <a:custGeom>
              <a:avLst/>
              <a:gdLst/>
              <a:ahLst/>
              <a:cxnLst/>
              <a:rect l="l" t="t" r="r" b="b"/>
              <a:pathLst>
                <a:path w="751185" h="317175">
                  <a:moveTo>
                    <a:pt x="0" y="0"/>
                  </a:moveTo>
                  <a:lnTo>
                    <a:pt x="751185" y="0"/>
                  </a:lnTo>
                  <a:lnTo>
                    <a:pt x="751185" y="317175"/>
                  </a:lnTo>
                  <a:lnTo>
                    <a:pt x="0" y="317175"/>
                  </a:lnTo>
                  <a:close/>
                </a:path>
              </a:pathLst>
            </a:custGeom>
            <a:ln w="19050" cap="sq">
              <a:solidFill>
                <a:srgbClr val="BDD0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51185" cy="3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1631" y="3035796"/>
            <a:ext cx="120833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25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250" y="4116705"/>
            <a:ext cx="5704311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Start writing clearer acceptance criteria for stories like Add Expense and Equal Split.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Start breaking 8-point stories (like Basic Balance Dashboard) into smaller stories earlier.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Start updating the burndown chart daily instead of end-of-week.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Start peer code reviews before merging PRs.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Start estimating tasks (not just stories) during sprint planning.</a:t>
            </a:r>
          </a:p>
          <a:p>
            <a:pPr algn="l">
              <a:lnSpc>
                <a:spcPts val="3779"/>
              </a:lnSpc>
            </a:pPr>
            <a:endParaRPr lang="en-US" sz="2699" spc="-113">
              <a:solidFill>
                <a:srgbClr val="BDD0A0"/>
              </a:solidFill>
              <a:latin typeface="Cerebri"/>
              <a:ea typeface="Cerebri"/>
              <a:cs typeface="Cerebri"/>
              <a:sym typeface="Cereb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6250" y="601683"/>
            <a:ext cx="9149427" cy="165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RETROSPECTIVE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069698" y="2657497"/>
            <a:ext cx="2852155" cy="1204274"/>
            <a:chOff x="0" y="0"/>
            <a:chExt cx="751185" cy="3171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1185" cy="317175"/>
            </a:xfrm>
            <a:custGeom>
              <a:avLst/>
              <a:gdLst/>
              <a:ahLst/>
              <a:cxnLst/>
              <a:rect l="l" t="t" r="r" b="b"/>
              <a:pathLst>
                <a:path w="751185" h="317175">
                  <a:moveTo>
                    <a:pt x="0" y="0"/>
                  </a:moveTo>
                  <a:lnTo>
                    <a:pt x="751185" y="0"/>
                  </a:lnTo>
                  <a:lnTo>
                    <a:pt x="751185" y="317175"/>
                  </a:lnTo>
                  <a:lnTo>
                    <a:pt x="0" y="317175"/>
                  </a:lnTo>
                  <a:close/>
                </a:path>
              </a:pathLst>
            </a:custGeom>
            <a:ln w="19050" cap="sq">
              <a:solidFill>
                <a:srgbClr val="BDD0A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51185" cy="3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54893" y="3035796"/>
            <a:ext cx="120833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25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49781" y="4116705"/>
            <a:ext cx="4890968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Stop taking large stories into sprint without proper decomposition.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Stop working on tasks without moving them on the board.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Stop waiting until the last 2 days to test features.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Stop unclear communication about role-based permissions (Admin vs Member).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Stop assuming backend API is ready without confirmation.</a:t>
            </a:r>
          </a:p>
          <a:p>
            <a:pPr algn="l">
              <a:lnSpc>
                <a:spcPts val="3779"/>
              </a:lnSpc>
            </a:pPr>
            <a:endParaRPr lang="en-US" sz="2699" spc="-113">
              <a:solidFill>
                <a:srgbClr val="BDD0A0"/>
              </a:solidFill>
              <a:latin typeface="Cerebri"/>
              <a:ea typeface="Cerebri"/>
              <a:cs typeface="Cerebri"/>
              <a:sym typeface="Cerebri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3112728" y="2657497"/>
            <a:ext cx="2852155" cy="1204274"/>
            <a:chOff x="0" y="0"/>
            <a:chExt cx="751185" cy="3171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51185" cy="317175"/>
            </a:xfrm>
            <a:custGeom>
              <a:avLst/>
              <a:gdLst/>
              <a:ahLst/>
              <a:cxnLst/>
              <a:rect l="l" t="t" r="r" b="b"/>
              <a:pathLst>
                <a:path w="751185" h="317175">
                  <a:moveTo>
                    <a:pt x="0" y="0"/>
                  </a:moveTo>
                  <a:lnTo>
                    <a:pt x="751185" y="0"/>
                  </a:lnTo>
                  <a:lnTo>
                    <a:pt x="751185" y="317175"/>
                  </a:lnTo>
                  <a:lnTo>
                    <a:pt x="0" y="317175"/>
                  </a:lnTo>
                  <a:close/>
                </a:path>
              </a:pathLst>
            </a:custGeom>
            <a:ln w="19050" cap="sq">
              <a:solidFill>
                <a:srgbClr val="BDD0A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51185" cy="3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330474" y="3035796"/>
            <a:ext cx="218434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25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CONTINUE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68332" y="4116705"/>
            <a:ext cx="4890968" cy="664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Continue good collaboration between frontend and backend.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Continue daily standups — they helped unblock issues quickly.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Continue focusing on user value (Login → Add Expense → Dashboard flow).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spc="-113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Continue realistic story point estimation (5–8 range was manageable).</a:t>
            </a:r>
          </a:p>
          <a:p>
            <a:pPr algn="l">
              <a:lnSpc>
                <a:spcPts val="3779"/>
              </a:lnSpc>
            </a:pPr>
            <a:endParaRPr lang="en-US" sz="2699" spc="-113">
              <a:solidFill>
                <a:srgbClr val="BDD0A0"/>
              </a:solidFill>
              <a:latin typeface="Cerebri"/>
              <a:ea typeface="Cerebri"/>
              <a:cs typeface="Cerebri"/>
              <a:sym typeface="Cerebri"/>
            </a:endParaRPr>
          </a:p>
          <a:p>
            <a:pPr algn="l">
              <a:lnSpc>
                <a:spcPts val="3779"/>
              </a:lnSpc>
            </a:pPr>
            <a:endParaRPr lang="en-US" sz="2699" spc="-113">
              <a:solidFill>
                <a:srgbClr val="BDD0A0"/>
              </a:solidFill>
              <a:latin typeface="Cerebri"/>
              <a:ea typeface="Cerebri"/>
              <a:cs typeface="Cerebri"/>
              <a:sym typeface="Cere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6966" y="6336726"/>
            <a:ext cx="9825913" cy="206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91"/>
              </a:lnSpc>
            </a:pPr>
            <a:r>
              <a:rPr lang="en-US" sz="14446" spc="-722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FOR YOUR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32745" y="4460170"/>
            <a:ext cx="7256170" cy="206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91"/>
              </a:lnSpc>
            </a:pPr>
            <a:r>
              <a:rPr lang="en-US" sz="14446" spc="-722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2745" y="8100265"/>
            <a:ext cx="8751495" cy="206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91"/>
              </a:lnSpc>
            </a:pPr>
            <a:r>
              <a:rPr lang="en-US" sz="14446" spc="-722">
                <a:solidFill>
                  <a:srgbClr val="BDD0A0"/>
                </a:solidFill>
                <a:latin typeface="Norwester"/>
                <a:ea typeface="Norwester"/>
                <a:cs typeface="Norwester"/>
                <a:sym typeface="Norwester"/>
              </a:rPr>
              <a:t>COOPERATION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13073102" y="1028700"/>
            <a:ext cx="4186198" cy="2951806"/>
          </a:xfrm>
          <a:custGeom>
            <a:avLst/>
            <a:gdLst/>
            <a:ahLst/>
            <a:cxnLst/>
            <a:rect l="l" t="t" r="r" b="b"/>
            <a:pathLst>
              <a:path w="4186198" h="2951806">
                <a:moveTo>
                  <a:pt x="0" y="0"/>
                </a:moveTo>
                <a:lnTo>
                  <a:pt x="4186198" y="0"/>
                </a:lnTo>
                <a:lnTo>
                  <a:pt x="4186198" y="2951806"/>
                </a:lnTo>
                <a:lnTo>
                  <a:pt x="0" y="2951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B98080D7-8275-AECF-E561-D756F7705913}"/>
              </a:ext>
            </a:extLst>
          </p:cNvPr>
          <p:cNvGrpSpPr/>
          <p:nvPr/>
        </p:nvGrpSpPr>
        <p:grpSpPr>
          <a:xfrm>
            <a:off x="1219200" y="1028700"/>
            <a:ext cx="8153400" cy="1204274"/>
            <a:chOff x="0" y="0"/>
            <a:chExt cx="751185" cy="31717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5BE2DEF6-918A-66D6-573E-F922501BF68A}"/>
                </a:ext>
              </a:extLst>
            </p:cNvPr>
            <p:cNvSpPr/>
            <p:nvPr/>
          </p:nvSpPr>
          <p:spPr>
            <a:xfrm>
              <a:off x="0" y="0"/>
              <a:ext cx="751185" cy="317175"/>
            </a:xfrm>
            <a:custGeom>
              <a:avLst/>
              <a:gdLst/>
              <a:ahLst/>
              <a:cxnLst/>
              <a:rect l="l" t="t" r="r" b="b"/>
              <a:pathLst>
                <a:path w="751185" h="317175">
                  <a:moveTo>
                    <a:pt x="0" y="0"/>
                  </a:moveTo>
                  <a:lnTo>
                    <a:pt x="751185" y="0"/>
                  </a:lnTo>
                  <a:lnTo>
                    <a:pt x="751185" y="317175"/>
                  </a:lnTo>
                  <a:lnTo>
                    <a:pt x="0" y="317175"/>
                  </a:lnTo>
                  <a:close/>
                </a:path>
              </a:pathLst>
            </a:custGeom>
            <a:ln w="19050" cap="sq">
              <a:solidFill>
                <a:srgbClr val="BDD0A0"/>
              </a:solidFill>
              <a:prstDash val="solid"/>
              <a:miter/>
            </a:ln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05147E6-91C0-BC47-3720-94136A033F8B}"/>
                </a:ext>
              </a:extLst>
            </p:cNvPr>
            <p:cNvSpPr txBox="1"/>
            <p:nvPr/>
          </p:nvSpPr>
          <p:spPr>
            <a:xfrm>
              <a:off x="0" y="-38100"/>
              <a:ext cx="751185" cy="3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282FC262-D57C-4662-ADEC-1DFC406B8B0E}"/>
              </a:ext>
            </a:extLst>
          </p:cNvPr>
          <p:cNvSpPr txBox="1"/>
          <p:nvPr/>
        </p:nvSpPr>
        <p:spPr>
          <a:xfrm>
            <a:off x="1600200" y="1439689"/>
            <a:ext cx="7543800" cy="452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2999" spc="-125" dirty="0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Video Link: </a:t>
            </a:r>
            <a:r>
              <a:rPr lang="en-US" sz="2999" spc="-125" dirty="0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  <a:hlinkClick r:id="rId3"/>
              </a:rPr>
              <a:t>https://youtu.be/nV-iAE6gtnw</a:t>
            </a:r>
            <a:r>
              <a:rPr lang="en-US" sz="2999" spc="-125" dirty="0">
                <a:solidFill>
                  <a:srgbClr val="BDD0A0"/>
                </a:solidFill>
                <a:latin typeface="Cerebri"/>
                <a:ea typeface="Cerebri"/>
                <a:cs typeface="Cerebri"/>
                <a:sym typeface="Cerebri"/>
              </a:rPr>
              <a:t>  </a:t>
            </a:r>
          </a:p>
        </p:txBody>
      </p: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1232</Words>
  <Application>Microsoft Office PowerPoint</Application>
  <PresentationFormat>Custom</PresentationFormat>
  <Paragraphs>188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Norwester</vt:lpstr>
      <vt:lpstr>Cerebri</vt:lpstr>
      <vt:lpstr>Cerebri Bold</vt:lpstr>
      <vt:lpstr>Arial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</dc:title>
  <cp:lastModifiedBy>KHUSHI SHAH</cp:lastModifiedBy>
  <cp:revision>4</cp:revision>
  <dcterms:created xsi:type="dcterms:W3CDTF">2006-08-16T00:00:00Z</dcterms:created>
  <dcterms:modified xsi:type="dcterms:W3CDTF">2026-03-19T00:50:41Z</dcterms:modified>
  <dc:identifier>DAHBswUVcDI</dc:identifier>
</cp:coreProperties>
</file>